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14" r:id="rId65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315" r:id="rId66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316" r:id="rId67"/>
    <p:sldId id="283" r:id="rId34"/>
    <p:sldId id="284" r:id="rId35"/>
    <p:sldId id="285" r:id="rId36"/>
    <p:sldId id="286" r:id="rId37"/>
    <p:sldId id="287" r:id="rId38"/>
    <p:sldId id="288" r:id="rId39"/>
    <p:sldId id="317" r:id="rId68"/>
    <p:sldId id="290" r:id="rId41"/>
    <p:sldId id="291" r:id="rId42"/>
    <p:sldId id="292" r:id="rId43"/>
    <p:sldId id="293" r:id="rId44"/>
    <p:sldId id="294" r:id="rId45"/>
    <p:sldId id="295" r:id="rId46"/>
    <p:sldId id="319" r:id="rId70"/>
    <p:sldId id="297" r:id="rId48"/>
    <p:sldId id="298" r:id="rId49"/>
    <p:sldId id="299" r:id="rId50"/>
    <p:sldId id="300" r:id="rId51"/>
    <p:sldId id="301" r:id="rId52"/>
    <p:sldId id="302" r:id="rId53"/>
    <p:sldId id="312" r:id="rId63"/>
    <p:sldId id="318" r:id="rId69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3" r:id="rId64"/>
    <p:sldId id="311" r:id="rId62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mbria"/>
              </a:rPr>
              <a:t>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6E1E8"/>
                </a:solidFill>
                <a:latin typeface="Cambria"/>
              </a:rPr>
              <a:t>AI 数据工程 · 把客户的烂数据搞就绪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8686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文档解析管线 · 连接器与增量同步 · 向量库选型深潜 · 数据质量 · 标注与合成数据运营 · 治理衔接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边界纪律：切分在 RAG、微调数据配方在 Fine-tuning、权限脱敏在 Security——本册讲它们上游的「数据就绪」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面向售前技术 · 2026-07 · 数据底座层首模块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八章一条线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数据就绪度是第一风险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93976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全库五处指过来的坑，本册接住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71576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60903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文档解析管线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026663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解析质量决定切分质量；四强格局与基准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64845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5935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连接器与增量同步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9593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报价大头的工程展开：同步、去重、失效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58114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52628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向量库选型深潜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89204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pgvector 上限 / Qdrant 过滤 / Milvus 规模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7282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数据质量与覆盖率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093976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GIGO 的度量与仪表盘；坏答案回流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71576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2660903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标注与合成数据运营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3026663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配方在 Fine-tuning，这里讲运营与预算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64845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35935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治理与权限衔接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9593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ACL 映射、脱敏、保留期的数据侧落点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458114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452628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489204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管线总图、工具速查、坑清单、串联地图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 章立论，第 2–4 章是三大工程件（解析/管线/向量库），第 5–7 章是运营与治理，第 8 章速查收口。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数据就绪度是第一风险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Data Readiness · 全库五处指过来的坑，这册接住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数据就绪度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用全库证据讲清为什么数据就绪度是 AI 项目第一风险：POC（Proof of Concept） 数据坑、连接器报价、GIGO 全指向这里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用「数据就绪度四问」快速评估客户：在哪、什么格式、谁有权、多久变一次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画出数据就绪管线总图：解析 → 清洗同步 → 入库 → 质量运营，四段各自的坑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把数据工程讲成报价项而不是隐性成本：这册的每一章都对应一个可收费的工程件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四问与总图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数据就绪度四问 + 管线总图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解析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纸变结构化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993391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9688" y="173736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清洗同步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连接器/增量/去重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7360" y="1993391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2448" y="173736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入库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切分嵌入向量库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0120" y="1993391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5207" y="173736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质量运营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仪表盘/回流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63240"/>
            <a:ext cx="5394960" cy="21488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06324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数据就绪度四问（客户评估用）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685032"/>
            <a:ext cx="495604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① 数据在哪：几个系统、能不能连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② 什么格式：PDF 扫描件占比多少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③ 谁有权：ACL（Access Control List） 能不能映射过来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④ 多久变一次：增量同步的节奏要求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063240"/>
            <a:ext cx="5394960" cy="21488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8" y="306324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对应报价项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685032"/>
            <a:ext cx="495604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解析管线（按文档类型分档）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连接器（按源系统个数）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向量库建设与运维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数据质量运营包（接 AI-Ops 模式）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四问在第一次客户拜访就要问完——答案直接决定 POC 排期与报价结构，问晚了就是自己吞成本。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1 章 · 数据就绪度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拿你手头一个客户，把四问逐条写下答案——写不出来的那问，就是下次拜访的第一个议题。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 SP 第 2 章的一页纸方案拿来，给它补一列「数据就绪度评分（1–5）」，看排期该不该改。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数一数客户文档里扫描件/图纸/表格重的 PDF 占比——这个比例直接决定第 2 章选哪条解析路线。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四问答案 = 数据工程报价单的原材料——这是本模块「把隐性成本变显性」的第一步。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 · 动手做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我们数据很乱，AI 项目是不是做不了？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能做，但顺序要对：先花两三周做数据就绪（解析+清洗+建库），再上模型。乱不是障碍，「假装不乱」才是——我们把数据工程做成显性工程件，排期和报价都摆在明面上。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为什么你们报价里有一块「数据工程」？别家没有。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别家不是没有，是藏在里面或者做砸了才补。数据坑是 AI 项目烂尾的第一原因——我们把解析、连接器、质量运营列成明细，您能看见每一分钱买了什么。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数据准备要多久？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看四问答案：格式干净、系统少，一两周；扫描件重、源系统多，一两个月。我们先做四问评估再给排期——拍脑袋给的工期都是要延期的。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这些活我们自己 IT 团队能做吗？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大部分能，我们乐意教：解析工具开源可自托管、连接器有成熟模式。我们的价值在「第一次把路趟对」——工具选型、坑位提示、质量验收标准，之后运营可以交回您团队。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立论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全库五处的坑同一个因：数据没就绪——本模块把它变成显性工程件。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在哪、什么格式、谁有权、多久变——第一次拜访问完，直接定排期报价。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总图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解析 → 清洗同步 → 入库 → 质量运营，四段各是一章。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售前价值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数据工程列成报价明细：既是收入项，也是防烂尾的保险。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数据就绪度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文档解析管线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Parsing · 解析质量决定切分质量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文档解析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讲清解析在管线里的位置：PDF/扫描件先变成带结构的文本，RAG（Retrieval-Augmented Generation） 第 3 章的切分才有的放矢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报出四强格局：LlamaParse（VLM 托管）、Docling（IBM 开源）、MinerU（CJK 最强）、Unstructured（老牌管线）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用基准口径说话：opendataloader-bench 上 Docling 0.877 / MinerU 0.831，表格与阅读顺序是分水岭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按约束选型：敏感文档自托管、中文重选 MinerU、要省事上云文档智能或 LlamaParse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解析四强 + 云文档智能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663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画像（2026-07）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LlamaParse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VLM（Vision-Language Model） 解析复杂版面，托管 API，agentic OCR（Optical Character Recognition）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201168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&lt;1000 页/天、非敏感文档、要省事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Docling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670048"/>
            <a:ext cx="4663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IBM Research 开源，AI 版面检测，保留语义层级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2670048"/>
            <a:ext cx="40233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自托管零按页成本，LangChain/LlamaIndex 生态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MinerU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328416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OpenDataLab 出品，CJK 复杂版面最强，出 MD+JSON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32841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中文文档 / 扫描件重的国内项目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Unstructured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986784"/>
            <a:ext cx="4663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老牌解析管线，格式覆盖广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3986784"/>
            <a:ext cx="40233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多格式混杂的存量清洗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64515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云文档智能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4645152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Textract / Document Intelligence / Document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464515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企业已有云协议时的默认起点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基准口径（opendataloader-bench，200 PDF）：Docling 0.877 &gt; marker 0.861 &gt; MinerU 0.831——但中文场景请自测：CJK 版面是 MinerU 的主场。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分水岭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选型分水岭：表格保真与阅读顺序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表格与版面是分水岭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纯文字 PDF：谁来解都差不多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表格、双栏、图纸、红头文件：拉开数量级差距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解析错的表格进了库 = 检索永远找不回来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三个选型硬约束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敏感文档不出域 → 自托管（Docling/MinerU）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中文扫描件占比高 → MinerU 优先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按页计费 vs 自托管运维——量大自托管划算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8056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衔接：</a:t>
            </a:r>
            <a:r>
              <a:rPr sz="1250" b="0">
                <a:solidFill>
                  <a:srgbClr val="1A2733"/>
                </a:solidFill>
                <a:latin typeface="Calibri"/>
              </a:rPr>
              <a:t>解析产物（Markdown/JSON 带结构）交给 RAG 第 3 章按结构切分；「上下文检索」的增益也建立在解析保真之上——上游错，下游救不回。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对客动作：先拿客户 20 份最难的文档（表格重/扫描件）跑对比测试——解析选型永远用客户自己的文档定，不用厂商 demo 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2 章 · 文档解析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 5 份带复杂表格的真实 PDF，分别过 Docling 和 MinerU，人工对照表格保真度——两小时建立选型体感。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把解析产物直接喂给 RAG 管线做 10 条问答，对比「解析好 vs 解析差」的答案质量——验证「上游决定下游」。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给客户文档做一次「格式画像」：纯文字/表格重/扫描件三类各占比多少，按比例写解析方案与报价分档。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题请务必用中文文档——英文基准分数对 CJK 场景的参考价值有限，自测是唯一可信口径。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 · 动手做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我们全是扫描件和图纸，能处理吗？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能，这正是解析选型的分水岭场景：中文扫描件重的项目我们默认 MinerU 路线（CJK 版面最强），高价值文档可叠 VLM 解析兜底。先拿您 20 份最难的文档做对比测试，用结果定方案。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解析要多少钱？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两种模式：托管按页计费（LlamaParse/云文档智能），量小省事；自托管（Docling/MinerU）零按页成本但要运维。按您的月页量算个交叉点，量大自托管通常更划算。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文档不能出公司，怎么办？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解析全链路可以自托管：Docling/MinerU 都是开源方案，部署在您环境里，文档不出域。这也是我们把开源路线作为默认选项的原因之一。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解析错了怎么发现？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两道检查：入库前抽样人工比对（表格重点查），入库后靠覆盖率仪表盘和坏答案回流（第 5 章）反查——很多「AI 答错」追根溯源是解析错，所以坏答案分析要一路查到解析层。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解析是管线第一段：纸变结构化文本，RAG 切分的上游。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格局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LlamaParse 托管 / Docling 开源 / MinerU 中文最强 / 云文档智能是企业默认起点。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分水岭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表格保真与阅读顺序——用客户最难的 20 份文档自测定选型。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Docling 0.877 / MinerU 0.831（英文基准）；CJK 场景自测为准。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文档解析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连接器与增量同步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Connectors · 报价大头的工程展开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连接器与同步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 SP 第 4 章「连接器是报价大头」展开成工程清单：认证、拉取、解析、ACL 映射、增量五件事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讲清增量同步的三种模式：轮询、webhook、变更日志——新鲜度和成本的取舍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答好去重与失效：同一份文档五个副本、离职员工的旧文档，怎么不污染检索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借用成熟参照系：dbt/Airbyte 的连接器模式就是工程量估算的标尺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去重与失效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不污染检索的两件脏活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去重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同一文档的邮件附件/网盘/IM 转发五个副本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内容指纹（哈希+近似去重）保留权威源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不去重的后果：检索 Top-K 被同一文档霸屏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失效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过期制度、离职人员文档、废弃版本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策略：来源系统删除/归档要同步下架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「AI 引用了三年前的报销标准」= 信任事故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这两件脏活没人爱做，但它们决定客户第二个月还信不信这个系统——写进运营包（接 AI-Ops），按月做。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3 章 · 连接器与同步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给客户的 5 个知识源各写一行「五件事」评估（认证方式/API 限制/格式/ACL/增量模式），合计出连接器工程量。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Airbyte 起一个现成连接器（如 Notion/Confluence）跑增量同步，体会「成熟源很快、自研源很慢」。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设计去重规则：拿 100 份真实文档跑内容指纹，看重复率——多数企业第一次测都超过 20%。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题的重复率数字很适合放进方案汇报——它把「去重」从工程术语变成客户听得懂的价值。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 · 动手做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接一个系统要多久？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分两类：主流系统（SharePoint/Confluence/飞书文档类）有成熟连接器，天级；自研系统按「认证/拉取/解析/权限/增量」五件事评估，通常周级。先给我们系统清单，当场分好类给排期。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数据多久能同步一次？实时吗？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按源系统能力分档：支持 webhook 的准实时，只能轮询的按小时/天。真实问题是「哪些内容需要多新鲜」——制度文档天级足够，工单类才值得准实时，分级同步省一大笔。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重复文档和过期文档怎么办？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去重靠内容指纹保留权威源；失效靠与源系统的删除/归档联动下架。这两件事进运营包按月做——不做的话，第二个月起检索质量就开始腐烂。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你们连接器坏了数据断供怎么办？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同步链路带监控告警（接 AI-Ops）：断供、限速、权限失效都有告警和补偿重试；每个连接器有健康页。数据管线按生产系统运维，不是脚本跑一次就完。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工程清单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连接器 = 认证/拉取/解析/ACL/增量五件事——按「源系统 × 五件事」报价。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增量三模式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轮询简单、webhook 准实时、CDC 最可靠——按内容新鲜度需求分级。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两件脏活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去重（内容指纹）与失效（联动下架）决定第二个月的信任。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参照系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成熟源用 Airbyte 模式天级接入；自研系统才是工程大头。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连接器与同步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向量库选型深潜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Vector DB · RAG 第 2 章讲原理，这里讲选型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向量库选型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背下三个选型锚点：pgvector 生产上限约 50–100M 向量、Qdrant 过滤检索最强开源、Milvus 主打十亿级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讲清混合检索的承载差异：Weaviate/Elasticsearch 原生混合最成熟，ES 用户升级配置即可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按约束收敛：已有 Postgres/ES 就地升级、要极致过滤上 Qdrant、十亿级上 Milvus、不想运维选托管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答好「要不要专门买向量库」：多数项目从已有基础设施起步，规模触顶才迁移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选型地图：五个锚点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口径（2026-07）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pgvector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生产可用至约 50–100M 向量；ACID、免新系统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已有 Postgres，中小规模首选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Qdrant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670048"/>
            <a:ext cx="47548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Rust 实现，p50 4ms；过滤检索最强开源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70048"/>
            <a:ext cx="39319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精简快速 RAG、重过滤场景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Milvus / Zilliz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328416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十亿级分布式；生态深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32841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超大规模企业负载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Weaviate / 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986784"/>
            <a:ext cx="47548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原生混合检索最成熟；ES 存量升级即可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986784"/>
            <a:ext cx="39319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要 BM25+向量一查双路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64515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托管（Pinecone 等）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4645152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按量计费、零运维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9248" y="464515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不想养系统、快速上线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选型第一问是「你已经有什么」：有 Postgres 用 pgvector、有 ES 就地升级——新引一套系统的运维成本常超过它带来的性能差。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决策与迁移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按规模演进：起步、触顶、迁移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起步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pgvector/ES 就地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增长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监控召回与延迟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748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触顶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50–100M/重建变慢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迁移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Qdrant/Milvus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8" y="1828800"/>
            <a:ext cx="210312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超大规模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分布式+分租户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0040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2004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触顶信号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822191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HNSW 索引重建时间不可接受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P99 延迟随库量线性恶化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过滤条件多导致召回骤降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20040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32004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迁移纪律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822191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嵌入模型不换则向量可搬；换模型必须全量重算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双写灰度：新旧库并行跑评估集对比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别为「将来可能的十亿级」提前买复杂度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对客一句话：向量库是「按规模演进」的决策不是「一步到位」的决策——起步简单、把迁移路径想清楚，比压注哪家都稳。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4 章 · 向量库选型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在 Postgres 里启用 pgvector，灌 10 万向量测 P50/P99 延迟——亲手拿到「就地起步」的基线数据。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同一批数据灌 Qdrant，加三个过滤条件对比两边的召回与延迟——体会「过滤检索」差在哪。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写一页「触顶预案」：监控哪三个指标、到什么阈值启动迁移、迁移双写方案——放进方案书附录。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多数客户永远到不了触顶那天——但方案书里有预案这件事本身，就是专业度。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 · 动手做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要不要专门买一套向量数据库？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多半不用急：已有 Postgres 用 pgvector（生产可用到五千万至一亿向量），已有 ES 升级配置就支持混合检索。规模触顶或过滤要求极高时再迁 Qdrant/Milvus——起步简单、预案想清。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向量库之间性能差多少？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量级内的差距（毫秒级 vs 毫秒级），对多数应用无感；真正拉开差距的是过滤检索、混合检索这类能力差异和运维成本。选型看能力匹配度，不看跑分排名。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换嵌入模型，库里数据怎么办？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向量空间不兼容，必须全量重算重建——所以嵌入模型选型要留余量，且把「全量重建」做成自动化管线（RAG 第 6 章讲过），一键可跑。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国产化要求下有什么选择？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开源自托管路线全可控：Milvus 本身是国内团队主导的开源项目，pgvector/Qdrant 也可完全私有部署。合规强度高的场景我们默认给自托管方案。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锚点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pgvector 50–100M 上限、Qdrant 过滤最强、Milvus 十亿级、ES/Weaviate 原生混合。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第一问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「你已经有什么」——就地起步优先，新系统的运维成本常超性能差。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起步→监控→触顶→迁移：预案写进方案书，不为想象中的规模买复杂度。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迁移纪律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换嵌入模型必须全量重算；双写灰度用评估集对比。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向量库选型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数据质量与覆盖率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Data Quality · 把 GIGO 变成可度量的仪表盘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数据质量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把「垃圾进垃圾出」变成四个可度量指标：解析保真率、重复率、新鲜度、覆盖率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讲清覆盖率仪表盘：高频无答案问题是知识治理的入口（SP 第 4 章埋过这条线）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打通坏答案回流：AI-Ops 的在线评估抓到坏答案 → 归因到数据层 → 修数据而不是改提示词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把质量运营做成月度节奏：接 AI-Ops 运营包五件套的数据侧扩展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四指标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质量四指标：让 GIGO 有仪表盘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560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怎么测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异常动作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解析保真率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2011680"/>
            <a:ext cx="4572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抽样人工比对（表格重点）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回炉换解析路线（第 2 章）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25603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重复率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2633472"/>
            <a:ext cx="45720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内容指纹统计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33472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去重规则修订（第 3 章）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新鲜度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3255264"/>
            <a:ext cx="4572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各源最后同步时间 vs SLA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25526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查连接器健康（第 3 章）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25603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覆盖率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3877056"/>
            <a:ext cx="45720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高频问题的「有答案率」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877056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反向驱动文档补全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四个指标全部自动化采集、进月报——「数据质量」从一句抱怨变成一页仪表盘，这就是数据运营包的可见产出物。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5 章 · 数据质量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给你的知识库跑一次四指标：抽 20 份文档测解析保真、全库跑重复率、列各源同步时间、拿 50 个高频问题测覆盖率。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 10 个坏答案做归因练习：检索的锅、解析的锅还是缺文档——统计三类占比，验证「病根在数据层」。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把四指标做成一页月报模板（数字+趋势+本月动作），这就是数据运营包的交付物样例。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题的归因占比是对客最有力的论据：多数客户以为要「调模型」，数据会告诉他们该「修数据」。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 · 动手做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老答错，是不是模型不行？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先归因再下结论：经验上八成在检索侧，检索问题的大半又在数据侧——解析错、文档缺、内容过期。我们的坏答案分析一路追到数据层，多数「模型问题」修完数据就好了。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数据质量怎么量化？别跟我说感觉。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四个指标：解析保真率、重复率、新鲜度、覆盖率——全自动采集、月度出报告。「数据很乱」变成「重复率 23%、覆盖率 71%」，改进就有了靶子。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文档缺失谁负责补？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覆盖率仪表盘给出「高频无答案问题」清单，就是补文档的优先级表——补写是您团队的活，但「补什么最值」由数据说话，我们提供清单和验收。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这个运营要一直做下去吗？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要，但很轻：日常自动化跑，人工只处理告警和月报。数据在变、组织在变，停止运营的知识库半年就烂——这也是为什么它进运营包按月订阅。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解析保真/重复率/新鲜度/覆盖率——GIGO（Garbage in, garbage out，垃圾进垃圾出） 变仪表盘。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回流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坏答案归因一路到数据层：修数据而不是改提示词。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用法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覆盖率清单 = 客户补文档的优先级表——治理入口与续费证明。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节奏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日告警、周归因、月报告——与 AI-Ops 运营包合并交付。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数据质量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标注与合成数据运营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Labeling &amp; Synthetic · 配方在 Fine-tuning，这里管运营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标注与合成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边界声明：合成数据配方（种子→扩展→judge 过滤）在 Fine-tuning 第 3 章——本章讲运营与预算面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算清标注预算的三个去向：种子人工写、扩量交模型、验收人工抽检——人力花在刀刃上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讲清评估集与训练集的双线运营：坏例回流进哪条线、保留集怎么防应试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把标注做成可持续机制：业务专家的时间怎么用、外包什么时候值得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预算三去向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标注预算怎么花：刀刃上的三笔钱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种子 · 人工写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197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业务专家半天写 30–50 条精品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质量标准也在这一步定下来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最贵也最值的一笔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扩量 · 交模型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197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大模型按种子风格扩展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judge 过滤不合格样本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成本是人工标注的零头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43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验收 · 人工抽检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197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抽 5–10% 人工复核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抽检不过线 → 回炉调种子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守住「合成不等于放羊」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2026 年的共识：全人工标注已是少数场景——预算从「雇人标」转向「专家定标准 + 模型产量 + 人工守门」（配方细节见 Fine-tuning 第 3 章）。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6 章 · 标注与合成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陪业务专家写 30 条种子样本并记录用时——这个数字就是你估算标注预算的单价基准。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用大模型按种子扩 100 条、再用 judge 过滤，统计合格率——合格率低于七成说明种子或标准要回炉。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 20 个坏例做分流练习：知识缺 vs 行为偏各多少——分流结果直接决定预算投给 RAG 还是微调。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题连着 Fine-tuning 第 1 章的选型口诀：不知道→RAG、不听话→微调——数据运营是那个口诀的日常执行。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 · 动手做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标注要雇多少人？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尽量不雇：专家半天写种子、模型扩量、人工只抽检 5–10%。全人工标注在 2026 年已是少数场景——预算换个花法，效果更好（配方在我们 Fine-tuning 方案里是标准件）。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合成数据可靠吗？会不会越训越歪？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有纪律就可靠：真实种子打底、judge 过滤、人工抽检守门，纯合成才有坍缩风险。抽检合格率是硬指标，低于线就回炉——不是放羊式生成。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业务专家很忙，配合不了怎么办？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我们只要三件事各一点时间：定标准（一次）、写种子（半天）、周审边界样本（两小时）。这是撬动整个数据飞轮的最小投入——专家时间用在刀刃上是方案设计原则。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坏例到底该拿去改数据还是训模型？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先分流：「不知道」是知识缺，修文档/RAG，当天见效；「不听话」是行为偏，攒够批次做微调。我们的坏例看板自动预分流，专家只裁决边界案例。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配方在 Fine-tuning 第 3 章；本章管预算、节奏与机制。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三笔钱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专家写种子、模型扩量、人工抽检——花法变了，效果更好。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双线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评估集线防应试（保留集）；训练集线只收行为类坏例。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分流口诀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不知道→修数据/RAG；不听话→训练集候选——分流错钱白花。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标注与合成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治理与权限衔接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Governance · Security 定规则，数据层执行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治理衔接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边界声明：威胁与防护体系在 Security 模块——本章讲数据管线上的三个执行点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ACL 映射：源系统权限怎么跟着文档进库（SP 第 4 章的命门在这里施工）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脱敏在采集点做：PII（Personally Identifiable Information） 进库前处理，别等检索时再补救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保留与删除：遗忘权、过期下架、审计留痕的数据侧落地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三个执行点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数据管线上的三个治理执行点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执行点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怎么做</a:t>
            </a:r>
          </a:p>
        </p:txBody>
      </p:sp>
      <p:sp>
        <p:nvSpPr>
          <p:cNvPr id="8" name="Rectangle 7"/>
          <p:cNvSpPr/>
          <p:nvPr/>
        </p:nvSpPr>
        <p:spPr>
          <a:xfrm>
            <a:off x="779068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规则来源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ACL 映射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480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连接器同步权限元数据；检索时实时过滤；无权限连存在性都不暴露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0688" y="2011680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SP 第 4 章命门 / Security 数据章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7432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采集点脱敏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852928"/>
            <a:ext cx="44805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PII 正则+NER（Named Entity Recognition，命名实体识别） 进库前处理；敏感字段标记分级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2852928"/>
            <a:ext cx="38404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/ AI-Ops 的 PII 三开关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保留与删除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694176"/>
            <a:ext cx="4480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源系统删除联动下架；用户遗忘权可执行；操作审计留痕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90688" y="3694176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治理章 / 各法规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一句话分工：Security 说「要什么规则」，本模块说「规则在管线哪一段执行」——安全评审问到数据层，答案全在这三点。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治理的验收：越权测试集 + 三个追问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越权测试集（上线门禁）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无权限账号问 20 条敏感问题，零泄露才放行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权限变更后（调岗/离职）重跑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SP 第 4 章定义的验收，本章负责能通过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安全团队的三个追问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「权限多久同步一次」→ 增量节奏（第 3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「向量能反推原文吗」→ 向量化≠脱敏，照做权限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「删了真删了吗」→ 库+缓存+索引三处联动删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「向量化不等于匿名化」这句话要主动讲——嵌入向量可被部分反推，敏感数据该脱敏照样脱敏、该隔离照样隔离。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7 章 · 治理衔接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给一个双权限知识库跑越权测试：无权限账号 20 问，统计泄露数——不为零就排查 ACL 映射链。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在采集管线里埋 10 条含 PII 的测试文档，验证进库后手机号/身份证是否已脱敏。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演练一次「彻底删除」：删一份文档后检查向量库、缓存、评估集三处是否都清干净。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题最容易翻车在评估集——坏例回流时复制过的文档片段常被遗忘，删除演练要把它纳入清单。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 · 动手做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员工权限变了，AI 多久知道？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跟权限同步节奏走：ACL 随连接器增量同步（高敏源可做准实时），检索时实时过滤兜底。调岗离职这类高危变更建议触发式同步——延迟窗口写进 SLA。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数据向量化之后是不是就安全了？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不是，向量化 ≠ 匿名化——嵌入在一定条件下能部分反推原文。所以敏感数据进库前照做脱敏、向量库照做权限隔离，这是我们方案的默认假设。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用户要求删除数据，能真删干净吗？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能，但要三处联动：向量库、缓存、衍生数据（评估集/训练集候选）一起清，操作留审计痕。「一键遗忘」是设计出来的能力，不是天然就有。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这些和 Security 方案是不是重复收费？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不重复：Security 定规则与防护体系，本模块是规则在数据管线上的施工——ACL 映射、采集点脱敏、联动删除都是数据工程活。两边清单可以并排给您看，无一重叠。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Security 定规则，数据层执行——三个执行点：ACL 映射、采集点脱敏、保留删除。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命门施工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SP 第 4 章的权限命门在这里施工；越权测试集是上线门禁。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主动讲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向量化 ≠ 匿名化——嵌入可被部分反推，该脱敏照脱敏。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彻底删除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库+缓存+衍生数据三处联动清，审计留痕——遗忘权是设计出来的。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Cheatsheet · 管线总图与工具速查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管线总图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数据就绪管线总图（对应章节）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四问评估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1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解析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2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连接与同步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3 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向量库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4 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质量运营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第 5 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0040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贯穿线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200400"/>
            <a:ext cx="795527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说明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65760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标注与合成（第 6 章）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3657600"/>
            <a:ext cx="79552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评估集/训练集双线运营，坏例分流：不知道→修数据、不听话→微调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315968"/>
            <a:ext cx="31089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治理衔接（第 7 章）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4315968"/>
            <a:ext cx="7955279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ACL 映射、采集点脱敏、联动删除——三个执行点贯穿全管线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客户任何数据问题先定位到管线哪一段，再翻对应章——四问评估（第 1 章）永远是第一步。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工具速查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工具速查卡（2026-07 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首选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742492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解析（中文重）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480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MinerU 自托管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4928" y="201168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CJK 版面最强；高价值文档叠 VLM 兜底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78608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解析（省事）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578608"/>
            <a:ext cx="44805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LlamaParse / 云文档智能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8" y="2578608"/>
            <a:ext cx="42062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按页计费；敏感文档勿用托管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4553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连接与同步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145536"/>
            <a:ext cx="4480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成熟源走 Airbyte 模式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314553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自研系统按五件事估工作量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12464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向量库（起步）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712464"/>
            <a:ext cx="44805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pgvector / ES 就地升级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24928" y="3712464"/>
            <a:ext cx="42062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50–100M 上限；触顶再迁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7939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向量库（进阶）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4279392"/>
            <a:ext cx="4480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Qdrant（过滤）/ Milvus（规模）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8" y="4279392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双写灰度迁移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846320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质量运营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4846320"/>
            <a:ext cx="44805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四指标仪表盘 + 坏答案回流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4928" y="4846320"/>
            <a:ext cx="42062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与 AI-Ops 运营包合并交付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警告：</a:t>
            </a:r>
            <a:r>
              <a:rPr sz="1250" b="0">
                <a:solidFill>
                  <a:srgbClr val="1A2733"/>
                </a:solidFill>
                <a:latin typeface="Calibri"/>
              </a:rPr>
              <a:t>工具口径截至 2026-07，格局会漂——选型结论（就地起步、按约束收敛、自测为准）比工具名保值。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坑清单与串联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八个坑 + 串联地图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假装数据不乱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四问没做就给排期——必延期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21408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解析用 demo 定型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21408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必须用客户最难的 20 份自测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96896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连接器漏报价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96896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按源系统 × 五件事列明细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72384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不去重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72384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Top-K 被副本霸屏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47872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不下架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47872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引用三年前的旧制度 = 信任事故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23360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向量库一步到位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23360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为想象的规模买复杂度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98848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坏答案只改提示词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98848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病根多在数据层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974336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✗ </a:t>
            </a:r>
            <a:r>
              <a:rPr sz="1150" b="1">
                <a:solidFill>
                  <a:srgbClr val="0B2540"/>
                </a:solidFill>
                <a:latin typeface="Calibri"/>
              </a:rPr>
              <a:t>向量当脱敏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74336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嵌入可被部分反推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73152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692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E4D64"/>
                </a:solidFill>
                <a:latin typeface="Calibri"/>
              </a:rPr>
              <a:t>串联：</a:t>
            </a:r>
            <a:r>
              <a:rPr sz="1150" b="0">
                <a:solidFill>
                  <a:srgbClr val="1A2733"/>
                </a:solidFill>
                <a:latin typeface="Calibri"/>
              </a:rPr>
              <a:t>上游供 RAG（切分/检索）与 Fine-tuning（训练数据）· 质量运营接 AI-Ops · 权限规则来自 Security · 场景入口在 SP 第 2/4 章 · 平台承载见 AI-Infra-Platform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数据工程讲义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E1E8"/>
                </a:solidFill>
                <a:latin typeface="Cambria"/>
              </a:rPr>
              <a:t>从「四问评估」到「质量运营」，把全库五处都在喊的数据坑，变成一条可报价的管线。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AF3F5"/>
                </a:solidFill>
                <a:latin typeface="Calibri"/>
              </a:rPr>
              <a:t>怎么用：客户喊数据乱先做第 1 章四问；解析选型翻第 2 章；被安全追问翻第 7 章；对客前扫第 8 章速查。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配套：精选电子书书单（8 项，2 份 PDF 已入库）· 时效性事实核实于 2026-07-11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治理衔接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每次访问 ＝ 四类输入 + 一个策略决策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治理衔接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是什么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79068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例子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主体 + 资源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480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谁在请求（用户/应用/agent/租户）；访问什么（表/列/文档/索引/模型）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0688" y="2011680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客服 agent 替张三查——主体是「张三经由 agent」，不是 agent 自己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7432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动作 + 上下文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852928"/>
            <a:ext cx="44805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要做什么（读/检索/训练/分享/删除）；什么条件与目的（用途/地域/风险/时间/同意）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2852928"/>
            <a:ext cx="38404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同一份文档：客服场景可检索，营销场景不可用于训练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决策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694176"/>
            <a:ext cx="4480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策略引擎给 allow / deny / 附加义务（脱敏、行列过滤、水印、短保留、人工审批）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90688" y="3694176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授权在资源服务端强制执行——模型、查询或客户端都不能自行裁决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这页是三个执行点的「决策大脑」：执行点管「在哪拦」，四输入模型管「怎么判」；审计记主体与理由，血缘定位派生影响——拼齐才叫治理闭环。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六条验收线 + 越权测试，上线前对一遍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生命周期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来源到删除可追踪——资产 ID、owner、版本、保留策略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21408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21408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重放 / 幂等 / 质量可恢复——checkpoint、测试、backfill 演练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96896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血缘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96896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Run / 输入 / 输出与影响可查——事件、目录、责任人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72384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72384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全文 / 向量 / 过滤有质量证据——查询集、判定集、ACL 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47872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47872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freshness / p99 / 降级可承诺——端到端 SLO（Service Level Objective） 与演练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23360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治理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23360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用途 / 许可 / 删除 / 退出可审计——策略、日志、重建证据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98848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越权测试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98848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三个追问全过（第 7 章）：换人再问、换租户再问、删除后再问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974336"/>
            <a:ext cx="3840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C0642A"/>
                </a:solidFill>
                <a:latin typeface="Calibri"/>
              </a:rPr>
              <a:t>✓ </a:t>
            </a:r>
            <a:r>
              <a:rPr sz="1150" b="1">
                <a:solidFill>
                  <a:srgbClr val="0B2540"/>
                </a:solidFill>
                <a:latin typeface="Calibri"/>
              </a:rPr>
              <a:t>终极判断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74336"/>
            <a:ext cx="7040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任一回答 / 训练 / 评测都能回到数据来源、Run、版本、权限与质量，并能安全回滚、删除或重建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73152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692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E4D64"/>
                </a:solidFill>
                <a:latin typeface="Calibri"/>
              </a:rPr>
              <a:t>口径：</a:t>
            </a:r>
            <a:r>
              <a:rPr sz="1150" b="0">
                <a:solidFill>
                  <a:srgbClr val="1A2733"/>
                </a:solidFill>
                <a:latin typeface="Calibri"/>
              </a:rPr>
              <a:t>「有数据湖或向量库」不等于「有可运营的知识底座」——验收验的是证据链，不是组件清单。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数据工程讲义 · Data-Engineering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立论  ONE PIT, FIVE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五处证据：全库都在喊同一个坑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五句话都是果，因在同一处——没人把数据搞就绪；本模块就是那个「接住」的动作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3383280"/>
            <a:ext cx="2423160" cy="96012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数据就绪度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AF3F5"/>
                </a:solidFill>
                <a:latin typeface="Calibri"/>
                <a:ea typeface="Calibri"/>
              </a:rPr>
              <a:t>是第一风险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把隐性成本变显性工程件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37744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SP 第 2 章 · POC 三要素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数据坑=第一风险：脏、缺、散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39311" y="2743200"/>
            <a:ext cx="1234441" cy="675192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49640" y="228600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237744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SP 第 4 章 · 企业搜索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连接器是报价大头：每个源都是小项目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42631" y="2743200"/>
            <a:ext cx="1207009" cy="675192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0" y="379476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388620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SP 第 5 章 · 内容生成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产品库是唯一事实源——前提是干净的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7342631" y="3840845"/>
            <a:ext cx="1527049" cy="411115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49640" y="521208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530352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AI-Ops 第 3 章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垃圾进垃圾出：坏答案大半源于脏数据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7342631" y="4237695"/>
            <a:ext cx="1207009" cy="1431585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5212080"/>
            <a:ext cx="2999232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5303520"/>
            <a:ext cx="2697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RAG 第 3 章</a:t>
            </a:r>
          </a:p>
          <a:p>
            <a:pPr algn="l"/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解析质量决定切分质量，这关没过全白搭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639311" y="4237695"/>
            <a:ext cx="1234441" cy="1431585"/>
          </a:xfrm>
          <a:prstGeom prst="line">
            <a:avLst/>
          </a:prstGeom>
          <a:ln w="15240">
            <a:solidFill>
              <a:srgbClr val="9FB3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 章 · 数据就绪度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工程清单  ONE CONNECTOR = 5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一个连接器 = 五件事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报价口径：按「源系统 × 五件事」估工作量——自研系统才是真正的大头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① 认证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OAuth / 服务账号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42615" y="2788920"/>
            <a:ext cx="109729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1488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② 拉取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API 限速与分页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55464" y="278892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74336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③ 解析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格式转换（第 2 章）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68311" y="2788920"/>
            <a:ext cx="1097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87183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④ ACL 映射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权限同步（第 7 章）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59" y="2788920"/>
            <a:ext cx="109729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00032" y="2286000"/>
            <a:ext cx="2084831" cy="10058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⑤ 增量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轮询 / webhook / 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第 ⑤ 件事：增量同步的三种模式取舍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3566160" cy="10515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133088"/>
            <a:ext cx="3163824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轮询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实现最简单；新鲜度差、浪费配额——低频源够用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4023360"/>
            <a:ext cx="3566160" cy="10515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4133088"/>
            <a:ext cx="3163824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Webhook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准实时；要源系统支持回调、要处理丢消息补偿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4" y="4023360"/>
            <a:ext cx="3566160" cy="105156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4133088"/>
            <a:ext cx="3163824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变更日志 CDC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最可靠；只有数据库类源才有，工程最重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57800"/>
            <a:ext cx="10908792" cy="97840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58384"/>
            <a:ext cx="104241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报价口径：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SharePoint / Confluence 这类有成熟连接器（Airbyte 模式可参照）；自研系统每个都是一个小项目——那才是大头。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连接器与同步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决策与迁移  SCALE-DRIVEN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向量库按规模演进：起步、触顶、迁移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「按规模演进」的决策，不是「一步到位」的决策——起步简单，把迁移路径想清楚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起步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pgvector / ES 就地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42615" y="2720340"/>
            <a:ext cx="109729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1488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增长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监控召回与延迟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55464" y="2720340"/>
            <a:ext cx="109728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74336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触顶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50–100M / 重建变慢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68311" y="2720340"/>
            <a:ext cx="109728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87183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2A65A"/>
                </a:solidFill>
                <a:latin typeface="Calibri"/>
                <a:ea typeface="Calibri"/>
              </a:rPr>
              <a:t>迁移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Qdrant / Milvus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59" y="2720340"/>
            <a:ext cx="109729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00032" y="228600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EAF3F5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超大规模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分布式 + 分租户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5440680" cy="150876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0168"/>
            <a:ext cx="502920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触顶信号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HNSW（Hierarchical Navigable Small World） 索引重建时间不可接受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P99 延迟随库量线性恶化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过滤条件多导致召回骤降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3520440"/>
            <a:ext cx="5440680" cy="15087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630168"/>
            <a:ext cx="502920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迁移纪律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嵌入模型不换则向量可搬；换模型必须全量重算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双写灰度：新旧库并行跑评估集对比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别为「将来可能的十亿级」提前买复杂度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00232" cy="10241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21808"/>
            <a:ext cx="105156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对客一句话：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起步简单、把迁移路径想清楚，比压注哪家都稳——向量库是演进决策，不是一锤定音。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向量库选型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回流闭环  FIX DATA, NOT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坏答案回流：修数据，而不是改提示词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八成问题在检索侧，检索问题的大半又在数据侧——坏答案要一路追到数据层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01551" y="2781943"/>
            <a:ext cx="626697" cy="791193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601551" y="4016383"/>
            <a:ext cx="626697" cy="791193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086951" y="4016383"/>
            <a:ext cx="626697" cy="791193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086951" y="2781943"/>
            <a:ext cx="626697" cy="791193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74620" y="217170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① 在线评估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AI-Ops 抓坏答案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9220" y="340614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② 归因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检索? 解析? 缺文档?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4620" y="464058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4A1B0C"/>
                </a:solidFill>
                <a:latin typeface="Calibri"/>
                <a:ea typeface="Calibri"/>
              </a:rPr>
              <a:t>③ 修数据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补 / 换 / 下架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" y="340614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④ 回归验证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评估集重跑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648456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改提示词治不了数据病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286000"/>
            <a:ext cx="461772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04872"/>
            <a:ext cx="4160520" cy="2606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覆盖率仪表盘的售前故事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高频无答案问题清单 = 客户该补哪些文档的优先级表——把「AI 答不上」变成知识治理的入口。</a:t>
            </a:r>
          </a:p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质量运营的节奏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日看新鲜度告警、周看坏答案归因、月出四指标报告——和 AI-Ops 运营包同一节奏合并交付。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数据质量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治理衔接 · 深潜  ACCESS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每次访问 = 四类输入 + 一个策略决策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执行点管「在哪拦」，四输入模型管「怎么判」——授权在资源服务端强制执行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6766560" cy="93268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6400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输入 1 · 主体 + 资源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谁在请求（用户/应用/agent/租户）· 访问什么（表/列/文档/索引）</a:t>
            </a:r>
          </a:p>
          <a:p>
            <a:pPr algn="l"/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例：客服 agent 替张三查——主体是「张三经由 agent」，不是 agent 自己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6766560" cy="93268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37560"/>
            <a:ext cx="64008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输入 2 · 动作 + 上下文　</a:t>
            </a: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要做什么（读/检索/训练/分享/删除）· 什么条件与目的</a:t>
            </a:r>
          </a:p>
          <a:p>
            <a:pPr algn="l"/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例：同一份文档：客服场景可检索，营销场景不可用于训练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60920" y="3200400"/>
            <a:ext cx="640080" cy="0"/>
          </a:xfrm>
          <a:prstGeom prst="line">
            <a:avLst/>
          </a:prstGeom>
          <a:ln w="2540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6720" y="269748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策略引擎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决策大脑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allow / deny / 附加义务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86200"/>
            <a:ext cx="3474720" cy="11430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986784"/>
            <a:ext cx="3154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附加义务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脱敏 · 行列过滤 · 水印 · 短保留 · 人工审批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12080"/>
            <a:ext cx="11000232" cy="10241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21808"/>
            <a:ext cx="1051560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拼齐才叫治理闭环：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执行点管「在哪拦」、四输入管「怎么判」、审计记主体与理由、血缘定位派生影响——模型 / 查询 / 客户端都不能自行裁决。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7 章 · 治理衔接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双线运营  ONE BAD CASE, TWO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评估集与训练集：一份坏例，两条去向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坏例先问「是不知道还是不听话」——分流错了，钱就白花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148840"/>
            <a:ext cx="2423160" cy="658368"/>
          </a:xfrm>
          <a:prstGeom prst="roundRect">
            <a:avLst>
              <a:gd name="adj" fmla="val 8000"/>
            </a:avLst>
          </a:prstGeom>
          <a:solidFill>
            <a:srgbClr val="0B2540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一份坏例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分流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632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「不知道」知识缺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0632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「不听话」行为偏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4023360" y="2807208"/>
            <a:ext cx="1371600" cy="484632"/>
          </a:xfrm>
          <a:prstGeom prst="line">
            <a:avLst/>
          </a:prstGeom>
          <a:ln w="2159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66560" y="2807208"/>
            <a:ext cx="1371600" cy="484632"/>
          </a:xfrm>
          <a:prstGeom prst="line">
            <a:avLst/>
          </a:prstGeom>
          <a:ln w="2159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383280"/>
            <a:ext cx="5257800" cy="17830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9300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评估集线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13632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管：验收与回归（Evaluation 第 5 章方法）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坏例打标签入集；留 10–20% 保留集防应试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· 修数据 / RAG 更新（知识缺 → 补库）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83280"/>
            <a:ext cx="5257800" cy="17830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9300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训练集线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913632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管：微调数据（Fine-tuning 第 3 章配方）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只收「行为类」坏例</a:t>
            </a:r>
          </a:p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· 知识类交给 RAG 更新，别硬塞进训练集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000232" cy="88696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7498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运营纪律：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业务专家的时间是最稀缺资源，只用在「定标准、写种子、审边界样本」三件事上——每周两小时能撑起整个标注运营。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6 章 · 标注与合成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文档解析管线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mixpeek / pdfmux / llamaindex 2026 横评；themenonlab / pdfmux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连接器与增量同步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dbt/Airbyte 文档模式（稳定工程共识）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向量库选型深潜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firecrawl / layerbase / encore 2026 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2026-07-11　·　保鲜机制：季度巡检（每年 1/4/7/10 月）＋ 建议复查日定点复查　·　引用任何数字前先核日期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数据工程讲义 · Data-Engineering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61</Slides>
  <ScaleCrop>false</ScaleCrop>
  <HeadingPairs>
    <vt:vector size="2" baseType="variant">
      <vt:variant>
        <vt:lpstr>幻灯片标题</vt:lpstr>
      </vt:variant>
      <vt:variant>
        <vt:i4>61</vt:i4>
      </vt:variant>
    </vt:vector>
  </HeadingPairs>
  <TitlesOfParts>
    <vt:vector size="61" baseType="lpstr">
      <vt:lpstr>Data-Engineering</vt:lpstr>
      <vt:lpstr>数据就绪度是第一风险</vt:lpstr>
      <vt:lpstr>数据就绪度是第一风险</vt:lpstr>
      <vt:lpstr>学完这一章，你能讲清楚</vt:lpstr>
      <vt:lpstr>五处证据：全库都在喊同一个坑</vt:lpstr>
      <vt:lpstr>数据就绪度四问 + 管线总图</vt:lpstr>
      <vt:lpstr>动手做 · HANDS-ON</vt:lpstr>
      <vt:lpstr>客户会怎么问（面试题）</vt:lpstr>
      <vt:lpstr>本章小结</vt:lpstr>
      <vt:lpstr>文档解析管线</vt:lpstr>
      <vt:lpstr>学完这一章，你能讲清楚</vt:lpstr>
      <vt:lpstr>解析四强 + 云文档智能</vt:lpstr>
      <vt:lpstr>选型分水岭：表格保真与阅读顺序</vt:lpstr>
      <vt:lpstr>动手做 · HANDS-ON</vt:lpstr>
      <vt:lpstr>客户会怎么问（面试题）</vt:lpstr>
      <vt:lpstr>本章小结</vt:lpstr>
      <vt:lpstr>连接器与增量同步</vt:lpstr>
      <vt:lpstr>学完这一章，你能讲清楚</vt:lpstr>
      <vt:lpstr>一个连接器 = 五件事</vt:lpstr>
      <vt:lpstr>不污染检索的两件脏活</vt:lpstr>
      <vt:lpstr>动手做 · HANDS-ON</vt:lpstr>
      <vt:lpstr>客户会怎么问（面试题）</vt:lpstr>
      <vt:lpstr>本章小结</vt:lpstr>
      <vt:lpstr>向量库选型深潜</vt:lpstr>
      <vt:lpstr>学完这一章，你能讲清楚</vt:lpstr>
      <vt:lpstr>选型地图：五个锚点</vt:lpstr>
      <vt:lpstr>按规模演进：起步、触顶、迁移</vt:lpstr>
      <vt:lpstr>向量库按规模演进：起步、触顶、迁移</vt:lpstr>
      <vt:lpstr>动手做 · HANDS-ON</vt:lpstr>
      <vt:lpstr>客户会怎么问（面试题）</vt:lpstr>
      <vt:lpstr>本章小结</vt:lpstr>
      <vt:lpstr>数据质量与覆盖率</vt:lpstr>
      <vt:lpstr>学完这一章，你能讲清楚</vt:lpstr>
      <vt:lpstr>质量四指标：让 GIGO 有仪表盘</vt:lpstr>
      <vt:lpstr>坏答案回流：修数据，而不是改提示词</vt:lpstr>
      <vt:lpstr>动手做 · HANDS-ON</vt:lpstr>
      <vt:lpstr>客户会怎么问（面试题）</vt:lpstr>
      <vt:lpstr>本章小结</vt:lpstr>
      <vt:lpstr>标注与合成数据运营</vt:lpstr>
      <vt:lpstr>学完这一章，你能讲清楚</vt:lpstr>
      <vt:lpstr>标注预算怎么花：刀刃上的三笔钱</vt:lpstr>
      <vt:lpstr>评估集与训练集：一份坏例，两条去向</vt:lpstr>
      <vt:lpstr>动手做 · HANDS-ON</vt:lpstr>
      <vt:lpstr>客户会怎么问（面试题）</vt:lpstr>
      <vt:lpstr>本章小结</vt:lpstr>
      <vt:lpstr>治理与权限衔接</vt:lpstr>
      <vt:lpstr>学完这一章，你能讲清楚</vt:lpstr>
      <vt:lpstr>数据管线上的三个治理执行点</vt:lpstr>
      <vt:lpstr>每次访问 ＝ 四类输入 + 一个策略决策</vt:lpstr>
      <vt:lpstr>每次访问 = 四类输入 + 一个策略决策</vt:lpstr>
      <vt:lpstr>治理的验收：越权测试集 + 三个追问</vt:lpstr>
      <vt:lpstr>动手做 · HANDS-ON</vt:lpstr>
      <vt:lpstr>客户会怎么问（面试题）</vt:lpstr>
      <vt:lpstr>本章小结</vt:lpstr>
      <vt:lpstr>售前速查</vt:lpstr>
      <vt:lpstr>数据就绪管线总图（对应章节）</vt:lpstr>
      <vt:lpstr>工具速查卡（2026-07 口径）</vt:lpstr>
      <vt:lpstr>八个坑 + 串联地图</vt:lpstr>
      <vt:lpstr>生产验收</vt:lpstr>
      <vt:lpstr>从「四问评估」到「质量运营」，把全库五处都在喊的数据坑，变成一条可报价的管线。</vt:lpstr>
      <vt:lpstr>来源与核实 · 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