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355" r:id="rId106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59" r:id="rId110"/>
    <p:sldId id="284" r:id="rId35"/>
    <p:sldId id="285" r:id="rId36"/>
    <p:sldId id="286" r:id="rId37"/>
    <p:sldId id="356" r:id="rId10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57" r:id="rId108"/>
    <p:sldId id="305" r:id="rId56"/>
    <p:sldId id="306" r:id="rId57"/>
    <p:sldId id="307" r:id="rId58"/>
    <p:sldId id="308" r:id="rId59"/>
    <p:sldId id="309" r:id="rId60"/>
    <p:sldId id="352" r:id="rId103"/>
    <p:sldId id="310" r:id="rId61"/>
    <p:sldId id="311" r:id="rId62"/>
    <p:sldId id="312" r:id="rId63"/>
    <p:sldId id="313" r:id="rId64"/>
    <p:sldId id="314" r:id="rId65"/>
    <p:sldId id="315" r:id="rId66"/>
    <p:sldId id="358" r:id="rId109"/>
    <p:sldId id="316" r:id="rId67"/>
    <p:sldId id="317" r:id="rId68"/>
    <p:sldId id="318" r:id="rId69"/>
    <p:sldId id="319" r:id="rId70"/>
    <p:sldId id="320" r:id="rId71"/>
    <p:sldId id="353" r:id="rId104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9" r:id="rId90"/>
    <p:sldId id="340" r:id="rId91"/>
    <p:sldId id="341" r:id="rId92"/>
    <p:sldId id="342" r:id="rId93"/>
    <p:sldId id="360" r:id="rId111"/>
    <p:sldId id="343" r:id="rId94"/>
    <p:sldId id="361" r:id="rId112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72" r:id="rId123"/>
    <p:sldId id="371" r:id="rId122"/>
    <p:sldId id="370" r:id="rId121"/>
    <p:sldId id="369" r:id="rId120"/>
    <p:sldId id="368" r:id="rId119"/>
    <p:sldId id="367" r:id="rId118"/>
    <p:sldId id="366" r:id="rId117"/>
    <p:sldId id="365" r:id="rId116"/>
    <p:sldId id="364" r:id="rId115"/>
    <p:sldId id="363" r:id="rId114"/>
    <p:sldId id="333" r:id="rId84"/>
    <p:sldId id="334" r:id="rId85"/>
    <p:sldId id="335" r:id="rId86"/>
    <p:sldId id="336" r:id="rId87"/>
    <p:sldId id="337" r:id="rId88"/>
    <p:sldId id="354" r:id="rId105"/>
    <p:sldId id="338" r:id="rId89"/>
    <p:sldId id="362" r:id="rId1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93.xml"/><Relationship Id="rId85" Type="http://schemas.openxmlformats.org/officeDocument/2006/relationships/slide" Target="slides/slide94.xml"/><Relationship Id="rId86" Type="http://schemas.openxmlformats.org/officeDocument/2006/relationships/slide" Target="slides/slide95.xml"/><Relationship Id="rId87" Type="http://schemas.openxmlformats.org/officeDocument/2006/relationships/slide" Target="slides/slide96.xml"/><Relationship Id="rId88" Type="http://schemas.openxmlformats.org/officeDocument/2006/relationships/slide" Target="slides/slide97.xml"/><Relationship Id="rId89" Type="http://schemas.openxmlformats.org/officeDocument/2006/relationships/slide" Target="slides/slide9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55.xml"/><Relationship Id="rId104" Type="http://schemas.openxmlformats.org/officeDocument/2006/relationships/slide" Target="slides/slide67.xml"/><Relationship Id="rId105" Type="http://schemas.openxmlformats.org/officeDocument/2006/relationships/slide" Target="slides/slide98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多模态 · 让模型长出眼睛和耳朵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6E1E8"/>
                </a:solidFill>
                <a:latin typeface="Cambria"/>
              </a:rPr>
              <a:t>Multimodal AI · Perception &amp;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AF3F5"/>
                </a:solidFill>
                <a:latin typeface="Calibri"/>
              </a:rPr>
              <a:t>从「只会读写文字的天才」到「能看图、听声、读文档、还能画出来」的助手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1·是什么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7525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2·怎么看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2090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3·怎么拼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6656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4·理解侧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5·生成侧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7525" y="457200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6·选型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9240" y="457200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7·生产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4572000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8·语音实时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读者定位：AI 平台「售前技术」角色（有 Python/API 基础，重概念与取舍）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5989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2026-07-17</a:t>
            </a:r>
          </a:p>
        </p:txBody>
      </p:sp>
      <p:sp>
        <p:nvSpPr>
          <p:cNvPr id="17" name="Rounded Rectangle 12"/>
          <p:cNvSpPr/>
          <p:nvPr/>
        </p:nvSpPr>
        <p:spPr>
          <a:xfrm>
            <a:off x="6245352" y="4572000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10·速查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4572000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9·视频生成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十章一条线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是什么 / 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定义、为何爆发、感知面全景（理解 vs 生成）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机器怎么「看」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ViT patch 化、CLIP 图文对齐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模态怎么「拼」（灵魂章）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投影 / 交叉注意力 / Q-Former、原生 vs 拼管线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理解侧能力盘点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图 / 文档 / 视频 / 语音；SOTA 模型格局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生成侧能力盘点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扩散 vs 自回归、原生图像、文生视频、语音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选型与动手做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原生 vs 拼管线怎么选、成本 / 延迟 / 精度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生产落地与坑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token 成本、幻觉、评估、跨模态注入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语音与实时交互（新）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延迟预算、级联 vs 端到端、打断、RTC 框架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视频生成（新）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Seedance/Sora/可灵/Veo 格局、按秒计价成本账、工作流与标识合规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1–2 章建直觉，第 3 章是灵魂（原生 vs 拼管线），第 4–5 章盘能力，第 6–7 章讲选型与生产，第 8 章把语音做成实时链路，第 9 章盘视频生成，第 10 章速查收口。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术语表、决策树、跨模块串联地图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是什么 /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What &amp; Why · 感知面全景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用一句话向客户解释多模态（Multimodal）：让模型能理解 / 生成文本之外的图像、音频、视频、文档等多种模态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分清「理解侧」与「生成侧」两条线——它们的选型、报价、落地方式完全不同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判断一个真实需求到底需不需要多模态，避免为「炫」而上、白白多花钱多花时间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说清多模态和传统 OCR（Optical Character Recognition） / ASR 的区别：从「把图变字」到「连看带理解」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感知面全景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多模态：把「一种感官」变成「多种感官」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大模型本质是个「文字天才」，但真实世界的信息是图、声、视频、表格混在一起的。多模态就是给它加装感官：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文本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读写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图像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音频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看+听+时序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文档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版式+图表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83280"/>
            <a:ext cx="5394959" cy="2011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理解侧（Understanding）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23360"/>
            <a:ext cx="49743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输入多模态 → 输出文字：看懂图 / 文档 / 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例：发票识别、图表问答、监控视频摘要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代表：GPT-5、Gemini 2.5、Qwen3-VL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83280"/>
            <a:ext cx="5394959" cy="2011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生成侧（Generation）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23360"/>
            <a:ext cx="49743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输入文字 / 图 → 输出图 / 音 / 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例：文生图、语音配音、文生视频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代表：GPT Image 2、Nano Banana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87568"/>
            <a:ext cx="106619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「多模态」不是某一个模型，而是一类能力——先分清你要的是「看懂」还是「生成」，再谈选型。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为什么现在爆发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三个拐点，让多模态从「实验室」走进「生产」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38728" cy="27432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原生旗舰落地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31363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Gemini 2.5 / GPT-5 把「看、听」直接做进同一个模型，不再是外挂——能力和稳定性过了生产线。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54480"/>
            <a:ext cx="3538728" cy="27432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统一架构成熟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57984"/>
            <a:ext cx="31363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视觉编码器 + LLM（Large Language Model） 的「投影层」范式（LLaVA 式）跑通，开源社区能低成本复刻出好用的 VLM。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54480"/>
            <a:ext cx="3538728" cy="27432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成本大幅下降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157984"/>
            <a:ext cx="31363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托管 API 按 token 计费、开源 VLM（Vision-Language Model） 可自部署，传一张图的边际成本降到「用得起」的区间。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11064240" cy="868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727448"/>
            <a:ext cx="106619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对客话术：不是「新技术尝鲜」，而是「原来要拼三四个工具的活，现在一个模型端到端做完」——这才是客户买单的点。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能力谱系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把「多模态」拆开：每种模态都有理解和生成两面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08760"/>
            <a:ext cx="4434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理解侧（看懂 / 听懂）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96327" y="1508760"/>
            <a:ext cx="4434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生成侧（画出 / 说出）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图像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图像问答、OCR、图表理解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6327" y="196596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文生图、图生图、局部重绘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音频 Audio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532888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语音转写 ASR、声音事件识别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7" y="2532888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语音合成 TTS（Text-to-Speech）、音乐 / 音效生成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视频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099816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视频摘要、动作识别、时序定位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96327" y="3099816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文生视频、图生视频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文档 Document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666744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版式解析、表格 / 图表抽取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6327" y="3666744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版式化文档生成（较少见）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336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3D / 其它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233672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点云 / 空间理解（新兴）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96327" y="4233672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3D 资产生成（新兴）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售前常见误区：客户说「要个多模态」，其实往往只需要其中一格（如「图像→OCR」）。先定位到具体那一格，方案立刻清晰。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判断标准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什么时候该上多模态，什么时候别硬上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3108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该上多模态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输入里有关键的非文字信息：图纸、发票、X 光片、监控视频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任务要「连看带推理」：这张图表能说明利润下滑吗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跨模态：给图配文案、给视频生成字幕摘要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传统 OCR/规则抽取做不动的复杂版式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3108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✗ 别硬上多模态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输入本来就是纯文本（客服问答、合同文本）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只需固定字段的规则化识别，传统 OCR 更快更便宜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对延迟 / 成本极敏感，图像 token 开销扛不住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没有评估手段，纯靠「看着还行」上线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9204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00176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一句话判据：非文字信息是不是「关键输入」+ 任务是不是需要「理解」而非「转录」。两个都 yes 才上。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与传统方案的区别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多模态大模型 ≠ OCR + LLM 的简单拼接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传统链路（OCR / ASR + 规则）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先把图 / 声「转成字」，再交给下游处理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擅长：印刷体、固定版式、字段稳定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短板：图表语义、手写、跨区域关联答不了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多模态大模型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「看着图直接理解并回答」，不必先转字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擅长：图表推理、复杂版式、开放问答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短板：贵、慢、可能幻觉，需评估兜底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案例：一张财报截图。OCR 只能吐出数字；多模态模型能回答「同比增长最快的是哪个业务线，为什么」——差别就在「理解」。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89204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00176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两者不是替代而是分工：稳定字段用 OCR 省钱，复杂理解用多模态兜底——第 6 章「拼管线 vs 原生」会细讲。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多模态各能力 → 主流云服务对照（给选项，不绑一家）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能力环节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767328" y="150876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云上通常怎么扛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7" y="1508760"/>
            <a:ext cx="36576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代表服务形态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多模态理解（图/文档/视频）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196596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调托管多模态大模型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7" y="196596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Bedrock / Vertex AI / 通义千问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14600"/>
            <a:ext cx="32004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文档 OCR / 版式解析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2514600"/>
            <a:ext cx="420624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专用文档智能服务，或多模态模型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7" y="2514600"/>
            <a:ext cx="36576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Document AI / 文字识别 OCR / Textract 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6324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语音理解 ASR / 合成 TTS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306324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托管语音服务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7" y="306324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Speech-to-Text / TTS 类语音服务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1880"/>
            <a:ext cx="32004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图像 / 视频生成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67328" y="3611880"/>
            <a:ext cx="420624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托管生成模型服务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7" y="3611880"/>
            <a:ext cx="36576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各云图像 / 视频生成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6052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自部署开源 VLM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7328" y="416052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GPU 实例 + 推理框架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7" y="416052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vLLM / SGLang on GPU 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给客户报方案的口径：先按「理解 / 生成 / 文档 / 语音」拆环节，每个环节给「托管 API」和「自建」两条路，再谈成本。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1 章 · 是什么 / 为什么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拿任一多模态 API（GPT-5 / Gemini / Claude），传一张发票截图，让它抽出金额、日期、抬头，看它抽得准不准。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换一张手写便签、再换一张财报图表，分别问「转录」和「理解」两类问题，体会 OCR 与多模态的边界。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把同一张图分别走「云上 OCR 服务」和「多模态大模型」，记下各自的准确率、延迟、花费——这就是你对客的第一份对比数据。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关键观察点：印刷体两者都行；一旦涉及手写、图表推理、开放问答，多模态的价值才显出来。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多模态是不是就是能看图？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不止。它是「文本之外多种模态的理解与生成」——图、音、视频、文档都算，且分「看懂」和「生成」两条线，选型报价都不同。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我的场景到底要不要上多模态？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看输入里有没有关键的非文字信息，且任务是否需要「理解」。发票理解、图纸问答要；纯文本客服不用硬上，反而更贵更慢。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多模态和 OCR 有什么区别？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OCR 只把图变字；多模态能「连看带理解」，直接回答「这张图表说明利润在下降吗」这类 OCR 答不了的问题，两者常配合用。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为什么现在多模态突然火了？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原生多模态旗舰（Gemini 2.5、GPT-5）把看 / 听做进同一个模型，能力和易用性都过了线，端到端落地成本大降。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多模态 = 给文字天才装上眼睛耳朵，能理解和生成图 / 音 / 视频 / 文档。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两条线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理解侧（看懂→出字）vs 生成侧（出图 / 音 / 视频），选型报价完全不同。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判断标准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输入有关键非文字信息 + 需要「理解」而非「转录」，才上多模态。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与 OCR 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不是替代是分工：稳定字段 OCR 省钱，复杂理解多模态兜底。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机器怎么「看」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How Machines See · ViT 与 CLIP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机器怎么看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解释模型只吃 token，那一张图是怎么变成一串「视觉 token」的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ViT（Vision Transformer）的核心动作：把图切成 16×16 的 patch 当单词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CLIP 用「图文对比学习」把图和文字拉到同一个向量空间，以及它为什么关键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知道视觉编码器（Vision Encoder）的选型与分辨率如何影响 token 数和成本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核心难题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模型只认 token：一张图怎么「说」给它听？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文字天然是离散 token（一个词一个号）。但一张图是几百万个连续像素，没法直接喂给 Transformer。核心问题就一句：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1064240" cy="868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4D64"/>
                </a:solidFill>
                <a:latin typeface="Calibri"/>
              </a:rPr>
              <a:t>怎么把「连续的像素」变成「离散的、Transformer 能吃的一串 token」？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类比：你没法把一整幅油画塞进邮筒，但可以把它剪成一版小邮票，一张张贴上、按顺序念给对方听——ViT 干的就是这件事。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整幅图像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连续像素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45994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切成 patch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16×16 小块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45994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每块 → 向量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视觉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9096" y="45994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排成序列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喂给模型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ViT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Vision Transformer：把图片切成「视觉单词」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ViT 把「图像分类」变成了「读一句由图块组成的话」。五步走：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① 切块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29384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把图切成 16×16 像素的 patch，如 224×224 的图 → 196 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69464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② 展平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5176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每个 patch 拉直成一个向量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91840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9242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③ 线性投影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74136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过一层线性变换，得到定长的 patch embedding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4216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④ 加位置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96512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补上位置编码，告诉模型「这块在左上还是右下」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36592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3717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⑤ 进 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818888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当成 token 序列，走标准自注意力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64240" cy="475488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916168"/>
            <a:ext cx="10661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划重点：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记住这个数：patch 越小 / 分辨率越高 → token 越多 → 看得越细，但也越贵越慢。这是第 7 章成本账的根。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CLIP：让图片和文字「在同一个空间里牵手」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光把图变成 token 还不够——模型怎么知道「一张金毛照片」对应「golden retriever」这句话？CLIP（Contrastive Language-Image Pre-training，对比式图文预训练）用海量「图 + 配文」对训练：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1460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51460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训练目标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5468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4 亿对「图 + 配文」（网络上现成的）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匹配的图文 → 向量拉近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不匹配的 → 向量推远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51460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51460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得到的能力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15468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图和文字进入同一个语义空间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零样本分类：给类别名就能认新类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成为多模态大模型的「眼睛」底座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类比：把所有图片和所有句子扔进同一个大操场，让「意思相同的」自动站到一起。之后给一句话，就能找到最像它的图。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9496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504688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CLIP / SigLIP 这类编码器是绝大多数 VLM 的视觉前端——理解它，才懂后面「模态怎么拼」为什么能拼。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编码器选型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视觉编码器：选哪款、给多少分辨率，直接影响成本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0876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0608" y="150876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对售前的意义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主流编码器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96596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CLIP、SigLIP、自研 ViT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1965960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开源 VLM 多用 SigLIP；能力/许可要看清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377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输入分辨率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532888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224 / 336 / 动态高分辨率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532888"/>
            <a:ext cx="4480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分辨率↑ → 认得清小字，但 token 数↑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token 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09981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一张图几十~上千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3099816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直接决定这张图的费用和延迟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377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动态切分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666744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大图切成多个子图分别编码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0608" y="3666744"/>
            <a:ext cx="4480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文档 / 高清图常用，token 会成倍涨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客户问「传高清图会不会更准」：会更准，但 token 和费用也涨——给他「够用的最低分辨率」而不是「最高分辨率」。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2 章 · 机器怎么看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用 transformers 加载一个 CLIP 模型，给它一张图 + 三个候选文字标签，看它怎么零样本地选出最匹配的（体会「图文对齐」）。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同一张图，分别用 224 和高分辨率两种设置调多模态 API，比较对「图里的小字」识别的差异，以及 token 数 / 花费的差异。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1 题让你亲眼看到 CLIP 的对齐能力；第 2 题让你对「分辨率↔token↔成本」这条链形成肌肉记忆。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模型是怎么「看懂」图片的？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先用视觉编码器（如 CLIP）把图切成小块、变成一串「视觉 token」，再和文字 token 一起交给大模型理解——本质是把图翻译成模型的语言。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为什么传高清大图更贵？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分辨率越高、切的 patch 越多，视觉 token 就越多，而计费和延迟都按 token 走，所以更清晰=更贵更慢。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CLIP 和多模态大模型是一回事吗？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不是。CLIP 是「眼睛」（视觉编码器），负责把图变成向量；多模态大模型是在它之上接了个会推理的「大脑」。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280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图像识别用多模态大模型，比传统 CV 好在哪？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8066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传统 CV 要为每个任务单独训练；多模态大模型开箱即用、能开放问答、能结合上下文推理，省了大量定制工程。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核心动作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ViT 把图切成 16×16 的 patch，当「视觉单词」排成序列喂给模型。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对齐底座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CLIP 用图文对比学习，把图和文字拉进同一个向量空间。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成本之根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分辨率 / patch 越多 → 视觉 token 越多 → 越准也越贵越慢。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承上启下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编码器是 VLM 的眼睛；下一章讲眼睛怎么接上大脑（融合）。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模态怎么「拼」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Fusion · 三条融合路线 &amp; 原生 vs 拼管线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模态怎么拼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讲清核心问题：视觉 token 怎么接进一个原本只懂文字的大模型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说清三条主流融合路线——投影层（LLaVA）、交叉注意力（Flamingo）、Q-Former（BLIP-2）的取舍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分清「早融合 / 晚融合」和「原生多模态 / 拼管线」，这是本讲义最值钱的一页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面对一个客户需求，能判断该走「原生多模态模型」还是「拼 OCR/ASR + LLM」的管线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眼睛有了，怎么接到大脑上？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第 2 章我们有了「视觉 token」，第 1 章有了会推理的 LLM。现在的问题是：怎么把这两串东西接起来，让模型既看得见、又想得明白？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视觉编码器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出视觉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58775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？？？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怎么对接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58775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文字推理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9096" y="258775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输出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连看带答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业界给了三个答案，本质区别只有一句：让 LLM「读」视觉 token 的方式不同。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51960"/>
            <a:ext cx="3538728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投影层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855464"/>
            <a:ext cx="3136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把视觉向量「翻译」成 LLM 能读的词向量，直接塞进输入序列。最简单、最流行。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4251960"/>
            <a:ext cx="3538728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5112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交叉注意力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855464"/>
            <a:ext cx="3136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不塞进序列，而是让 LLM 的层「侧头去看」图像特征。能力强、改动大。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4251960"/>
            <a:ext cx="3538728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83296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3296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Q-Former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855464"/>
            <a:ext cx="3136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先用一个小模块把上千视觉 token 压成几十个精华，再塞进去。省算力。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路线一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投影层（Projection）：给视觉装个「转接头」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代表：LLaVA。做法极简，却是今天开源 VLM 的主流。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图像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→ 编码器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视觉向量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编码器输出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投影层 MLP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关键：翻译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拼进文字序列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当普通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一起读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连看带答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37560"/>
            <a:ext cx="5394959" cy="17373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37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优点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977639"/>
            <a:ext cx="4974336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结构简单，训练只需练那层小小的投影层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LLM 主体几乎不动，能复用现成强模型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开源社区能低成本复刻，生态最繁荣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37560"/>
            <a:ext cx="5394959" cy="17373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337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977639"/>
            <a:ext cx="4974336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视觉 token 直接进序列，token 开销大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高分辨率图会让序列很长、很贵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精细对齐能力略逊于交叉注意力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类比：图像和文字说两种语言，投影层就是那个「同声传译」，把视觉向量翻成 LLM 听得懂的「词」。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路线二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交叉注意力（Cross-Attention）：让大脑「侧头看图」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代表：Flamingo。不把视觉 token 塞进输入序列，而是在 LLM 内部插入交叉注意力层，让文字在生成时「按需回头看」图像特征。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4231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为什么这样设计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63239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文字序列不被图像 token 撑长，长上下文更省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图像特征可以很丰富，不必压进有限 token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天然支持图文交错（多张图 + 多段文字）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42316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4231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063239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要往 LLM 里插新层 → 改动大、训练更重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实现复杂，开源复刻门槛高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不如投影层那样即插即用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09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类比：投影层是把图「翻译成话」一起念；交叉注意力是让读者一边读文字、一边随时抬头瞄一眼那张图。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550408"/>
            <a:ext cx="106619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选型含义：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能力强但工程重——所以更多出现在大厂自研旗舰里，开源阵营偏爱更轻的投影层。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路线三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Q-Former（BLIP-2）：先「浓缩」再喂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代表：BLIP-2。痛点是视觉 token 太多太贵。Q-Former 是个小桥梁：用一组可学习的「查询向量」，从上千视觉 token 里萃取出几十个最有用的，再交给 LLM。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上千视觉 token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编码器输出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7706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Q-Former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一组查询向量萃取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7706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几十个精华 token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浓缩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9096" y="27706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喂给 LLM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省算力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94760"/>
            <a:ext cx="5394959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794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优点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434840"/>
            <a:ext cx="4974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把视觉 token 压到几十个，序列短、便宜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视觉编码器和 LLM 都可冻结，只训练小桥梁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训练 / 推理成本都友好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794760"/>
            <a:ext cx="5394959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3794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34840"/>
            <a:ext cx="4974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浓缩过程可能丢细节（小字、密集图表）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多一个模块，pipeline 更复杂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近年被更简单的投影层部分取代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三路线对比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一张表看懂三种融合：拿什么换什么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737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288" y="1600200"/>
            <a:ext cx="1554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代表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60020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怎么接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0608" y="1600200"/>
            <a:ext cx="23317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优势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2328" y="1600200"/>
            <a:ext cx="2148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投影层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2057400"/>
            <a:ext cx="1554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8768" y="2057400"/>
            <a:ext cx="3291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视觉向量翻译成词，塞进序列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057400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简单、生态繁荣、易复刻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82328" y="2057400"/>
            <a:ext cx="2148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token 多、序列长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770632"/>
            <a:ext cx="173736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交叉注意力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2770632"/>
            <a:ext cx="155448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Flamingo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68" y="2770632"/>
            <a:ext cx="329184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LLM 内部插层，按需看图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608" y="2770632"/>
            <a:ext cx="233172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省序列、图文交错强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2328" y="2770632"/>
            <a:ext cx="214884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改动大、工程重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83864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Q-Former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3483864"/>
            <a:ext cx="1554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BLIP-2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8768" y="3483864"/>
            <a:ext cx="3291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萃取几十个精华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8" y="3483864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省算力、可冻结主体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3483864"/>
            <a:ext cx="2148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可能丢细节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2920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13892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对客一句话：绝大多数开源 VLM 走投影层；追极致能力的大厂旗舰用交叉注意力；要省成本的场景看 Q-Former 思路。不必记论文，记这条选择逻辑。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融合时机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早融合 vs 晚融合：在「哪一步」把模态合起来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926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早融合 Early Fusion（原生多模态）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训练时文字和图像就搅在一起学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模型内部形成统一的跨模态表示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代表：Gemini 2.5、GPT-5 这类原生旗舰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强：跨模态推理、图文深度关联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难：训练贵、数据要求高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926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晚融合 Late Fusion（拼接）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各模态先各自处理，最后一步才汇合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常见做法：OCR/ASR 转文字 → 喂纯文本 LLM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代表：文档抽取 + LLM 这类工程管线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强：工程可控、便宜、可复用现成组件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弱：跨模态推理弱、误差会累积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0916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81888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「早 / 晚融合」是学术说法，落到工程就是下一页的「原生 vs 拼管线」——这才是客户真正要做的那个决定。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灵魂页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原生多模态 vs 拼管线：客户最纠结、你最能体现价值的一页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5394959" cy="32918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原生多模态模型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48839"/>
            <a:ext cx="4974336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一个模型端到端：直接「看图 → 理解 → 回答」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强项：图表推理、复杂版式、开放问答、图文关联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省去拼装，链路短、维护简单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代价：贵、慢、可能幻觉，能力是「黑盒」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适合：理解密集、版式多变、要开放问答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08760"/>
            <a:ext cx="5394959" cy="32918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08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拼管线（OCR/ASR（Automatic Speech Recognition） + LLM）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48839"/>
            <a:ext cx="4974336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先转文字，再用便宜的文本 LLM 处理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强项：稳定字段、可控、便宜、每步可替换 / 可审计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各环节可用专用服务（OCR 服务等）优化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代价：跨模态弱、误差累积、拼装维护成本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适合：版式固定、字段稳定、对成本 / 可控性敏感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8348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09320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划重点：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很多真实系统是「混合」：稳定部分走 OCR 管线省钱，疑难部分兜底给原生多模态。别把它当二选一。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三个问题，帮客户在「原生」和「拼管线」间落子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D64"/>
                </a:solidFill>
                <a:latin typeface="Calibri"/>
              </a:rPr>
              <a:t>① 版式稳定吗？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73936"/>
            <a:ext cx="7315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固定表单 / 票据 → 偏拼管线（OCR 够用、便宜）；版式千变万化 → 偏原生。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7004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0720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D64"/>
                </a:solidFill>
                <a:latin typeface="Calibri"/>
              </a:rPr>
              <a:t>② 要「转录」还是「理解」？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98064"/>
            <a:ext cx="7315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只要把字抠出来 → 拼管线；要回答「这图说明了什么」→ 原生。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9417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D64"/>
                </a:solidFill>
                <a:latin typeface="Calibri"/>
              </a:rPr>
              <a:t>③ 成本 / 可控性有多敏感？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22191"/>
            <a:ext cx="7315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量大、要审计、预算紧 → 拼管线；要开放能力、可容忍成本 → 原生。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2920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13892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三个问题走完，方案基本定型。多数企业文档场景的最优解是「拼管线打底 + 原生兜底」的混合式。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3 章 · 模态怎么拼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找一个开源 VLM（如 LLaVA / Qwen-VL 系）的架构图，指出「视觉编码器 → 投影层 → LLM」三段，说清投影层在训练时练的是什么。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同一份扫描合同，分别走「云 OCR → 文本 LLM 抽字段」和「原生多模态模型直接问答」，比较准确率、成本、维护复杂度。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把上一题的结论整理成一张「原生 vs 拼管线」对比卡——这就是你下次对客答疑的现成弹药。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2 题是本章精华：亲手做一遍，你就真正理解了「原生 vs 拼管线」不是玄学，而是成本 / 能力 / 可控性的权衡。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多模态模型内部到底怎么把图和文字合起来的？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主流是「投影层」：视觉编码器把图变成向量，再用一层小网络翻译成 LLM 能读的词向量，拼进文字序列一起处理。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我该用原生多模态，还是自己拼 OCR + LLM？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672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版式固定、只要抠字段、要省钱可控 → 拼管线；版式多变、要理解 / 开放问答 → 原生。很多系统是两者混合。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564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拼管线便宜，为什么还要原生多模态？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0906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OCR 只给字、丢了版式和图表语义，遇到「看图推理」就答不了；原生能连看带理解，是拼管线的能力上限之外的兜底。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9826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开源 VLM 和闭源旗舰的架构差在哪？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508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开源多用轻量的投影层（易复刻）；闭源旗舰常用更重的交叉注意力 / 原生早融合，能力更强但工程和成本也更高。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三条路线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投影层（简单主流）、交叉注意力（强但重）、Q-Former（省算力）。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两种时机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早融合=原生多模态；晚融合=拼管线，落到工程就是那个关键决定。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灵魂取舍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原生：能理解、省链路、贵而黑盒；拼管线：便宜可控、跨模态弱。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最优常是混合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拼管线打底省钱 + 原生兜底疑难，别做二选一。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理解侧能力盘点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Understanding · 图 / 文档 / 视频 / 语音 + 模型格局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理解侧盘点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盘清理解侧四大场景：图像、文档、视频、语音，各自能做什么、难在哪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重点讲「文档理解」——售前最高频的落地场景（OCR-free、版式 / 图表 / 表格）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 2026 年多模态理解的模型格局：闭源旗舰 vs 开源 VLM，以及关键基准数字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知道理解侧的能力边界与常见幻觉，能给客户设合理预期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图像理解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图像理解：从「认出是什么」到「看懂在说什么」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能力层次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08760"/>
            <a:ext cx="5029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例子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8522208" y="150876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识别 / 描述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965960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图里有什么、生成一句话描述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2208" y="196596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低，基本都能做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9260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图像问答 VQA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532888"/>
            <a:ext cx="502920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这张图里有几个人、颜色是什么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2208" y="2532888"/>
            <a:ext cx="31089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图表 / 示意图理解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099816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这张折线图说明了什么趋势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2208" y="309981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高，考验推理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9260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空间 / 关系推理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666744"/>
            <a:ext cx="502920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猫在狗的左边还是右边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2208" y="3666744"/>
            <a:ext cx="31089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高，模型常错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33672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细粒度 OCR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4233672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读出图里的小字、公式、表格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22208" y="4233672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高，看分辨率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对客设预期：「认出 / 描述」几乎无差别，「图表推理」和「空间关系」才是拉开模型差距、也最容易翻车的地方。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文档理解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文档理解：售前最高频的落地场景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传统链路：OCR 抠字 → 规则 / 版式分析 → 抽字段。多模态大模型带来「OCR-free」路线：直接看着文档回答问题、抽结构化数据。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5394959" cy="1965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多模态文档理解能做什么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34639"/>
            <a:ext cx="4974336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版式解析：标题 / 段落 / 表格 / 印章位置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表格 / 图表 → 结构化 JSON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跨页、跨区域关联问答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手写、复杂版式也有戏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194560"/>
            <a:ext cx="5394959" cy="1965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194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上云怎么落地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834639"/>
            <a:ext cx="4974336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专用文档智能：Document AI / OCR 类服务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通用多模态：Bedrock / Vertex / 千问 API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高精度固定单据 → 专用 OCR 更划算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开放版式问答 → 多模态模型兜底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434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4531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落地口径：把文档任务拆成「稳定字段」和「疑难理解」两堆——前者交专用 OCR 服务，后者交多模态模型，成本最优。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视频理解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视频理解：多了一个「时间」维度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视频 = 图像序列 + 时间 + （常有）音频。核心挑战：帧太多，不可能每帧都全分辨率喂进去。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原始视频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几千帧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抽帧 / 采样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降到几十帧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每帧编码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视觉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 时序信息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知道先后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模型理解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摘要 / 定位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8328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能做的事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2336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视频摘要 / 内容审核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动作 / 事件识别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时序定位：第几秒发生了什么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长视频问答（配长上下文）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8328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落地要注意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2336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抽帧策略直接决定成本和精度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长视频 token 爆炸，需长上下文模型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实时 vs 离线，架构差别大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音轨要不要一起处理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4924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58968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Gemini 系以「原生视频 + 超长上下文」见长，是长视频理解的代表打法；开源侧 Qwen-VL 也在补齐视频能力。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语音理解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语音理解：从「转写」到「听懂并对话」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5008" y="1554480"/>
            <a:ext cx="35661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 / 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560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语音转写 ASR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2011680"/>
            <a:ext cx="4937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把语音转成文字（字幕、会议纪要）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2011680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专用 ASR 服务 / Whisper 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15184"/>
            <a:ext cx="256032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说话人 / 情绪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615184"/>
            <a:ext cx="49377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谁在说、语气如何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615184"/>
            <a:ext cx="35661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进阶，部分模型支持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18688"/>
            <a:ext cx="2560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语音直接对话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218688"/>
            <a:ext cx="4937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不转文字，端到端语音进语音出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3218688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原生语音模型（低延迟对话）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22192"/>
            <a:ext cx="256032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音频事件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822192"/>
            <a:ext cx="49377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识别掌声、警报、音乐等非语音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3822192"/>
            <a:ext cx="35661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安防 / 质检场景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4924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458968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选型分水岭：只要字幕 / 纪要 → 便宜的专用 ASR 就够；要「实时语音助手」→ 才需要原生语音对话模型。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544568"/>
            <a:ext cx="110642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617720"/>
            <a:ext cx="106619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4D64"/>
                </a:solidFill>
                <a:latin typeface="Calibri"/>
              </a:rPr>
              <a:t>承上启下：</a:t>
            </a:r>
            <a:r>
              <a:rPr sz="1100" b="0">
                <a:solidFill>
                  <a:srgbClr val="1A2733"/>
                </a:solidFill>
                <a:latin typeface="Calibri"/>
              </a:rPr>
              <a:t>本页讲「听懂」的能力；把它做成低延迟、可打断的实时对话链路（延迟预算 / 级联 vs 端到端 / RTC），见第 8 章 · 语音与实时交互。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模型格局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2026 理解侧格局：闭源旗舰 vs 开源 VLM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103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阵营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0048" y="150876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代表模型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10528" y="1508760"/>
            <a:ext cx="5120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特点 / 关键数字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闭源旗舰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965960"/>
            <a:ext cx="3840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GPT-5、Gemini 2.5 Pro、Claude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0528" y="196596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原生多模态 + 长上下文（1M~2M token）+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24328"/>
            <a:ext cx="210312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开源 · 最强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2624328"/>
            <a:ext cx="384048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InternVL3-78B（MIT）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2624328"/>
            <a:ext cx="512064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MMMU ≈ 72.2%，开源 SOTA（State of the Art），逼近闭源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82696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开源 · 文档强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3282696"/>
            <a:ext cx="3840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Qwen3-VL（Qwen2.5-VL 后继）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282696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文档 / OCR 基准最强开源；OCRBench ≈ 888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41063"/>
            <a:ext cx="210312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开源 · 生态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3941063"/>
            <a:ext cx="384048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 4、Pixtral、Phi-4 MM、Molmo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3941063"/>
            <a:ext cx="512064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原生图像理解，许可 / 部署各有侧重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80"/>
            <a:ext cx="11064240" cy="868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21808"/>
            <a:ext cx="106619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时效：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核实于 2026-07-09。MMMU（大学级多学科理解）、OCRBench（文字识别）是理解侧最常引用的两把尺子。对客别只报名字，报「在什么基准上多少分」。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能力边界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理解侧会在哪儿翻车？给客户设对预期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642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空间关系易错：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「左边 / 右边、上 / 下、谁在谁前面」这类精确空间判断，模型常答反。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小字 / 密集表格丢信息：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分辨率不够时，长串数字、密集表格容易读错或漏读。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幻觉：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图里没有的东西也可能「言之凿凿」地描述出来，尤其被诱导时。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计数不准：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数清楚「图里有几个人 / 几只羊」对模型仍是老大难。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跨页 / 超长视频衰减：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上下文越长，越靠后的细节越容易被忽略。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779008"/>
            <a:ext cx="106619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应对：关键场景必须配评估集 + 人审兜底，别拿「看着还行」上线——这条直接接第 7 章的评估与生产。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4 章 · 理解侧盘点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选 3 个模型（1 闭源旗舰 + 2 开源 VLM），用同一组图像 / 文档问题跑一遍，记录准确率与延迟，做一张自己的「小榜单」。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构造 5 道「陷阱题」（空间关系、数数、小字、图表推理、图里没有的东西），专门测模型会在哪翻车。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2 题的陷阱题最有价值：它让你在客户面前既能讲能力、也能诚实讲边界，信任感立刻不一样。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多模态模型能替代我现在的 OCR 系统吗？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能理解得更深（图表 / 版式 / 开放问答），但固定单据的稳定抠字，专用 OCR 往往更准更便宜。多数场景是两者配合。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开源 VLM 能打过 GPT-5 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单项基准（如 MMMU）开源 InternVL3、Qwen3-VL 已逼近闭源；但综合能力、稳定性、长上下文，闭源旗舰仍领先。看场景。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视频理解为什么贵？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视频帧多，抽帧后每帧还要编码成大量视觉 token，长视频容易 token 爆炸，所以对上下文长度和费用都是考验。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模型看图会不会瞎编？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会。图里没有的东西也可能被「自信地」描述，尤其空间关系和计数。关键场景必须配评估和人审兜底。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四大场景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图像、文档、视频、语音；文档理解是售前最高频落地点。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文档打法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稳定字段交专用 OCR，疑难理解交多模态，成本最优。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模型格局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闭源旗舰领先；开源 InternVL3 / Qwen3-VL 已逼近，看基准报数。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空间关系、计数、小字、幻觉是常见翻车点，必配评估兜底。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生成侧能力盘点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Generation · 图像 / 视频 / 语音 &amp; any-to-any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生成侧盘点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讲清图像生成两大流派——扩散（Diffusion）与自回归（Autoregressive）的区别和各自强项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 2026 原生图像生成格局：GPT Image 2、Nano Banana 2 及「和 LLM 紧耦合」的趋势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盘点文生视频、语音合成 TTS、any-to-any 全模态的现状与落地边界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知道生成侧的坑：版权、水印、一致性、可控性——对客户如实设预期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原生图像生成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原生生成：图像模型正在和 LLM「合体」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2026 的大趋势：图像生成不再是独立的 DALL·E 式扩散模块，而是和语言模型栈紧耦合的原生自回归能力——「懂世界知识、听得懂复杂话」。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2103120"/>
            <a:ext cx="1554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发布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2103120"/>
            <a:ext cx="7132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特点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60320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GPT Image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2560320"/>
            <a:ext cx="1554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2026-04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560320"/>
            <a:ext cx="7132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全新自回归架构，比前代快 3–5×；多约束指令 ≈98% 准确；文字渲染近字符级精确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10127"/>
            <a:ext cx="2377440" cy="74980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Nano Banana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3310127"/>
            <a:ext cx="1554480" cy="74980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2026-02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3310127"/>
            <a:ext cx="7132320" cy="74980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即 Gemini 3.1 Flash Image；「Pro 质量 + Flash 速度」，3–5 秒出图，512px–4K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59935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FLUX.2 / Midjourney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4368" y="4059935"/>
            <a:ext cx="1554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持续迭代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4059935"/>
            <a:ext cx="7132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扩散阵营写实 / 美学标杆，艺术类创作首选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1208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32180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时效：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核实于 2026-07-09。「原生自回归 + 世界知识」是当下方向，但扩散在纯美学场景仍不可替代——不是谁淘汰谁。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文生视频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文生视频：最烧钱、进步最快的方向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能力现状：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几秒到几十秒的高质量短视频已可用，画质 / 连贯性快速提升。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核心难点：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时间一致性（人物 / 场景跨帧不能变形）、物理合理性、可控性。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落地场景：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广告 / 营销素材、电商展示、动画分镜、创意预览。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成本特征：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生成一段视频的算力远高于图像，按秒 / 按分辨率计费，贵。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代表方向：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文生视频 + 图生视频 + 首尾帧控制，正快速产品化。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733288"/>
            <a:ext cx="106619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对客设预期：视频生成适合「创意 / 草稿 / 素材」，还不适合「一次成片、零后期」的严肃交付。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语音合成与语音对话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让模型「说」：TTS 与实时语音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语音合成 TTS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文字 → 自然语音，音色 / 情感可控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声音克隆：几秒样本复刻音色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落地：有声书、客服播报、视频配音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注意：音色克隆的合规与授权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实时语音对话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端到端语音进 / 语音出，低延迟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不必「转文字再合成」，更自然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落地：语音助手、电话客服、陪练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注意：打断 / 插话 / 情绪的工程难度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6052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27024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选型：批量播报 / 配音 → TTS 服务即可；要「能聊天的语音助手」→ 才上原生实时语音模型，成本和工程都更高。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138928"/>
            <a:ext cx="110642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212080"/>
            <a:ext cx="106619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4D64"/>
                </a:solidFill>
                <a:latin typeface="Calibri"/>
              </a:rPr>
              <a:t>承上启下：</a:t>
            </a:r>
            <a:r>
              <a:rPr sz="1100" b="0">
                <a:solidFill>
                  <a:srgbClr val="1A2733"/>
                </a:solidFill>
                <a:latin typeface="Calibri"/>
              </a:rPr>
              <a:t>TTS 与实时语音是「会说」的能力；成本账、打断工程与框架选型（Pipecat / LiveKit）在第 8 章 · 语音与实时交互展开。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any-to-any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终局形态：一个模型，任意模态进 / 任意模态出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趋势是「统一多模态」：同一个模型既能看图听声、又能画图说话，输入输出都不限模态。原生旗舰正朝这个方向收敛。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文本 / 图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任意输入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音频 / 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混合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统一模型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一个大脑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文本 / 图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任意输出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音频 / 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49039"/>
            <a:ext cx="5394959" cy="1783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749039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意味着什么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38912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链路进一步缩短，一个模型端到端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跨模态创作 / 理解无缝衔接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「多模态」慢慢变成模型的默认能力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749039"/>
            <a:ext cx="5394959" cy="1783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749039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现实提醒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38912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各模态质量仍不均衡，专用模型还有优势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成本 / 延迟 / 可控性依然是落地约束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别被「全能」宣传带节奏，按场景验证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生成的坑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生成侧的四个「必须对客户说清」的问题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版权与合规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训练数据与产出的版权边界尚不清晰；商用需关注授权与平台条款。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水印与溯源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多国要求 AI 生成内容加标识（如隐形水印 / C2PA，Coalition for Content Provenance and Authenticity）；合规是硬要求。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同一角色 / 品牌形象跨图跨帧难保持一致，是落地最常见的痛点。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可控性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精确控制版式 / 文字 / 布局仍难，往往要多轮迭代 + 人工把关。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上云落地：图像 / 视频 / 语音生成都有托管服务，但「合规水印 + 内容审核」要作为方案标配写进去，别漏。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生成侧盘点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生成资产：从草稿到发布的状态机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进行中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请求 → 权利检查（素材可用吗）→ 生成/编辑 → 打凭据（水印 / C2PA 类标识）——四步都要留记录。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等待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人工审核：品牌、安全、合规单独放行——不可逆传播之前，这道闸不能省。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终态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发布，或拒绝/撤销——发布不是终点：争议发生时要能定位、下架、撤销并通知。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主线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定范围 → 授权 → 过滤 → 人审 → 签发 → 监控；发布前保留输入、模型版本、参考资产、审核与凭据记录。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上一页四个坑（版权/水印/一致性/可控）是「风险清单」，这一页是「流程答案」——客户问「AI 生成物怎么管」，把这台状态机画给他。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5 章 · 生成侧盘点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同一条复杂提示词（含「左上角放红色标题、右下角写一行英文小字」），分别用扩散模型和自回归模型生成，比较空间关系和文字渲染的差距。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用 TTS 服务把一段文字合成语音，再试音色 / 情感参数，体会「配音」类需求的可控程度。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1 题会让你一眼看懂「扩散美术生 vs 自回归逻辑生」——这是对客解释生成选型最直观的 demo。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生成图片用扩散还是自回归？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要艺术感 / 写实用扩散（Midjourney、FLUX）；要按复杂指令、带准确文字（海报、UI、信息图）用自回归（GPT Image 2、Nano Banana）。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文生视频能直接商用出片吗？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目前适合创意 / 草稿 / 素材，短视频质量已可用，但时间一致性和可控性还不足以「零后期一次成片」。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713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AI 生成内容有法律风险吗？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239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有两块：训练 / 产出的版权边界，以及多地要求的 AI 标识 / 水印。商用方案里要把授权和合规水印写进去。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1314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语音克隆很方便，能随便用吗？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65776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技术上几秒样本就能克隆，但音色属于个人权益，必须有授权；合规是这类功能能不能上线的前提。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两大流派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扩散=美术生（写实美学）；自回归=逻辑生（指令 / 文字 / 空间）。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原生趋势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图像生成和 LLM 紧耦合，GPT Image 2 / Nano Banana 2 领跑自回归。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视频 / 语音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视频最烧钱进步最快；语音分 TTS 与实时对话两档选型。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四个坑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版权、水印、一致性、可控性——方案里必须如实交代。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选型与动手做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Selection &amp; Hands-on · 成本 / 延迟 / 精度三角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选型与动手做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用「成本 / 延迟 / 精度」三角，给客户框出多模态方案的取舍空间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读懂一段真实的多模态 API 调用（传图的两种方式：URL 与 base64）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算清一张图到底值多少 token、多少钱，回答客户最尖锐的成本追问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分清托管 API 和自建（vLLM 部署开源 VLM）两条路，以及各自适用场景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决策框架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成本 / 延迟 / 精度：三角里选两个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多模态方案没有「全都要」。像项目管理的铁三角一样，成本、延迟、精度三者互相拉扯，先问客户「哪个不能让」。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3538728" cy="23774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精度优先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52344"/>
            <a:ext cx="3136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上最强旗舰、高分辨率、开放问答；代价是贵和慢。适合医疗 / 金融等容错低场景。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48840"/>
            <a:ext cx="3538728" cy="23774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成本优先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52344"/>
            <a:ext cx="3136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拼管线打底、开源 VLM 自部署、低分辨率够用即可。适合海量、字段稳定场景。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148840"/>
            <a:ext cx="3538728" cy="23774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延迟优先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752344"/>
            <a:ext cx="3136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小模型 / 缓存 / 预处理降 token；适合实时交互、语音对话。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5488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86460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对客开场白：「先告诉我三件事里哪个最不能妥协——精度、速度、还是成本？」方案立刻收敛，也显专业。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动手：真实调用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一段能跑的多模态调用：传图的两种方式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72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A65A"/>
                </a:solidFill>
                <a:latin typeface="Courier New"/>
              </a:rPr>
              <a:t>URL 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方式 A：图片 URL（省带宽，模型端拉取）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messages=[{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"role":"user",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"content":[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{"type":"text","text":"抽出发票金额和日期"},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{"type":"image_url",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 "image_url":{"url":"https://.../inv.png"}}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]}]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resp = client.chat.completions.create(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model="&lt;multimodal-model&gt;",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messages=messages)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46304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A65A"/>
                </a:solidFill>
                <a:latin typeface="Courier New"/>
              </a:rPr>
              <a:t>base64 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方式 B：base64 内联（本地图 / 私有数据）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import base64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b64 = base64.b64encode(open("inv.png","rb")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    .read()).decode()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content=[{"type":"text","text":"抽出金额和日期"},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{"type":"image_url","image_url":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{"url":f"data:image/png;base64,{b64}"}}]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高分辨率图 → base64 更大 → 传输更慢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敏感数据别用公网 URL，用 base64/私网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669280"/>
            <a:ext cx="11064240" cy="658368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779008"/>
            <a:ext cx="106619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两种方式语义相同、模态字段一致。选择点：公开图用 URL 省事；私有 / 敏感数据用 base64 或私网，别把内部图片挂公网。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成本账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一张图值多少 token？把账算给客户看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图像按 token 计费：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一张图会被折算成几十到上千个「视觉 token」，和文字 token 一起计价。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分辨率是主变量：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低分辨率一张图可能几十~百来 token；高分辨率 / 大图切块后可上千。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文档 / 多图场景最贵：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一份多页 PDF、一段视频抽帧，token 会成倍叠加。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省钱三招：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① 降到「够用」的分辨率；② 稳定部分走 OCR 不走大模型；③ 结果缓存 / 去重。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4632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5604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回答「传图贵不贵」的正确姿势：不是报单价，而是「按你的分辨率和图量，一张约 X token、一天约 Y 元」——把账落到他的量。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延迟与吞吐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为什么多模态比纯文本慢，怎么办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4688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为什么慢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视觉 token 多 → 预填充（prefill）阶段变重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高分辨率 / 多图 / 视频让序列更长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首 token 延迟（TTFT，Time To First Token）明显高于纯文本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批处理时显存占用更大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4688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怎么优化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降分辨率、控制图片数量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能缓存的结果就缓存（同图重复问）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离线批处理 vs 在线实时分开设计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自建时用 vLLM/SGL 做批处理与 KV（Key-Value） 复用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3434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4531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这条直接接第 2 章「token 之根」和第 7 章「成本膨胀」——多模态的慢和贵，根子都在视觉 token 数。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托管 vs 自建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上云两条路：调 API，还是自己部署开源 VLM？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3017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托管 API（Bedrock / Vertex / 千问等）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开箱即用，无需运维 GPU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总能用到最新最强的旗舰模型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按调用付费，起步成本低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适合：快速上线、量不极端、要最强能力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代价：数据出域顾虑、单价随量增长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3017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自建（vLLM 部署开源 VLM）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Qwen3-VL / InternVL3 等开源权重自部署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数据不出域，满足合规 / 私有化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量大时单位成本可显著更低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适合：数据敏感、超大调用量、要可控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代价：要 GPU、要运维、能力可能略逊旗舰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8348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09320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典型建议：先用托管 API 快速验证价值；跑通、量上来、且数据敏感，再评估自建开源 VLM 降本。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6 章 · 选型与动手做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把第 6.2 的两段代码跑通，分别用 URL 和 base64 传同一张图，观察返回与耗时差异。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同一张图分别用「低 / 高」两档分辨率调用，记录 token 数与费用，算出「每千张图」的成本——做成一张报价参考表。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在 GPU 云上用 vLLM 起一个开源 VLM（如 Qwen2.5-VL），跑同样的图，对比托管 API 的成本 / 延迟 / 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2、3 题产出的「成本表」和「托管 vs 自建对比」，是你对客答疑和写方案时最硬的两块数据。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选型与动手做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多模态请求的五层输入合同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获取 + 变换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资产、格式、哈希、授权；缩放/裁剪/抽帧/切段——任何压缩与采样都要记录，这决定模型后面「看到什么」。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编码对齐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视觉/音频编码器、embedding、投影层、token 数——分辨率与帧率的选择，在这一层变成成本。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推理 + 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提示词、上下文、工具、输出；页码/框选区域/时间戳/版本——答案要能回到原始页、区域、帧或时间段。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铁律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原始资产、衍生表示、定位信息三者同存——只留中间文本，审计与引用都断链（与 RAG 的四层证明页同款道理）。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客户问「多模态为什么又贵又难管」——五层每层都有账（质量/成本/权限）：本章的成本三变量加这页的合同，一起答。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传一张图到底要多少钱？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图被折算成视觉 token，和分辨率强相关：低分辨率几十~百来 token，高分辨率 / 大图上千。正确报法是按客户的分辨率和图量折算到「每天多少钱」。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多模态为什么比纯文本慢？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视觉 token 多，prefill 阶段变重、首 token 延迟高；高分辨率和多图 / 视频会进一步拉长序列。降分辨率和缓存是主要优化手段。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该调 API 还是自己部署？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先用托管 API 快速验证；等量大、数据敏感、要降本，再评估用 vLLM 自部署开源 VLM。多数项目从托管起步。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怎么把多模态成本压下来？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三招：降到够用的分辨率、稳定字段走 OCR 不走大模型、结果缓存去重；必要时自建开源 VLM 摊薄单位成本。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决策三角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成本 / 延迟 / 精度，先问客户哪个最不能妥协。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调用要点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传图有 URL 与 base64 两式；敏感数据别挂公网。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成本之根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图像按视觉 token 计费，分辨率是主变量，把账落到客户的量。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两条路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托管 API 快速起步；量大 / 敏感再上自建开源 VLM。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生产落地与坑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Production · 成本 / 幻觉 / 评估 / 安全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生产落地与坑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算清生产上多模态的成本膨胀点，避免上线后账单爆炸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识别多模态特有的失效：幻觉、空间关系错误、计数错误，并设好兜底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掌握多模态怎么评估（MMMU / OCRBench / DocVQA / Video-MME），接住「你怎么证明它准」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认识跨模态提示注入（图里藏指令）这类新型安全风险，给方案配防线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成本膨胀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上线后账单为什么会爆？盯住视觉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主因：视觉 token 随分辨率暴涨。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一张高清图 / 一份多页 PDF，token 可能是纯文本问题的几十上百倍。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多图、视频抽帧叠加。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一次传 5 张图或一段视频，成本线性甚至超线性上升。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重复调用无缓存。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同一张图被反复问、同一份文档每次重算，钱白花。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prompt 里塞满示例图。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few-shot 图例很占 token，收益不一定值。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4632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5604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划重点：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上线前必做：用真实图量和分辨率做一次「token 压测 + 月度成本估算」，别等账单来了才发现分辨率设高了。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失效模式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多模态特有的翻车：不只是「答错」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失效类型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0876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表现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7" y="150876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兜底手段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视觉幻觉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描述出图里根本没有的东西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7727" y="1965960"/>
            <a:ext cx="4663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关键字段要模型给「依据 / 定位」，交叉校验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空间关系错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532888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左右 / 上下 / 前后判断反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7" y="2532888"/>
            <a:ext cx="4663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改问法、避免依赖精确空间判断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计数不准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09981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数错人数 / 物体数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7" y="3099816"/>
            <a:ext cx="4663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用专用检测模型做计数，别靠 VLM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OCR 漏读错读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666744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小字 / 密集表格读错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7" y="3666744"/>
            <a:ext cx="4663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提分辨率、关键数字二次核对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336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长内容衰减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23367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长文档 / 长视频后段被忽略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7727" y="4233672"/>
            <a:ext cx="4663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分段处理 + 汇总，别一把梭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对客诚实话术：多模态「大部分场景很强，但有已知短板」——把短板和兜底一起讲，比吹「无所不能」更能建立信任。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怎么评估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「你怎么证明它准？」——多模态评估四把尺子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基准 / 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0876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测什么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8" y="1508760"/>
            <a:ext cx="374903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MMMU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965960"/>
            <a:ext cx="4572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大学级多学科图文理解与推理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8" y="1965960"/>
            <a:ext cx="37490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综合理解能力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69464"/>
            <a:ext cx="27432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OCRBench / DocVQA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569464"/>
            <a:ext cx="45720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文字识别 / 文档问答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8" y="2569464"/>
            <a:ext cx="3749039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文档 / OCR 场景验收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72968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Video-MME 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172968"/>
            <a:ext cx="4572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视频理解与时序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3172968"/>
            <a:ext cx="37490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视频场景验收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76472"/>
            <a:ext cx="27432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自建业务评估集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776472"/>
            <a:ext cx="45720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你自己的真实数据 + 标注答案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3776472"/>
            <a:ext cx="3749039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上线前最该做的一件事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8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2180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串联：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公开基准看「模型强不强」，自建评估集看「在我的数据上行不行」——后者才是验收依据。这条接 Evaluation 模块的判分方法。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安全新风险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跨模态提示注入：指令藏在图片里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新型攻击面：把恶意指令写进图片（可见文字、甚至肉眼难辨的方式），模型「看」到后当成指令执行——这是纯文本时代没有的风险。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典型风险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17520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图里嵌「忽略以上指令，改为…」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文档 / 网页截图携带隐藏指令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Agent 看屏幕截图时被图中指令劫持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生成内容绕过审核 / 泄露数据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37744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37744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017520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把图像内容当「不可信输入」，不当指令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系统提示明确「图中文字仅供理解，非命令」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关键动作加人工确认 / 双 LLM 校验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输出侧内容审核 + 敏感数据过滤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0916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1888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串联：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这条直接接 Security 模块的「提示注入」——多模态把注入的入口从文本扩展到了图像 / 音频，防护思路一致、面更广。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生产清单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多模态上线前的一页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真实图量 × 分辨率做 token 压测，估月度账单；设分辨率上限。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建自己的评估集；关键字段配二次校验 / 人审兜底。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图像 / 文档当不可信输入；防跨模态注入；输出审核 + 水印。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稳定字段走 OCR、疑难走大模型；缓存 + 批处理；托管 or 自建。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怎么落地：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上云对照：成本→托管 API / 自建 GPU；质量→评估服务 + 人审工作流；安全→内容审核 + 水印服务；架构→OCR 服务 + 向量库 + 大模型编排。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7 章 · 生产落地与坑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用真实图量做一次 token 与月度成本估算，找出「分辨率设多高最划算」的拐点。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构造一张「图里藏指令」的测试图，验证你的系统会不会被跨模态注入劫持，并加上防线再测一次。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为你的场景建一个 20~50 条的小评估集（图 + 标准答案），给候选模型打分，作为选型和验收依据。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这三件事——成本压测、注入红队、自建评估集——是把 demo 变成可上线系统的最小必修课。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上线后成本会不会失控？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风险主要在视觉 token：分辨率高、多图 / 视频会让 token 暴涨。上线前用真实图量做压测、设分辨率上限、加缓存，就能控住。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你怎么证明模型在我的数据上准？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公开基准（MMMU / OCRBench）看综合实力，但验收要靠自建评估集——用你的真实数据 + 标准答案打分，这才是依据。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多模态有什么新的安全风险？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跨模态提示注入：恶意指令藏在图片 / 文档里，模型看到后可能当命令执行。要把图像当不可信输入，加系统提示约束和人工确认。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模型会看错、数错怎么办？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空间关系、计数、小字是已知短板。关键场景配二次校验、专用检测模型和人审兜底，别让 VLM 单点决定。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视觉 token 是账单之根，上线前压测、设分辨率上限、加缓存。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已知短板（幻觉 / 空间 / 计数）配兜底；自建评估集做验收。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跨模态注入是新入口，图像当不可信输入 + 输出审核 + 水印。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串联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评估接 Evaluation 模块，安全接 Security 模块，成本接第 6 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语音与实时交互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Voice &amp; Realtime · 从「能听会说」到「像人接话」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语音与实时交互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用「对话空隙 300–500 毫秒」这个生理阈值，向客户解释为什么语音是「实时系统」问题，而不是「接个 ASR 就完了」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画出级联管线（Cascaded Pipeline）ASR→LLM→TTS 的完整时延拆帐，指出预算花在哪一段、第一杠杆是什么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讲清端到端语音模型（Speech-to-Speech）快在哪、黑在哪，以及 2026 年企业生产为什么仍以级联为主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报出一分钟语音对话的成本量级，并说清打断（Barge-in）与全双工（Full-duplex）的工程实现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257800"/>
            <a:ext cx="11064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349240"/>
            <a:ext cx="106619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4D64"/>
                </a:solidFill>
                <a:latin typeface="Calibri"/>
              </a:rPr>
              <a:t>承上启下：</a:t>
            </a:r>
            <a:r>
              <a:rPr sz="1200" b="0">
                <a:solidFill>
                  <a:srgbClr val="1A2733"/>
                </a:solidFill>
                <a:latin typeface="Calibri"/>
              </a:rPr>
              <a:t>第 4 章讲「听懂」、第 5 章讲「会说」——能力已就位；本章讲怎么把能力串成 300 毫秒内接话、可被打断的实时链路。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8199"/>
                </a:solidFill>
                <a:latin typeface="Calibri"/>
              </a:rPr>
              <a:t>第 8 章 · 延迟预算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B2540"/>
                </a:solidFill>
                <a:latin typeface="Cambria"/>
              </a:rPr>
              <a:t>对话的物理学：半秒沉默就是「异常」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0">
                <a:solidFill>
                  <a:srgbClr val="1A2733"/>
                </a:solidFill>
                <a:latin typeface="Calibri"/>
              </a:rPr>
              <a:t>人对「对话空隙」极其敏感——语音产品的第一 KPI 不是准确率，是响应延迟（Latency）。四条参考线：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300–500ms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人类换话的自然空隙，超过就开始被察觉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&lt;800ms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端到端标杆线（gpt-realtime 实测量级）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&lt;1.5s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级联管线生产目标（P50 口径）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1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3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&gt;1.5s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3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用户判定「坏了」，开始重复说话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06240"/>
            <a:ext cx="11064240" cy="10058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70832"/>
            <a:ext cx="10652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>
                <a:solidFill>
                  <a:srgbClr val="0E4D64"/>
                </a:solidFill>
                <a:latin typeface="Calibri"/>
              </a:rPr>
              <a:t>案例：</a:t>
            </a:r>
            <a:r>
              <a:rPr sz="1250" b="0">
                <a:solidFill>
                  <a:srgbClr val="1A2733"/>
                </a:solidFill>
                <a:latin typeface="Calibri"/>
              </a:rPr>
              <a:t>语音客服延迟超过 2 秒时，用户会开始重复问题，ASR 把两遍话拼在一起、语义混串，错误级联放大——延迟不只是体验问题，还是准确率问题。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打电话 vs 对讲机——你敢在电话里随时插话，因为你知道对方「在线」；延迟一高，对话就退化成「说完请讲」的对讲机模式。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级联管线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级联管线：三段接力的时延拆帐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级联管线（Cascaded Pipeline）</a:t>
            </a:r>
            <a:r>
              <a:rPr sz="1300" b="0">
                <a:solidFill>
                  <a:srgbClr val="1A2733"/>
                </a:solidFill>
                <a:latin typeface="Calibri"/>
              </a:rPr>
              <a:t>：语音转文字、想、文字转语音三段接力。类比接力赛——快不靠三个百米冠军，靠交接棒不停顿。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用户说完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VAD（Voice Activity Detection） 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ASR 转写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100–300ms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456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首 token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350–1000ms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TTS 首音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90–200ms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用户听到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+网络 50–200ms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46120"/>
            <a:ext cx="53949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24612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开关一 · 全链路流式（Streaming）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867911"/>
            <a:ext cx="4956048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ASR 边听边出字、LLM 边想边吐、TTS 边收边说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首音时延取决于「首 token」，不是「全文生成完」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任何一段等全量输出，延迟立刻爆表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246120"/>
            <a:ext cx="53949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324612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开关二 · 瓶颈在 LLM 首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867911"/>
            <a:ext cx="4956048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350–1000ms 占大头：模型档位选小、提示词减脂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KV 缓存复用系统提示（见 LLM-Inference 模块）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工具调用最伤延迟——能预取的别现查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级联的真功夫不在挑最好的三个组件，而在把三段「焊」成流水线——衡量口径永远是「首音时延」，不是「说完时延」。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端到端模型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端到端语音模型：2026 四家格局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模型家族</a:t>
            </a:r>
          </a:p>
        </p:txBody>
      </p:sp>
      <p:sp>
        <p:nvSpPr>
          <p:cNvPr id="5" name="Rectangle 4"/>
          <p:cNvSpPr/>
          <p:nvPr/>
        </p:nvSpPr>
        <p:spPr>
          <a:xfrm>
            <a:off x="3310128" y="1554480"/>
            <a:ext cx="374903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定位与特点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916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关键口径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9436608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gpt-realtime 家族（OpenAI）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116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Realtime API GA；工具调用进音频环路，生态最全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201168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128K 上下文；&lt;1s 量级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36608" y="201168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快速上线、Agent 化语音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Gemini Live（Google）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743200"/>
            <a:ext cx="3749039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3.1 Flash Live（2026-03）；噪声环境与多语言强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743200"/>
            <a:ext cx="23774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~200ms 首响；200+ 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36608" y="2743200"/>
            <a:ext cx="219456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低延迟、成本敏感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Qwen3-Omni 系（阿里，开源）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原生端到端全模态，权重开放可自部署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347472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113 语种 ASR；流式语音输出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36608" y="347472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私有化、数据不出域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Moshi（Kyutai，开源）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4206240"/>
            <a:ext cx="3749039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全双工对话先驱，研究导向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4206240"/>
            <a:ext cx="23774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原生全双工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36608" y="4206240"/>
            <a:ext cx="219456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理解路线、试验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65776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端到端（Speech-to-Speech）</a:t>
            </a:r>
            <a:r>
              <a:rPr sz="1250" b="0">
                <a:solidFill>
                  <a:srgbClr val="1A2733"/>
                </a:solidFill>
                <a:latin typeface="Calibri"/>
              </a:rPr>
              <a:t>= 声音进、声音出，中间不落文字——语气、笑声、犹豫都保留，自然度是级联给不了的。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端到端把延迟砍约 85%，但中间没有文字可审计——护栏、质检、合规都要重做，这是企业生产仍以级联为主的真正原因。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全双工与打断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会「让话」的机器人：VAD、打断、轮次切换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56616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VAD · 语音活动检测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21992"/>
            <a:ext cx="3127248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判断「用户在说话吗」，整条链路的第一道闸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太灵敏：背景音、咳嗽就把 bot 打断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太迟钝：用户说完半天没反应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现代做法是语义 VAD：不光听音量，还判断「话说完了没」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56616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Barge-in · 打断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221992"/>
            <a:ext cx="3127248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用户一开口，bot 必须立即闭嘴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三连动作：停 TTS 播放、砍断 LLM 生成、上下文回滚到打断点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少做任何一件都「穿帮」：要么抢话，要么自说自话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600200"/>
            <a:ext cx="356616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Turn-taking · 轮次切换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221992"/>
            <a:ext cx="3127248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判断什么时候「轮到我说」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难点：停顿 ≠ 说完（想想报电话号码中间的停顿）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端到端模型从数据里原生学会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级联要靠 VAD + 超时 + 语义判断拼出来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优秀的电话客服在你插话时会立刻停下。机器人要做到这点，需要一条贯穿 ASR-LLM-TTS 的「急停线」，而不是一个功能开关。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传输与框架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把声音送到位：WebRTC、电话线与两大框架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66160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66160" cy="475488"/>
          </a:xfrm>
          <a:prstGeom prst="roundRect">
            <a:avLst/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76272"/>
            <a:ext cx="312724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走 TCP：丢包必重传，卡顿会排队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服务端之间、demo 够用；弱网体验差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55448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WebRTC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176272"/>
            <a:ext cx="312724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走 UDP：丢一帧就丢，人耳几乎无感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自带回声消除、抖动缓冲；浏览器 / APP 生产标配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566160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155448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电话接入 SIP / PSTN（Public Switched Telephone Network，公共交换电话网）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76272"/>
            <a:ext cx="312724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5B4B8A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呼叫中心呼入呼出走 SIP 网关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5B4B8A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8kHz 窄带音质，ASR 要选电话调优档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520440"/>
            <a:ext cx="2377440" cy="42062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框架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3520440"/>
            <a:ext cx="5760720" cy="42062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3520440"/>
            <a:ext cx="2926080" cy="42062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特点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41064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Pipecat（Daily）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4368" y="3941064"/>
            <a:ext cx="57607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帧管线抽象：STT / LLM / TTS 每段自己拼，传输层无关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05088" y="3941064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v1.0（2026-04），控制力最强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34840"/>
            <a:ext cx="2377440" cy="493776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LiveKit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4434840"/>
            <a:ext cx="5760720" cy="493776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WebRTC 房间模型：agent 作为「参与者」进房间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05088" y="4434840"/>
            <a:ext cx="2926080" cy="493776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多人音视频原生，接口省心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928616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Vapi、Retell 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4368" y="4928616"/>
            <a:ext cx="57607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语音 agent 即服务（托管）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5088" y="4928616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最快上线，按分钟计费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实测 LiveKit 750–900ms、Pipecat 800–950ms，同一量级——选型看控制权与部署形态：要自己拼每段选 Pipecat，要多人音视频选 LiveKit，要最快上线选托管。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成本账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成本账：一分钟语音对话多少钱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5661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830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4D64"/>
                </a:solidFill>
                <a:latin typeface="Cambria"/>
              </a:rPr>
              <a:t>$0.01–0.17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4231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级联管线 · 每分钟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889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1606E"/>
                </a:solidFill>
                <a:latin typeface="Calibri"/>
              </a:rPr>
              <a:t>组件各自计价：可预测、可逐项优化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661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7830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4D64"/>
                </a:solidFill>
                <a:latin typeface="Cambria"/>
              </a:rPr>
              <a:t>$0.18–0.46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4231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端到端 · 未优化实测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7889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1606E"/>
                </a:solidFill>
                <a:latin typeface="Calibri"/>
              </a:rPr>
              <a:t>gpt-realtime，4000 会话样本口径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600200"/>
            <a:ext cx="35661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7830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4D64"/>
                </a:solidFill>
                <a:latin typeface="Cambria"/>
              </a:rPr>
              <a:t>$0.05–0.10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4231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端到端 · 优化后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7889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1606E"/>
                </a:solidFill>
                <a:latin typeface="Calibri"/>
              </a:rPr>
              <a:t>提示缓存 + 精简工具输出后的量级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14800"/>
            <a:ext cx="1066190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4D64"/>
                </a:solidFill>
                <a:latin typeface="Calibri"/>
              </a:rPr>
              <a:t>降本三板斧：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2733"/>
                </a:solidFill>
                <a:latin typeface="Calibri"/>
              </a:rPr>
              <a:t>① 提示缓存——音频输入缓存部分折扣约 99%；② 换档位——gpt-realtime-mini 全线便宜约 60%；③ 别为沉默付费——静音检测停采样。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对客报价用「每分钟通话成本 × 并发 × 时长」，别报 token 单价——语音场景客户听得懂的单位是分钟。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上云怎么落地：链路环节 → 服务对照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链路环节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3008" y="1554480"/>
            <a:ext cx="81381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代表服务（主流选项，不绑一家）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端到端 S2S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20116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OpenAI Realtime API · Google Gemini Live API；私有化用 Qwen3-Omni 自部署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292608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ASR 流式转写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2578608"/>
            <a:ext cx="81381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各云语音识别（Azure AI Speech、Google STT 等）· Deepgram · Whisper 系自建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45536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TTS 流式合成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3145536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 TTS · ElevenLabs · Cartesia（低延迟档）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12464"/>
            <a:ext cx="292608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RTC（Real-Time Communication） 传输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3712464"/>
            <a:ext cx="81381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LiveKit Cloud · Daily · 声网 Agora 等 RTC PaaS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9392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电话接入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4279392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Twilio · SIP（Session Initiation Protocol，会话发起协议） 网关 · 云呼叫中心对接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292608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编排框架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4846320"/>
            <a:ext cx="81381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Pipecat / LiveKit Agents（自托管）· Vapi / Retell（托管）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组合建议：</a:t>
            </a:r>
            <a:r>
              <a:rPr sz="1250" b="0">
                <a:solidFill>
                  <a:srgbClr val="1A2733"/>
                </a:solidFill>
                <a:latin typeface="Calibri"/>
              </a:rPr>
              <a:t>demo 直接上端到端 API 最快；进生产先问三件事——接不接电话（SIP）、要不要私有化（开源自部署）、合规要不要文字留痕（要 → 级联）。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8 章 · 语音与实时交互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OpenAI Realtime API（或 Gemini Live）跑通一个浏览器语音对话 demo，感受端到端的响应速度，并试着在它说话时打断它。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Pipecat 拼一条最小级联管线（任一 ASR + 任一 LLM + 任一 TTS），在日志里打出 ASR 首字、LLM 首 token、TTS 首音三个时间戳，算出各段占比。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把系统提示从 2000 字减到 200 字、换 mini 档模型，再测一轮首音时延和每分钟成本——这就是你给客户的优化前后对比。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重点观察「首音时延」而非「说完时延」——用户感知的是第一声什么时候出来；打断体验比快 100ms 更值钱。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你们语音客服的延迟能压到多少？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分架构说：端到端能进 1 秒（标杆约 800ms）；级联生产目标 P50 1.5 秒内。瓶颈通常在 LLM 首 token，我们从模型档位、提示词长度、流式化三处下手，先测基线再承诺数字。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端到端模型又快又自然，为什么你们还推级联？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快是真的，但它中间没有文字可审计，护栏、质检、合规都要重做，供应商也只有少数几家。电话客服、金融这类要留痕可控的场景，2026 年主流仍是级联；两条路线都能搭，按合规要求选。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语音机器人一分钟成本多少？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级联约 0.01–0.17 美元/分钟、可预测；端到端未优化 0.2–0.5 美元/分钟，开提示缓存和 mini 档能压到 0.05–0.10。报价按「分钟成本 × 并发 × 时长」给您算总账。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能接我们现有的呼叫中心吗？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能：走 SIP/电话网关把呼入呼出接进来，坐席侧系统不用换。注意电话是 8kHz 窄带音质，ASR 要选电话场景调优过的模型——这点我们会在 POC（Proof of Concept） 里先验证。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语音 = 实时系统工程：能力看模型，体验看链路——半秒的空隙就是分水岭。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两条路线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级联可审计、可换件、成本可预测；端到端快而自然但黑盒——合规场景级联仍是 2026 主流。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延迟预算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级联 P50 &lt;1.5s、端到端标杆 &lt;800ms；大头在 LLM 首 token，流式化是第一杠杆。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成本口径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对客报「每分钟」：级联 $0.01–0.17，端到端优化后 $0.05–0.10——先算账再承诺。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Cheat Sheet · 术语 / 决策树 / 串联地图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术语速查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重点术语中英对照（中文为主）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多模态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文本外多种模态的理解 / 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视觉编码器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Vision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把图变成视觉 token（如 CLIP）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417320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5361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图文对比学习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把图和文字对齐到同一空间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0603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2491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视觉 Transformer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把图切 patch 当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0603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72491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投影层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Projection /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1546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把视觉向量翻译进 LLM（LLaVA）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60603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72491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交叉注意力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Cross-Attention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1546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LLM 内部按需看图（Flamingo）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9475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1363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查询压缩器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Q-Former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4339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萃取少量精华视觉 token（BLIP-2）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79475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91363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原生多模态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Native / Early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34339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训练时图文一起学，端到端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79475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91363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拼管线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Pipeline / Late Fusion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434339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OCR/ASR 转字 + 文本 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98347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0235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扩散模型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Diffusion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321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从噪声去噪生成，写实美学强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98347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510235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自回归生成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Autoregressive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5321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逐 token 拼图，指令 / 文字强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498347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3" y="510235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视觉语言模型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VLM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55321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能看图的语言模型统称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选型决策树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从需求到方案：一张决策树走完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847088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00784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① 输入有非文字信息且是关键吗？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00784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否 → 用纯文本 LLM，别上多模态。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0545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752344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06040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② 要「转录」还是「理解」？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06040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只要抠字段 → 传统 OCR / ASR 管线足够。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1071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657600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11296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③ 版式稳定吗？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511296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固定单据 → 拼管线（OCR + LLM）性价比最高。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15968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562856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16552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④ 需要开放问答 / 图表推理 / 复杂版式？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16552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是 → 原生多模态模型（可与管线混合兜底）。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2122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5468112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21808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⑤ 数据敏感 / 量极大 / 要降本？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321808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是 → 自建开源 VLM（vLLM）；否 → 托管 API 起步。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72200"/>
            <a:ext cx="11064240" cy="5029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6281928"/>
            <a:ext cx="106619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五问走完，方案基本落地。多数企业文档场景的答案是「拼管线打底 + 原生兜底 + 托管起步」。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客户问题汇总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八个最高频问题，一页备好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多模态和 OCR 区别？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0253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OCR 只转字，多模态能连看带理解、开放问答。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523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我要不要上多模态？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63239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有关键非文字信息 + 要理解才上，否则更贵更慢。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130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原生还是拼管线？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2394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版式稳走管线省钱，版式变 / 要理解走原生。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7375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开源能打过闭源吗？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8464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单项基准已逼近，综合稳定性闭源仍领先。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传图贵不贵？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0253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按视觉 token 计费，分辨率是主变量，可压。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523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为什么比文本慢？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63239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视觉 token 多，prefill 重、首 token 延迟高。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8130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会不会瞎编 / 看错？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2394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会，空间 / 计数 / 小字是短板，配评估兜底。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87375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有什么新安全风险？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18464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跨模态提示注入——图里藏指令，需当不可信输入。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多模态在知识库里的位置：和谁握手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8" y="1792224"/>
            <a:ext cx="1078992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52360" y="1792224"/>
            <a:ext cx="822960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950208" y="3383280"/>
            <a:ext cx="1078992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452360" y="3383280"/>
            <a:ext cx="822960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RAG · 多模态检索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本模块讲模型能力 ↔ RAG（Retrieval-Augmented Generation） 讲多模态怎么检索，互为上下游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多模态感知让 Agent 能看屏幕 / 图表 = computer use 前提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LLM 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ViT 与 Transformer 同源，注意力机制复用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Evaluation /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评估接 MMMU 等基准；安全接跨模态提示注入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71800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多模态 Multimodal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029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007608"/>
            <a:ext cx="106619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定位：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应用模式层，与 RAG、Agent 同层。最强串联 RAG#rag-multimodal；第 8 章语音链路另接 LLM-Inference 与 Agent。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多模态验收：证据、对齐、权限与回滚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8" y="1792224"/>
            <a:ext cx="1078992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52360" y="1792224"/>
            <a:ext cx="822960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950208" y="3383280"/>
            <a:ext cx="1078992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452360" y="3383280"/>
            <a:ext cx="822960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输入 · 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质量/采样/变换可追溯（资产清单）；页/区域/时间定位正确（标注真值集）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对齐 · 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跨模态证据一致（冲突与缺失有测试）；工具权限不可被媒体内容改变——屏幕即注入面（接 Agent 模块）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注入 / PII（Personally Identifiable Information） / 恶意文件被阻断——攻击集与硬门禁（接 Security 跨模态注入）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SLO（Service Level Objective） / 成本 / 来源可监控、可回滚——灰度、trace、演练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71800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029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007608"/>
            <a:ext cx="106619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终极判断：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每个结论能回到原始证据，每个动作有确定性授权，每次模型或采样变化都能回归、降级和止损——演示能识别一张清晰图，不代表能处理真实媒体。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多模态讲义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从「看/听怎么变成 token」→「模态怎么拼」→「盘能力」→「选型落地」，一条线讲透。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6E1E8"/>
                </a:solidFill>
                <a:latin typeface="Calibri"/>
              </a:rPr>
              <a:t>怎么用这份讲义：对客前翻第 3 章（原生 vs 拼管线）和第 10 章（决策树 + 问题汇总）；语音项目先读第 8 章；做 demo 看第 6 章代码；被追问成本 / 安全查第 6、7 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B3C0"/>
                </a:solidFill>
                <a:latin typeface="Calibri"/>
              </a:rPr>
              <a:t>配套：精选电子书书单（见 电子书书单.md）· 时效性事实核实于 2026-07-10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CLIP  CONTRASTIVE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CLIP：图和文字，走进同一个语义空间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用 4 亿对「图 + 配文」训练：匹配的拉近、不匹配的推远——图文从此可比、可搜、可零样本分类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图片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一张金毛照片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配文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golden retriever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331720"/>
            <a:ext cx="2286000" cy="65836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图像编码器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Image 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3429000"/>
            <a:ext cx="2286000" cy="65836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4A1B0C"/>
                </a:solidFill>
                <a:latin typeface="Calibri"/>
                <a:ea typeface="Calibri"/>
              </a:rPr>
              <a:t>文本编码器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Text Encoder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660904"/>
            <a:ext cx="28346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12848" y="3758184"/>
            <a:ext cx="283464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2286000"/>
            <a:ext cx="6309360" cy="278892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12700">
            <a:solidFill>
              <a:srgbClr val="9FB3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3957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同一语义空间 —— 意思相同的自动站到一起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660904"/>
            <a:ext cx="402336" cy="26517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28032" y="3291840"/>
            <a:ext cx="402336" cy="466344"/>
          </a:xfrm>
          <a:prstGeom prst="line">
            <a:avLst/>
          </a:prstGeom>
          <a:ln w="2032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91655" y="3282696"/>
            <a:ext cx="201168" cy="201168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24612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金毛图</a:t>
            </a:r>
          </a:p>
        </p:txBody>
      </p:sp>
      <p:sp>
        <p:nvSpPr>
          <p:cNvPr id="18" name="Oval 17"/>
          <p:cNvSpPr/>
          <p:nvPr/>
        </p:nvSpPr>
        <p:spPr>
          <a:xfrm>
            <a:off x="6803136" y="3511296"/>
            <a:ext cx="201168" cy="201168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54787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golden retriever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136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匹配 → 拉近</a:t>
            </a:r>
          </a:p>
        </p:txBody>
      </p:sp>
      <p:sp>
        <p:nvSpPr>
          <p:cNvPr id="21" name="Oval 20"/>
          <p:cNvSpPr/>
          <p:nvPr/>
        </p:nvSpPr>
        <p:spPr>
          <a:xfrm>
            <a:off x="10323576" y="2642616"/>
            <a:ext cx="201168" cy="201168"/>
          </a:xfrm>
          <a:prstGeom prst="ellipse">
            <a:avLst/>
          </a:prstGeom>
          <a:solidFill>
            <a:srgbClr val="888780"/>
          </a:solidFill>
          <a:ln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61518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888780"/>
                </a:solidFill>
                <a:latin typeface="Calibri"/>
                <a:ea typeface="Calibri"/>
              </a:rPr>
              <a:t>汽车图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888780"/>
                </a:solidFill>
                <a:latin typeface="Calibri"/>
                <a:ea typeface="Calibri"/>
              </a:rPr>
              <a:t>不匹配 → 推远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949440" y="2788920"/>
            <a:ext cx="3383280" cy="822960"/>
          </a:xfrm>
          <a:prstGeom prst="line">
            <a:avLst/>
          </a:prstGeom>
          <a:ln w="1270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55279" y="299923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距离大 = 语义远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30368"/>
            <a:ext cx="10908792" cy="103327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30952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得到三样东西：图文进同一空间（可比可搜）· 零样本分类（给类别名就能认新类）· 成为多模态大模型的「眼睛」底座。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类比：把所有图和所有句子扔进同一个大操场，让「意思相同的」自动站到一起——之后给一句话，就能找到最像它的图。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灵魂页  NATIVE vs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原生多模态 vs 拼管线：不是二选一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客户最纠结、你最能体现价值的一页——先看清两条路各自的强项与代价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原生多模态模型 —— 一个模型端到端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看图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26974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理解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6974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50292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强项：图表推理、复杂版式、开放问答、图文关联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代价：贵、慢、可能幻觉，能力是「黑盒」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适合：理解密集、版式多变、要开放问答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拼管线 —— OCR/ASR + 文本 LLM 接力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697480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4A1B0C"/>
                </a:solidFill>
                <a:latin typeface="Calibri"/>
                <a:ea typeface="Calibri"/>
              </a:rPr>
              <a:t>OCR/ASR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2935224"/>
            <a:ext cx="182881" cy="0"/>
          </a:xfrm>
          <a:prstGeom prst="line">
            <a:avLst/>
          </a:prstGeom>
          <a:ln w="1778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697480"/>
            <a:ext cx="10972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文本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2935224"/>
            <a:ext cx="502920" cy="0"/>
          </a:xfrm>
          <a:prstGeom prst="line">
            <a:avLst/>
          </a:prstGeom>
          <a:ln w="1778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64040" y="2697480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4A1B0C"/>
                </a:solidFill>
                <a:latin typeface="Calibri"/>
                <a:ea typeface="Calibri"/>
              </a:rPr>
              <a:t>文本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10128"/>
            <a:ext cx="50292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强项：字段稳定、可控、便宜、每步可替换 / 审计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代价：跨模态弱、误差累积、拼装维护成本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适合：版式固定、字段稳定、对成本敏感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104241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划重点 · 很多真实系统是「混合」：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稳定部分走 OCR 管线省钱，疑难部分兜底给原生多模态。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别把它当二选一——「主管线 + 原生兜底」往往是成本与效果的最优解。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图像生成两大流派  DIFFUSION vs 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扩散 vs 自回归：美术生和逻辑生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两种画图的方式，脾气完全不同——按「要艺术感」还是「要按指令」来选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扩散 Diffusion —— 像「美术生」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14173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随机噪声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697480"/>
            <a:ext cx="14173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逐步去噪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697480"/>
            <a:ext cx="109728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成图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502920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代表：Stable Diffusion、Midjourney、FLUX.2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强项：光影、质感、写实、艺术感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弱项：空间关系（猫在狗左边常画反）、文字渲染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07408"/>
            <a:ext cx="4937760" cy="40233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53128"/>
            <a:ext cx="47548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一句话：画面美，但逻辑约束差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6B469C"/>
                </a:solidFill>
                <a:latin typeface="Calibri"/>
                <a:ea typeface="Calibri"/>
              </a:rPr>
              <a:t>自回归 Autoregressive —— 像「逻辑生」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697480"/>
            <a:ext cx="621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tok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59752" y="2935224"/>
            <a:ext cx="109728" cy="0"/>
          </a:xfrm>
          <a:prstGeom prst="line">
            <a:avLst/>
          </a:prstGeom>
          <a:ln w="16510">
            <a:solidFill>
              <a:srgbClr val="6B469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9480" y="2697480"/>
            <a:ext cx="621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tok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935224"/>
            <a:ext cx="109728" cy="0"/>
          </a:xfrm>
          <a:prstGeom prst="line">
            <a:avLst/>
          </a:prstGeom>
          <a:ln w="16510">
            <a:solidFill>
              <a:srgbClr val="6B469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01000" y="2697480"/>
            <a:ext cx="621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tok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2935224"/>
            <a:ext cx="365760" cy="0"/>
          </a:xfrm>
          <a:prstGeom prst="line">
            <a:avLst/>
          </a:prstGeom>
          <a:ln w="17780">
            <a:solidFill>
              <a:srgbClr val="6B469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697480"/>
            <a:ext cx="1097280" cy="475488"/>
          </a:xfrm>
          <a:prstGeom prst="roundRect">
            <a:avLst>
              <a:gd name="adj" fmla="val 8000"/>
            </a:avLst>
          </a:prstGeom>
          <a:solidFill>
            <a:srgbClr val="6B469C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成图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18688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像写句子一样逐 token「拼」出图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56432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代表：GPT Image 2、Nano Banana 2、Luma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强项：空间关系、多约束指令遵循、文字渲染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弱项：生成略慢（在快速改善）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407408"/>
            <a:ext cx="4937760" cy="402336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53128"/>
            <a:ext cx="47548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一句话：听得懂复杂要求、字写得准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0368"/>
            <a:ext cx="10908792" cy="103327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对客一句话：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要「好看的艺术图」偏扩散；要「按复杂指令、带准确文字的图」（海报、UI、信息图）偏自回归。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趋势：自回归正和 LLM「合体」，指令遵循与文字渲染的优势会越来越关键。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决策框架  IRON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成本 / 延迟 / 精度：三角里只能选两个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像项目管理的铁三角，三者互相拉扯——对客开场先问「哪个最不能妥协」，方案立刻收敛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554480" y="2651760"/>
            <a:ext cx="1691640" cy="2103119"/>
          </a:xfrm>
          <a:prstGeom prst="line">
            <a:avLst/>
          </a:prstGeom>
          <a:ln w="2540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46120" y="2651760"/>
            <a:ext cx="1691639" cy="2103119"/>
          </a:xfrm>
          <a:prstGeom prst="line">
            <a:avLst/>
          </a:prstGeom>
          <a:ln w="2540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91640" y="4892040"/>
            <a:ext cx="3108960" cy="0"/>
          </a:xfrm>
          <a:prstGeom prst="line">
            <a:avLst/>
          </a:prstGeom>
          <a:ln w="2540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3657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选两个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041648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就得让一个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28600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精度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84632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成本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84632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延迟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40"/>
            <a:ext cx="5349240" cy="117043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496312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精度优先　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上最强旗舰、高分辨率、开放问答；代价是贵和慢。适合医疗 / 金融等容错低场景。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75887"/>
            <a:ext cx="5349240" cy="117043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59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成本优先　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拼管线打底、开源 VLM 自部署、低分辨率够用即可。适合海量、字段稳定场景。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974336"/>
            <a:ext cx="5349240" cy="117043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93208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延迟优先　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小模型 / 缓存 / 预处理降 token；牺牲部分精度换实时。适合实时交互、语音对话。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模态怎么拼  THREE FUSION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三条融合路线：把视觉接到大脑的三种接法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都在解决同一个问题——视觉 token 怎么进 LLM；差别在 token 开销与工程复杂度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6974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0E4D64"/>
                </a:solidFill>
                <a:latin typeface="Calibri"/>
                <a:ea typeface="Calibri"/>
              </a:rPr>
              <a:t>1. 投影层</a:t>
            </a:r>
          </a:p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Projection · LLaVA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3099816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视觉向量 → 投影层 MLP（Multi-Layer Perceptron，多层感知机） → 拼进文字序列当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58768"/>
            <a:ext cx="3099816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token 开销：大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结构简单、几乎不动 LLM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开源主流、生态最繁荣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6974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993C1D"/>
                </a:solidFill>
                <a:latin typeface="Calibri"/>
                <a:ea typeface="Calibri"/>
              </a:rPr>
              <a:t>2. 交叉注意力</a:t>
            </a:r>
          </a:p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Cross-Attn · Flamingo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035808"/>
            <a:ext cx="3099816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LLM 内部插交叉注意力层，生成时按需「回看」图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58768"/>
            <a:ext cx="3099816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token 开销：小（序列不被撑长）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工程重、改动大、难复刻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多见于大厂自研旗舰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69748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6B469C"/>
                </a:solidFill>
                <a:latin typeface="Calibri"/>
                <a:ea typeface="Calibri"/>
              </a:rPr>
              <a:t>3. Q-Former</a:t>
            </a:r>
          </a:p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BLIP-2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3035808"/>
            <a:ext cx="3099816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查询向量从上千 token 萃取几十个精华再喂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858768"/>
            <a:ext cx="3099816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token 开销：最省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编码器 / LLM 都可冻结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可能丢细节、近年被投影层部分取代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一句话选型：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开源起步、图不大 → 投影层；要长上下文 / 图文交错、有工程力 → 交叉注意力；视觉 token 太贵要压 → Q-Former。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级联管线  LATENCY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级联时延预算：首音时延花在哪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衡量口径永远是「首音时延」不是「说完时延」——瓶颈在 LLM 首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900674" cy="77724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1900674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ASR 转写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45536"/>
            <a:ext cx="190067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100–300ms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0754" y="2331720"/>
            <a:ext cx="6414775" cy="77724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754" y="2459736"/>
            <a:ext cx="641477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4A1B0C"/>
                </a:solidFill>
                <a:latin typeface="Calibri"/>
                <a:ea typeface="Calibri"/>
              </a:rPr>
              <a:t>LLM 首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754" y="3145536"/>
            <a:ext cx="641477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350–1000ms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5529" y="2331720"/>
            <a:ext cx="1377988" cy="77724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5529" y="2459736"/>
            <a:ext cx="1377988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TTS 首音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5529" y="3145536"/>
            <a:ext cx="137798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90–200ms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3518" y="2331720"/>
            <a:ext cx="1187921" cy="77724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1270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3518" y="2459736"/>
            <a:ext cx="1187921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3518" y="3145536"/>
            <a:ext cx="1187921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50–200ms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039112"/>
            <a:ext cx="10881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用户说完（VAD 判定） ───────────────► 用户听到（首音）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118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30752"/>
            <a:ext cx="5029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开关一 · 全链路流式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ASR 边听边出字、LLM 边想边吐、TTS 边收边说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首音取决于「首 token」，不是「全文生成完」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任何一段等全量输出，延迟立刻爆表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36118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30752"/>
            <a:ext cx="5029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开关二 · 瓶颈在 LLM 首 token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占大头：模型档位选小、提示词减脂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KV 缓存复用系统提示（见 LLM-Inference）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工具调用最伤延迟——能预取的别现查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00232" cy="6858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级联的真功夫不在挑最好的三个组件，而在把三段「焊」成流水线——口径永远是「首音时延」。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级联 vs 端到端 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级联 vs 端到端：六个维度的取舍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要「像 ChatGPT 语音一样快」→ 端到端；要留痕可控（电话客服 / 金融）→ 级联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84831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185415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级联管线 Cascaded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84831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6B469C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185415"/>
            <a:ext cx="42336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端到端 Speech-to-Speech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6720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816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延迟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566720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649016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P50 1–1.5 秒（流式后）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566720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649016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&lt; 1 秒，最快 ~0.3 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48609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40049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可调试性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048609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130905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三段可单测、有文字中间态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048609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3130905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黑盒，问题难定位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30498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2193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供应商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530498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612794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ASR / TTS / LLM 各自可换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530498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3612794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仅少数几家（OpenAI / Google 等）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012387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03827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合规审计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012387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094683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全程文字留痕、护栏成熟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012387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094683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需语音级审计、护栏重做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94276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8571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成本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4494276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4576572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$0.01–0.17/分钟，可预测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494276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4576572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两端差百倍（$0.002–0.30）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76164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67604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2026 现状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4976164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5058460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企业生产主流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4976164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5058460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消费级助手与 demo 先用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596128"/>
            <a:ext cx="10908792" cy="667512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687568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售前答法：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理由要说得出口——可审计、可换供应商、成本可预测 → 级联；极致低延迟、消费级体验 → 端到端。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理解侧能力盘点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Pluralsight / Shakudo 2026 模型盘点；BentoML / DataCamp / Spheron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生成侧能力盘点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Modelize / DualView / Curify 2026；nanobananafree / Picsart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选型与动手做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Spheron 部署指南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生产落地与坑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2026 VLM 评测综述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语音与实时交互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softcery / telnyx 2026 横评；softcery / speko.ai / modulate；flowtivity / QwenLM GitHub / marktechpost 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2026-07-10　·　保鲜机制：季度巡检（每年 1/4/7/10 月）＋ 建议复查日定点复查　·　引用任何数字前先核日期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四家四王牌：Seedance 2.0 创意控制、Sora 2 物理真实感＋25 秒叙事、可灵 3.0 性价比＋4K、Veo 3.1 电影级质感——名单月度在变，引用先核日期。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24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成本按秒计：$0.022–$0.75/秒差 34 倍；分层用法（Fast 拼量＋高保真保质）是方案性价比的来源。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484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工作流四步：生成→审核→标识→分发；标识是法定义务，出口打标、链路保真。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725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对客设预期：素材工厂而非成片机器——留后期工位、前置合规，比事后补救便宜两个量级。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500" b="1" i="0">
                <a:solidFill>
                  <a:srgbClr val="1A2733"/>
                </a:solidFill>
                <a:latin typeface="Cambria"/>
                <a:ea typeface="Cambria"/>
              </a:rPr>
              <a:t>现场最可能被追问的五个问题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视频生成到底能不能商用了？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素材级商用已经成立（营销/社媒/预演），成片级还要人工后期；对客设预期：它是「素材工厂」，不是「成片机器」。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50592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这几家模型选哪个？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按用途分层：批量素材 Fast 档（Seedance/可灵）、叙事讲解 Sora 2（25 秒故事板）、品牌大片 Veo 3.1/可灵 4K——多数项目两档混用。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198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成本怎么估？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按「可用成片秒数 × 2–3 倍余量 × 每秒单价」估；Fast 档一条 15 秒素材不到 3 块钱，真正的成本在筛选与后期人力。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生成的视频要打标吗？不打会怎样？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要：2025-09 起显式+隐式标识都是法定义务，已有产品因此下架；把打标做成生成出口的默认输出（Security 第 8 章）。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583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人物一致性能保证吗？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跨镜头一致仍是行业难题；用参考输入（Seedance 可挂 9 图 3 视频 3 音频）＋首尾帧控制能大幅收敛，但严肃 IP 形象建议数字人管线（SP 第 7 章）。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动手做 · HANDS-ON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201400" cy="14630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任务（15 分钟）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客户画像：一家消费品牌，要为新品做 30 条 15 秒社媒短视频素材，预算 5000 元，两周交付，需过内容审核并合规分发。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请给出：① 模型与档位选择（对着第 4/5 页的表报价）；② 工作流四步各自的落点与工具；③ 一条合规提示。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参考要点（先自己写，再对答案）：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8813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30 条 × 15 秒 = 450 成片秒；按 3 倍余量 ≈ 1350 生成秒，Fast 档（$0.022–0.029/秒）约 $30–40——预算大头其实在人工筛选与剪辑，不在生成；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97096"/>
            <a:ext cx="108813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工作流：分镜脚本批量生成 → 平台审核 API + 人工抽检 → 生成出口打显式标识、导出保留元数据 → 分发；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73752"/>
            <a:ext cx="108813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合规提示：素材含真人形象需授权链路；30 条全部带标识，转码环节验证元数据未丢失。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风险与合规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AI 视频的三条红线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内容标识（法定义务）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《AI 生成合成内容标识办法》2025-09-01 施行：显式标识＋隐式元数据双轨，配套强标 GB 45438-2025；已有 App 因标识违规被下架——生成出口就近打标，分发链路保留元数据。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88336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版权与肖像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训练素材版权、生成内容的权属、真人肖像/声音的授权三件事分开谈；商用素材优先选平台的「商业可用」承诺档，并留存生成记录。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95344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深度伪造滥用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人物换脸/仿声属深度合成强监管场景；对客方案里写明「真人相关内容需授权链路」，把滥用风险挡在产品设计层。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48072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售前一句话：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「能不能做」之外先答「能不能播」——标识、版权、授权三件事在方案里前置，比事后补救便宜两个量级。合规细节见 Security 第 8 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落地工作流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从生成到分发：四步流水线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① 生成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文生/图生视频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分镜脚本→批量出素材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② 审核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内容安全审核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(平台 API+人工抽检)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③ 标识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显式标识+元数据水印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(2025-09 起法定义务)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④ 分发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剪辑合成后保留标识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转码别洗掉元数据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场景挂钩（详见 Solution-Patterns）：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营销内容生成（SP 第 5 章）：短视频素材工厂——本章的 Fast 档批量能力直接对应「素材量产」诉求；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77056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数字人（SP 第 7 章）：口播视频的形象与口型链路；离线数字人可用视频生成做背景与分镜；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07408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影视/广告预演：分镜预览（previz）用低价档快速迭代，定稿后再上高保真档或实拍。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串联：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审核与标识的合规依据在 Security 第 8 章「中国监管合规」；语音配音链路在本讲义第 8 章语音实时。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成本账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按秒计价：34 倍价差怎么用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API 价格锚点（每秒）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Seedance 2.0 Fast：$0.022（8 秒 ≈ $0.18）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Kling 3.0：$0.029（生产规模可及的门槛价）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Veo 3.1：$0.75（电影级质感的溢价）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同一支片子，选型不同成本差一个量级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消费端口径（即梦）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注册送 260 积分；5 秒视频约 20 积分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（新用户约 13 次免费生成）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积分制适合试水与轻量创作，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规模化生产回到 API 按秒计价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4048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2F855A"/>
                </a:solidFill>
                <a:latin typeface="Calibri"/>
                <a:ea typeface="Calibri"/>
              </a:rPr>
              <a:t>分层用法：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批量 A/B 素材走 Fast 档（$0.02–0.03/秒）拼量，品牌主片走高保真档（4K/原生音频）保质——同一项目两档混用，成本能压到纯高保真方案的几分之一。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4632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口径提醒：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按秒计价之外还有分辨率档位、生成失败重试、并发配额三个隐藏变量——报价按「可用成片秒数」而不是「生成秒数」估，通常要乘 1.5–3 倍余量。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格局盘点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四家旗舰一张表（2026-07 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8132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王牌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48132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时长/分辨率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481328"/>
            <a:ext cx="2148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价格（API）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Seedance 2.0（字节/即梦）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65376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创意控制：原生音视频同步；参考输入 12 文件（9图+3视频+3音频）同代最强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65376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≤15s / 1080p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865376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Fast $0.022/秒（8s≈$0.18），价格带最低档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79776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Sora 2（OpenAI）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3464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物理真实感；故事板模式支撑叙事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83464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故事板最长 25s / 1080p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834640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中间价格带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49040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03904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可灵 Kling 3.0（快手）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03904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性价比＋原生 4K@60fps；O3 档视觉保真（纹理/光线）领先；有免费版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803904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≤15s / 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803904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$0.029/秒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18304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73168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Veo 3.1（Google）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73168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电影级质感＋原生音频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773168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773168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$0.75/秒（最贵，≈Seedance Fast 34 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60720"/>
            <a:ext cx="111556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国内另有阿里万相（Wan）等入横评；名单月度在变——引用本表前先核日期（保鲜声明见第 10 章思路，本章事实登记于 MANIFEST）。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三大难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视频为什么难：时长、一致性、可控性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时长 DURATION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每多一秒都是算力与连贯性的双重代价；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当前旗舰常规 10–15 秒，Sora 2 故事板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模式可到 25 秒——「分镜拼接」是主流解法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481328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一致性 CONSISTENCY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人物/场景跨镜头保持同一是最大痛点；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参考输入（Seedance 2.0 可挂 9 图 3 视频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3 音频）与首尾帧控制是两条主修路线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5863" y="1481328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可控性 CONTROL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文字提示词对镜头语言的控制力有限；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故事板、运镜指令、图生视频让「导演意图」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可以显式传达——控制力=专业市场门票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技术底座：扩散 Transformer（DiT）是当前主流路线，自回归路线在长时序与音画同步上持续发力——两条路线之争与图像侧（第 5 章）同源。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对客设预期：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视频生成适合「创意/草稿/素材」——广告 A/B 素材、分镜预演、社媒短内容；「一次成片、零后期」的严肃交付还不是 2026 的现实，方案里要留后期工位。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45336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四家旗舰各主什么牌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Seedance 2.0＝创意控制与多模态输入；Sora 2＝物理真实感与 25 秒叙事；可灵 3.0＝性价比与原生 4K；Veo 3.1＝电影级质感与原生音频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679191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24327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时长/一致性/可控性三大难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为什么视频比图像难一个量级——以及厂商各自用什么招（故事板、首尾帧、参考输入）绕过它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758183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按秒计价的成本账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$0.022–$0.75/秒的 34 倍价差从哪来；快速档 vs 高保真档怎么按用途分层报价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837175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82312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落地工作流与合规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生成→审核→标识→分发四步流水线；AI 生成视频的标识义务（2025-09 起）与版权边界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371600"/>
            <a:ext cx="1371600" cy="512064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C3A4C"/>
                </a:solidFill>
                <a:latin typeface="Calibri"/>
                <a:ea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  <a:ea typeface="Cambria"/>
              </a:rPr>
              <a:t>视频生成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0">
                <a:solidFill>
                  <a:srgbClr val="9FC4D4"/>
                </a:solidFill>
                <a:latin typeface="Cambria"/>
                <a:ea typeface="Cambria"/>
              </a:rPr>
              <a:t>Video Generation · 生成侧的下半场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2412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第 5 章把「文生视频」讲到了门口，这一章走进去：四家旗舰谁主什么牌、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按秒计价的成本账怎么算（价差可达 34 倍）、素材怎么走完「生成→审核→标识→分发」的流水线。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对客设预期依然是那句话：适合创意/草稿/素材，还不适合「一次成片、零后期」。数字为 2026-07-17 口径。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115</Slides>
  <ScaleCrop>false</ScaleCrop>
  <HeadingPairs>
    <vt:vector size="2" baseType="variant">
      <vt:variant>
        <vt:lpstr>幻灯片标题</vt:lpstr>
      </vt:variant>
      <vt:variant>
        <vt:i4>115</vt:i4>
      </vt:variant>
    </vt:vector>
  </HeadingPairs>
  <TitlesOfParts>
    <vt:vector size="115" baseType="lpstr">
      <vt:lpstr>多模态 · 让模型长出眼睛和耳朵</vt:lpstr>
      <vt:lpstr>是什么 / 为什么</vt:lpstr>
      <vt:lpstr>是什么 / 为什么</vt:lpstr>
      <vt:lpstr>学完这一章，你能讲清楚</vt:lpstr>
      <vt:lpstr>多模态：把「一种感官」变成「多种感官」</vt:lpstr>
      <vt:lpstr>三个拐点，让多模态从「实验室」走进「生产」</vt:lpstr>
      <vt:lpstr>把「多模态」拆开：每种模态都有理解和生成两面</vt:lpstr>
      <vt:lpstr>什么时候该上多模态，什么时候别硬上</vt:lpstr>
      <vt:lpstr>多模态大模型 ≠ OCR + LLM 的简单拼接</vt:lpstr>
      <vt:lpstr>多模态各能力 → 主流云服务对照（给选项，不绑一家）</vt:lpstr>
      <vt:lpstr>动手做 · HANDS-ON</vt:lpstr>
      <vt:lpstr>客户会怎么问（面试题）</vt:lpstr>
      <vt:lpstr>本章小结</vt:lpstr>
      <vt:lpstr>机器怎么「看」</vt:lpstr>
      <vt:lpstr>学完这一章，你能讲清楚</vt:lpstr>
      <vt:lpstr>模型只认 token：一张图怎么「说」给它听？</vt:lpstr>
      <vt:lpstr>Vision Transformer：把图片切成「视觉单词」</vt:lpstr>
      <vt:lpstr>CLIP：让图片和文字「在同一个空间里牵手」</vt:lpstr>
      <vt:lpstr>CLIP：图和文字，走进同一个语义空间</vt:lpstr>
      <vt:lpstr>视觉编码器：选哪款、给多少分辨率，直接影响成本</vt:lpstr>
      <vt:lpstr>动手做 · HANDS-ON</vt:lpstr>
      <vt:lpstr>客户会怎么问（面试题）</vt:lpstr>
      <vt:lpstr>本章小结</vt:lpstr>
      <vt:lpstr>模态怎么「拼」</vt:lpstr>
      <vt:lpstr>学完这一章，你能讲清楚</vt:lpstr>
      <vt:lpstr>眼睛有了，怎么接到大脑上？</vt:lpstr>
      <vt:lpstr>投影层（Projection）：给视觉装个「转接头」</vt:lpstr>
      <vt:lpstr>交叉注意力（Cross-Attention）：让大脑「侧头看图」</vt:lpstr>
      <vt:lpstr>Q-Former（BLIP-2）：先「浓缩」再喂</vt:lpstr>
      <vt:lpstr>三条融合路线：把视觉接到大脑的三种接法</vt:lpstr>
      <vt:lpstr>一张表看懂三种融合：拿什么换什么</vt:lpstr>
      <vt:lpstr>早融合 vs 晚融合：在「哪一步」把模态合起来</vt:lpstr>
      <vt:lpstr>原生多模态 vs 拼管线：客户最纠结、你最能体现价值的一页</vt:lpstr>
      <vt:lpstr>原生多模态 vs 拼管线：不是二选一</vt:lpstr>
      <vt:lpstr>三个问题，帮客户在「原生」和「拼管线」间落子</vt:lpstr>
      <vt:lpstr>动手做 · HANDS-ON</vt:lpstr>
      <vt:lpstr>客户会怎么问（面试题）</vt:lpstr>
      <vt:lpstr>本章小结</vt:lpstr>
      <vt:lpstr>理解侧能力盘点</vt:lpstr>
      <vt:lpstr>学完这一章，你能讲清楚</vt:lpstr>
      <vt:lpstr>图像理解：从「认出是什么」到「看懂在说什么」</vt:lpstr>
      <vt:lpstr>文档理解：售前最高频的落地场景</vt:lpstr>
      <vt:lpstr>视频理解：多了一个「时间」维度</vt:lpstr>
      <vt:lpstr>语音理解：从「转写」到「听懂并对话」</vt:lpstr>
      <vt:lpstr>2026 理解侧格局：闭源旗舰 vs 开源 VLM</vt:lpstr>
      <vt:lpstr>理解侧会在哪儿翻车？给客户设对预期</vt:lpstr>
      <vt:lpstr>动手做 · HANDS-ON</vt:lpstr>
      <vt:lpstr>客户会怎么问（面试题）</vt:lpstr>
      <vt:lpstr>本章小结</vt:lpstr>
      <vt:lpstr>生成侧能力盘点</vt:lpstr>
      <vt:lpstr>学完这一章，你能讲清楚</vt:lpstr>
      <vt:lpstr>扩散 vs 自回归：美术生和逻辑生</vt:lpstr>
      <vt:lpstr>原生生成：图像模型正在和 LLM「合体」</vt:lpstr>
      <vt:lpstr>文生视频：最烧钱、进步最快的方向</vt:lpstr>
      <vt:lpstr>让模型「说」：TTS 与实时语音</vt:lpstr>
      <vt:lpstr>终局形态：一个模型，任意模态进 / 任意模态出</vt:lpstr>
      <vt:lpstr>生成侧的四个「必须对客户说清」的问题</vt:lpstr>
      <vt:lpstr>生成资产：从草稿到发布的状态机</vt:lpstr>
      <vt:lpstr>动手做 · HANDS-ON</vt:lpstr>
      <vt:lpstr>客户会怎么问（面试题）</vt:lpstr>
      <vt:lpstr>本章小结</vt:lpstr>
      <vt:lpstr>选型与动手做</vt:lpstr>
      <vt:lpstr>学完这一章，你能讲清楚</vt:lpstr>
      <vt:lpstr>成本 / 延迟 / 精度：三角里选两个</vt:lpstr>
      <vt:lpstr>成本 / 延迟 / 精度：三角里只能选两个</vt:lpstr>
      <vt:lpstr>一段能跑的多模态调用：传图的两种方式</vt:lpstr>
      <vt:lpstr>一张图值多少 token？把账算给客户看</vt:lpstr>
      <vt:lpstr>为什么多模态比纯文本慢，怎么办</vt:lpstr>
      <vt:lpstr>上云两条路：调 API，还是自己部署开源 VLM？</vt:lpstr>
      <vt:lpstr>动手做 · HANDS-ON</vt:lpstr>
      <vt:lpstr>多模态请求的五层输入合同</vt:lpstr>
      <vt:lpstr>客户会怎么问（面试题）</vt:lpstr>
      <vt:lpstr>本章小结</vt:lpstr>
      <vt:lpstr>生产落地与坑</vt:lpstr>
      <vt:lpstr>学完这一章，你能讲清楚</vt:lpstr>
      <vt:lpstr>上线后账单为什么会爆？盯住视觉 token</vt:lpstr>
      <vt:lpstr>多模态特有的翻车：不只是「答错」</vt:lpstr>
      <vt:lpstr>「你怎么证明它准？」——多模态评估四把尺子</vt:lpstr>
      <vt:lpstr>跨模态提示注入：指令藏在图片里</vt:lpstr>
      <vt:lpstr>多模态上线前的一页 checklist</vt:lpstr>
      <vt:lpstr>动手做 · HANDS-ON</vt:lpstr>
      <vt:lpstr>客户会怎么问（面试题）</vt:lpstr>
      <vt:lpstr>本章小结</vt:lpstr>
      <vt:lpstr>语音与实时交互</vt:lpstr>
      <vt:lpstr>学完这一章，你能讲清楚</vt:lpstr>
      <vt:lpstr>对话的物理学：半秒沉默就是「异常」</vt:lpstr>
      <vt:lpstr>级联管线：三段接力的时延拆帐</vt:lpstr>
      <vt:lpstr>级联时延预算：首音时延花在哪</vt:lpstr>
      <vt:lpstr>端到端语音模型：2026 四家格局</vt:lpstr>
      <vt:lpstr>级联 vs 端到端：六个维度的取舍</vt:lpstr>
      <vt:lpstr>会「让话」的机器人：VAD、打断、轮次切换</vt:lpstr>
      <vt:lpstr>把声音送到位：WebRTC、电话线与两大框架</vt:lpstr>
      <vt:lpstr>成本账：一分钟语音对话多少钱</vt:lpstr>
      <vt:lpstr>上云怎么落地：链路环节 → 服务对照</vt:lpstr>
      <vt:lpstr>动手做 · HANDS-ON</vt:lpstr>
      <vt:lpstr>客户会怎么问（面试题）</vt:lpstr>
      <vt:lpstr>本章小结</vt:lpstr>
      <vt:lpstr>售前速查</vt:lpstr>
      <vt:lpstr>重点术语中英对照（中文为主）</vt:lpstr>
      <vt:lpstr>从需求到方案：一张决策树走完</vt:lpstr>
      <vt:lpstr>八个最高频问题，一页备好</vt:lpstr>
      <vt:lpstr>多模态在知识库里的位置：和谁握手</vt:lpstr>
      <vt:lpstr>生产验收</vt:lpstr>
      <vt:lpstr>从「看/听怎么变成 token」→「模态怎么拼」→「盘能力」→「选型落地」，一条线讲透。</vt:lpstr>
      <vt:lpstr>来源与核实</vt:lpstr>
      <vt:lpstr>本章小结</vt:lpstr>
      <vt:lpstr>客户会怎么问</vt:lpstr>
      <vt:lpstr>动手做</vt:lpstr>
      <vt:lpstr>风险与合规</vt:lpstr>
      <vt:lpstr>落地工作流</vt:lpstr>
      <vt:lpstr>成本账</vt:lpstr>
      <vt:lpstr>格局盘点</vt:lpstr>
      <vt:lpstr>三大难</vt:lpstr>
      <vt:lpstr>学习目标</vt:lpstr>
      <vt:lpstr>第 9 章 视频生成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