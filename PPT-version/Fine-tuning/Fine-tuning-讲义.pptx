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4"/>
  </p:notesMasterIdLst>
  <p:sldIdLst>
    <p:sldId id="256" r:id="rId2"/>
    <p:sldId id="257" r:id="rId3"/>
    <p:sldId id="258" r:id="rId4"/>
    <p:sldId id="259" r:id="rId5"/>
    <p:sldId id="260" r:id="rId6"/>
    <p:sldId id="261" r:id="rId7"/>
    <p:sldId id="342" r:id="rId93"/>
    <p:sldId id="343" r:id="rId94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344" r:id="rId95"/>
    <p:sldId id="274" r:id="rId20"/>
    <p:sldId id="275" r:id="rId21"/>
    <p:sldId id="276" r:id="rId22"/>
    <p:sldId id="277" r:id="rId23"/>
    <p:sldId id="345" r:id="rId96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346" r:id="rId97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47" r:id="rId98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39" r:id="rId90"/>
    <p:sldId id="325" r:id="rId71"/>
    <p:sldId id="348" r:id="rId99"/>
    <p:sldId id="340" r:id="rId91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41" r:id="rId92"/>
    <p:sldId id="338" r:id="rId89"/>
    <p:sldId id="349" r:id="rId10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1.xml"/><Relationship Id="rId73" Type="http://schemas.openxmlformats.org/officeDocument/2006/relationships/slide" Target="slides/slide74.xml"/><Relationship Id="rId74" Type="http://schemas.openxmlformats.org/officeDocument/2006/relationships/slide" Target="slides/slide75.xml"/><Relationship Id="rId75" Type="http://schemas.openxmlformats.org/officeDocument/2006/relationships/slide" Target="slides/slide76.xml"/><Relationship Id="rId76" Type="http://schemas.openxmlformats.org/officeDocument/2006/relationships/slide" Target="slides/slide77.xml"/><Relationship Id="rId77" Type="http://schemas.openxmlformats.org/officeDocument/2006/relationships/slide" Target="slides/slide78.xml"/><Relationship Id="rId78" Type="http://schemas.openxmlformats.org/officeDocument/2006/relationships/slide" Target="slides/slide79.xml"/><Relationship Id="rId79" Type="http://schemas.openxmlformats.org/officeDocument/2006/relationships/slide" Target="slides/slide80.xml"/><Relationship Id="rId80" Type="http://schemas.openxmlformats.org/officeDocument/2006/relationships/slide" Target="slides/slide81.xml"/><Relationship Id="rId81" Type="http://schemas.openxmlformats.org/officeDocument/2006/relationships/slide" Target="slides/slide82.xml"/><Relationship Id="rId82" Type="http://schemas.openxmlformats.org/officeDocument/2006/relationships/slide" Target="slides/slide83.xml"/><Relationship Id="rId83" Type="http://schemas.openxmlformats.org/officeDocument/2006/relationships/slide" Target="slides/slide84.xml"/><Relationship Id="rId84" Type="http://schemas.openxmlformats.org/officeDocument/2006/relationships/notesMaster" Target="notesMasters/notes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Relationship Id="rId89" Type="http://schemas.openxmlformats.org/officeDocument/2006/relationships/slide" Target="slides/slide86.xml"/><Relationship Id="rId90" Type="http://schemas.openxmlformats.org/officeDocument/2006/relationships/slide" Target="slides/slide70.xml"/><Relationship Id="rId91" Type="http://schemas.openxmlformats.org/officeDocument/2006/relationships/slide" Target="slides/slide73.xml"/><Relationship Id="rId92" Type="http://schemas.openxmlformats.org/officeDocument/2006/relationships/slide" Target="slides/slide85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讲义式 PPT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微调工程实践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8470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 in Practice: from Data to Deployment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拿自己的数据把微调落地：什么时候该微调（vs 提示词 / RAG）、全参与 LoRA/QLoRA 怎么选、数据怎么备、训练怎么跑、对齐什么时候上、托管服务与上云怎么落、效果怎么验收。面向售前技术：每个概念讲「为什么」、给成本账，并准备好「客户会怎么问」。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3520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何时微调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1760" y="3520440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651760" y="3520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方法谱系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3520440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63440" y="3520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数据准备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75120" y="3520440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75120" y="3520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训练实操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087368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0873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偏好对齐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51760" y="4087368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651760" y="40873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托管上云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4087368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663440" y="40873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评估部署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75120" y="4087368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75120" y="40873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售前速查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473659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2026-07-09 · 时效性事实核实于当日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导览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全书导览：八章一条主线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主线：先建判断（该不该微调）→ 选方法 → 备数据 → 跑训练 → 上对齐 → 落到云 → 验收部署 → 售前速查。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定制手段光谱与「知识 vs 行为」分界线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2075688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全参 / LoRA / QLoRA 与显存账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871216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2825496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格式、量级、质量优先与合成数据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62102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3575304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 等四大框架、监控与常见坑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120640" y="1325880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与 RFT：什么时候需要走到这一步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2121408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120640" y="2075688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Bedrock / Vertex / Azure 全景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2871216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120640" y="2825496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验收标准、防遗忘、adapter 上线与闭环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362102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120640" y="3575304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决策树、成本心算、误区总表与全库串联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43484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2F6F8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4348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本讲义怎么读：</a:t>
            </a:r>
            <a:r>
              <a:rPr lang="en-US" sz="10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前两章建立判断框架（聊客户必备）；3–5 章是动手主干；6–7 章把方案落到平台；第 8 章当现场速查卡。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导览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开场必备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重点术语中英对照（中文为主）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023360" cy="585216"/>
          </a:xfrm>
          <a:prstGeom prst="roundRect">
            <a:avLst>
              <a:gd name="adj" fmla="val 7813"/>
            </a:avLst>
          </a:prstGeom>
          <a:solidFill>
            <a:srgbClr val="F2F6F8"/>
          </a:solidFill>
          <a:ln/>
        </p:spPr>
      </p:sp>
      <p:sp>
        <p:nvSpPr>
          <p:cNvPr id="5" name="Text 3"/>
          <p:cNvSpPr/>
          <p:nvPr/>
        </p:nvSpPr>
        <p:spPr>
          <a:xfrm>
            <a:off x="585216" y="1060704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微调（Fine-tuning）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在预训练模型上用自己的数据继续训练，改变模型默认行为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63440" y="1024128"/>
            <a:ext cx="4023360" cy="585216"/>
          </a:xfrm>
          <a:prstGeom prst="roundRect">
            <a:avLst>
              <a:gd name="adj" fmla="val 7813"/>
            </a:avLst>
          </a:prstGeom>
          <a:solidFill>
            <a:srgbClr val="F2F6F8"/>
          </a:solidFill>
          <a:ln/>
        </p:spPr>
      </p:sp>
      <p:sp>
        <p:nvSpPr>
          <p:cNvPr id="7" name="Text 5"/>
          <p:cNvSpPr/>
          <p:nvPr/>
        </p:nvSpPr>
        <p:spPr>
          <a:xfrm>
            <a:off x="4791456" y="1060704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全参微调（Full Fine-Tuning）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解冻全部权重训练：上限高，显存与遗忘风险也高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4023360" cy="585216"/>
          </a:xfrm>
          <a:prstGeom prst="roundRect">
            <a:avLst>
              <a:gd name="adj" fmla="val 7813"/>
            </a:avLst>
          </a:prstGeom>
          <a:solidFill>
            <a:srgbClr val="F2F6F8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1700784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参数高效微调（PEFT）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冻结大部分权重、只训一小撮参数的一族方法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664208"/>
            <a:ext cx="4023360" cy="585216"/>
          </a:xfrm>
          <a:prstGeom prst="roundRect">
            <a:avLst>
              <a:gd name="adj" fmla="val 7813"/>
            </a:avLst>
          </a:prstGeom>
          <a:solidFill>
            <a:srgbClr val="F2F6F8"/>
          </a:solidFill>
          <a:ln/>
        </p:spPr>
      </p:sp>
      <p:sp>
        <p:nvSpPr>
          <p:cNvPr id="11" name="Text 9"/>
          <p:cNvSpPr/>
          <p:nvPr/>
        </p:nvSpPr>
        <p:spPr>
          <a:xfrm>
            <a:off x="4791456" y="1700784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LoRA（Low-Rank Adaptation）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给权重加低秩旁路矩阵，只训旁路，产物是小 adapter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4023360" cy="585216"/>
          </a:xfrm>
          <a:prstGeom prst="roundRect">
            <a:avLst>
              <a:gd name="adj" fmla="val 7813"/>
            </a:avLst>
          </a:prstGeom>
          <a:solidFill>
            <a:srgbClr val="F2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" y="2340864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QLoRA，Quantized LoRA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底座量化到 4-bit 再训 LoRA，单张消费卡也能微调大模型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304288"/>
            <a:ext cx="4023360" cy="585216"/>
          </a:xfrm>
          <a:prstGeom prst="roundRect">
            <a:avLst>
              <a:gd name="adj" fmla="val 7813"/>
            </a:avLst>
          </a:prstGeom>
          <a:solidFill>
            <a:srgbClr val="F2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4791456" y="2340864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监督微调（SFT，Supervised Fine-Tuning）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拿「输入→期望输出」示范样本教模型模仿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944368"/>
            <a:ext cx="4023360" cy="585216"/>
          </a:xfrm>
          <a:prstGeom prst="roundRect">
            <a:avLst>
              <a:gd name="adj" fmla="val 7813"/>
            </a:avLst>
          </a:prstGeom>
          <a:solidFill>
            <a:srgbClr val="F2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" y="2980944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偏好对齐（Preference Alignment）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用「好答案 vs 差答案」教模型分寸感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944368"/>
            <a:ext cx="4023360" cy="585216"/>
          </a:xfrm>
          <a:prstGeom prst="roundRect">
            <a:avLst>
              <a:gd name="adj" fmla="val 7813"/>
            </a:avLst>
          </a:prstGeom>
          <a:solidFill>
            <a:srgbClr val="F2F6F8"/>
          </a:solidFill>
          <a:ln/>
        </p:spPr>
      </p:sp>
      <p:sp>
        <p:nvSpPr>
          <p:cNvPr id="19" name="Text 17"/>
          <p:cNvSpPr/>
          <p:nvPr/>
        </p:nvSpPr>
        <p:spPr>
          <a:xfrm>
            <a:off x="4791456" y="2980944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DPO（Direct Preference Optimization）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直接在偏好对上优化，跳过奖励模型，成本接近 SFT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584448"/>
            <a:ext cx="4023360" cy="585216"/>
          </a:xfrm>
          <a:prstGeom prst="roundRect">
            <a:avLst>
              <a:gd name="adj" fmla="val 7813"/>
            </a:avLst>
          </a:prstGeom>
          <a:solidFill>
            <a:srgbClr val="F2F6F8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" y="3621024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RFT（Reinforcement Fine-Tuning）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用可验证的打分器当奖励信号做强化式微调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584448"/>
            <a:ext cx="4023360" cy="585216"/>
          </a:xfrm>
          <a:prstGeom prst="roundRect">
            <a:avLst>
              <a:gd name="adj" fmla="val 7813"/>
            </a:avLst>
          </a:prstGeom>
          <a:solidFill>
            <a:srgbClr val="F2F6F8"/>
          </a:solidFill>
          <a:ln/>
        </p:spPr>
      </p:sp>
      <p:sp>
        <p:nvSpPr>
          <p:cNvPr id="23" name="Text 21"/>
          <p:cNvSpPr/>
          <p:nvPr/>
        </p:nvSpPr>
        <p:spPr>
          <a:xfrm>
            <a:off x="4791456" y="3621024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聊天模板（Chat Template）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把多轮对话拼成模型认识的 token 序列的格式约定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224528"/>
            <a:ext cx="4023360" cy="585216"/>
          </a:xfrm>
          <a:prstGeom prst="roundRect">
            <a:avLst>
              <a:gd name="adj" fmla="val 7813"/>
            </a:avLst>
          </a:prstGeom>
          <a:solidFill>
            <a:srgbClr val="F2F6F8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" y="4261104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灾难性遗忘（Catastrophic Forgetting）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学了新任务、丢了通用能力的微调风险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4224528"/>
            <a:ext cx="4023360" cy="585216"/>
          </a:xfrm>
          <a:prstGeom prst="roundRect">
            <a:avLst>
              <a:gd name="adj" fmla="val 7813"/>
            </a:avLst>
          </a:prstGeom>
          <a:solidFill>
            <a:srgbClr val="F2F6F8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4261104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蒸馏（Distillation）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大模型当老师产出教学数据，小模型当学生模仿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术语对照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0B2540"/>
          </a:solidFill>
          <a:ln w="12700">
            <a:solidFill>
              <a:srgbClr val="9F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344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什么时候该微调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578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(and When Not) to Fine-tune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微调不是「让模型变强」的万能键，而是定制手段光谱里成本居中的一档。这一章先把光谱摆出来，再给你一条最重要的分界线——知识问题找 RAG，行为问题才找微调——最后算一笔成本收益账。售前先会「劝退」，方案才有说服力。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 · 学习目标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179576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微调（Fine-tuning）到底改了什么：改模型本身，不是改提示词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929384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定制手段光谱：提示词 → RAG → 微调 → 继续预训练，各档的成本与生效速度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624328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569464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「知识 vs 行为」分界线：什么问题该 RAG、什么问题该微调、两者怎么组合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19272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64408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什么时候不该微调：四条反向清单，帮客户省钱也帮自己赢信任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014216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959352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成本收益账怎么算：为什么微调是「高频场景的规模生意」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 · 微调是什么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微调：把要求「内化」进模型本身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微调（Fine-tuning）：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在已预训练的模型上，用少量领域数据继续训练，让模型的默认行为向你的任务偏移。它改的是「模型本身」（权重），而提示词和 RAG 改的都只是「喂给模型的内容」。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招人视角：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预训练模型 = 名校毕业生（通识很强）；微调 = 入职培训（教会公司话术与规范）；RAG（Retrieval-Augmented Generation） = 发工作手册（随查随用、天天可更新）；从头预训练 = 从小学开始培养——绝大多数企业只需要「培训」，不需要「养人」。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客服机器人：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要求固定话术、品牌语气、严格 JSON 输出——提示词写满三页仍不稳定。用 2,000 条优质对话做 SFT 后，格式合规率从八成拉到接近全对，提示词砍回几行，每次调用还省了几百个 token。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 = 把「每次都要在提示词里交代的要求」内化成模型的默认习惯。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 · 五类价值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微调能兑现的五类价值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格式合规：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严格 JSON / 工单模板 / 报告结构，微调后合规率能到 99%+，不再靠提示词祈祷。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86171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6171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815998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语气与人设：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品牌口吻、拒答边界、行业分寸——写进权重比写进提示词稳定得多。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89581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89581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543861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领域行话：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内部术语、缩写、编码规范，让模型「张口就是行内人」。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317443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17443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271723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规模化降本降延迟：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微调后的小模型顶替大模型 + 砍掉长提示词——高频场景每天百万次调用，省的是真金白银。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04530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4530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98448" y="3999586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蒸馏：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frontier 模型的能力「教」给自己可控的小模型，效果、成本、私有化三者兼得（第 3 章展开）。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 · 反向清单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什么时候别微调：四条劝退清单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知识频繁更新：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价格、库存、政策这类天天变的东西，微调「背」进去第二天就过期——用 RAG。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86171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6171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815998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样本攒不够：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连几十条高质量示范都拿不出来，先用提示词 + few-shot 顶着，同时开始积累数据。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89581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89581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543861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需求还在天天变：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行为定义没稳定，微调的「训练-验收」周期跟不上改需求的速度——先用提示词快速迭代。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317443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17443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271723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只是想「更聪明」：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微调不加智商。推理、数学、复杂规划不行，换更强的底座，别硬调。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04530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4530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98448" y="3999586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售前心法：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把这四条反着问客户一遍。会劝退的售前，比什么都推微调的售前更容易赢单。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 · 成本收益账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成本收益账：微调是高频场景的规模生意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账怎么列：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一次性成本 = 数据整理 + 训练算力 + 评估验收（数据是大头）；每次调用的收益 = 更短的提示词 token + 更小的模型 + 更低的延迟。调用量 × 单次收益 &gt; 一次性成本，才值得做。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正例：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客服场景日均 100 万次调用，微调后每次省约 800 个提示词 token、且从大杯换到小杯模型——按 API 价一算，几周就收回训练投入。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反例：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内部工具日均 1,000 次调用，省下的 token 钱一年不够付一次数据标注——这种低频场景用提示词 + RAG 就好。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微调是「高频窄任务」的规模生意；量小、任务杂的场景，光谱左边两档更划算。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 · 动手做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5029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拿三个真实需求练判断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需求①「模型不知道我们最新的价格表」——选：提示词 / RAG / 微调 / 换底座？写下理由。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89738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973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85166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需求②「输出必须严格符合我们内部工单 JSON 格式，现在十次里错两次」——同上。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51460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需求③「希望它数学推理更强，能算复杂分期方案」——同上。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22326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232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17754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对照本章「知识 vs 行为」分界线检查：①是知识问题（RAG），②是行为问题（微调），③是能力问题（换更强底座）。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DF4E7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06908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1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先分类再开方：每个需求先问「这是知识、行为，还是能力问题？」——分类对了，处方几乎不会错。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 · 客户会怎么问（面试题）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Q：微调能让模型学会我们公司的知识吗？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A：能记住一部分，但这是最贵、最难更新的记知识方式。知识建议交给 RAG（可更新、可溯源），微调留给语气与格式；生产里两者常组合——微调管行为，RAG 管事实。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8105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Q：我们数据不多，能微调吗？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A：窄任务几百条优质样本就能见效（官方口径 50–10,000 条，窄分类 200–500 条）。不够就先 few-shot 顶着，同时开始积累——数据资产早晚用得上。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542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Q：微调会不会把模型调笨？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A：有「灾难性遗忘」风险，但用 LoRA、保守的学习率和轮数、加一套通用回归测试就可控。我们的方案里验收门禁是标配（第 7 章有清单）。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2735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Q：微调和 RAG 哪个便宜？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A：起步 RAG 便宜——不训模型。但高频场景算长期总账：微调换来更短提示词和更小模型，每次调用都在省钱，量大时反而更省。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0050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Q：GPT、Claude 这些闭源模型你们能微调吗？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A：OpenAI 开放 SFT/DPO/RFT 托管微调；Claude 目前只在 Amazon Bedrock 上开放 Haiku 微调；开源模型自由度最大。第 6 章有一张全景表，按事实说话。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 · 本章小结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本章要点收拢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430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微调改的是模型本身（权重），把「每次都要交代的要求」内化成默认行为。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65376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64792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定制光谱：提示词 → RAG → 微调 → 继续预训练；左边没榨干不动右边。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86584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分界线：知识问题 RAG，行为问题微调，能力问题换底座；组合是常态。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08376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四条劝退清单先过一遍——会劝退的方案更可信。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730752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30168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微调是高频窄任务的规模生意：调用量 × 单次收益 &gt; 一次性成本才立项。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2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1605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串联：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「微调 vs RAG」在 RAG 模块第 1 章有应用侧视角；训练原理深读见 LLM-Training 第 4 章。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0B2540"/>
          </a:solidFill>
          <a:ln w="12700">
            <a:solidFill>
              <a:srgbClr val="9F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344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微调方法谱系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578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Fine-tuning, LoRA &amp; QLoRA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决定要微调之后，第二个问题是「怎么调」：全参微调效果上限高但要集群；LoRA 用不到 1% 的可训参数拿到接近的效果；QLoRA 更是把大模型微调塞进一张消费级显卡。这一章把方法谱系、显存账和取舍讲透——这是给客户报方案、报价格的技术底气。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 · 学习目标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179576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全参微调为什么贵：显存 ≈ 参数量 × 16 字节的账怎么来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929384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的原理与超参：r、alpha、target modules 各控制什么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624328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569464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为什么能单卡微调大模型：4-bit 底座 + 分页优化器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19272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64408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显存账速查表：7B / 14B / 70B 各方法要多少卡，张口就能报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014216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959352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「学得少也忘得少」：LoRA 与全参的实证取舍，什么时候必须全参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 · 全参微调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全参微调：整本书重新编辑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全参微调（Full Fine-Tuning）：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解冻全部权重继续训练。可塑性最强、效果上限最高；但训练显存 ≈ 权重 + 梯度 + 优化器状态 + 主权重，合计约参数量 × 16 字节（bf16 + Adam 口径）。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整本书重编：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每一页都可能改，需要整个编辑部同时开工（多卡集群）；改好了是全面升级，改坏了是毁版——风险与能力同样大。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算一笔账：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模型全参微调 ≈ 7B × 16 字节 ≈ 112GB，训练态还要加激活值——上多张 A100/H100 才跑得动。这就是「为什么不是人人全参」的答案。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适用边界：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行为要大改、要深度灌注领域能力、且有集群和防遗忘手段时才优先考虑；多数企业场景从 LoRA 起步。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 · LoRA 超参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超参实务：先跑通，再精调</a:t>
            </a:r>
            <a:endParaRPr lang="en-US" sz="2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438912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超参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常用范围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怎么选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r（秩）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– 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任务越复杂、数据越多可越大；先从 16 起步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lora_alpha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常取 r 的 1–2 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控制旁路的影响力，跟 r 联动调，别单独乱动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target_modules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四件套起步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q/k/v/o 投影是标配；加上 MLP（Multi-Layer Perceptron，多层感知机） 层（all-linear）更稳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学习率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 – 2e-4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比全参大一档；loss 不降调大、震荡调小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小数据宁少勿多——多了就是背题（过拟合）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4281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428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98448" y="419709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记不住就用标准配方：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r=16、alpha=32、挂 all-linear、学习率 2e-4、2 个 epoch——先跑通拿到基线，再按验收结果动个别旋钮。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 · QLoRA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QLoRA：压缩底座，便利贴照贴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把冻结的底座量化成 4-bit（NF4 格式）装进显存，计算时按需反量化，LoRA 旁路照常用 16-bit 训练；再配分页优化器（Paged Optimizer）防显存尖峰 OOM（Out of Memory）。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压缩影印：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书太厚背包装不下——把原书压缩影印（4-bit 底座），便利贴（LoRA）照贴不误。读起来清晰度略降，但内容一页不少。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门槛断崖式下降：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全参要 100+GB；QLoRA 只要 6–8GB，一张 RTX 4090（24GB）绰绰有余，70B 也能塞进一张 48GB 专业卡。「单卡微调大模型」的标题党，技术底细就是它。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适用判断：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没有大集群时的第一选择。量化会带来轻微质量损失，验收时对比一下 LoRA 基线即可，多数任务感知不到。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 · 显存账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显存账速查：客户问「要几张卡」时用</a:t>
            </a:r>
            <a:endParaRPr lang="en-US" sz="2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2286000"/>
                <a:gridCol w="20116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模型规模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全参微调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LoRA（16-bit 底座）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QLoRA（4-bit 底座）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7–8B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~110GB（多卡）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~18–20GB（单卡）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~6–8GB（笔记本级）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13–14B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~220GB（多卡）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~35GB（单张专业卡）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~10–12GB（单卡）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 级（多机）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~160GB（多卡）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~40–48GB（单张 48G 卡）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4281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428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口径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98448" y="419709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心算规则：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全参 ≈ 参数量 × 16 字节；QLoRA 底座 ≈ 参数量 × 0.5 字节再加少量训练开销。是数量级估算，随序列长度、批大小浮动——给客户先讲量级，精确数留给 POC（Proof of Concept）。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 · LoRA vs 全参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学得少，也忘得少：LoRA 与全参的取舍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实证结论（Databricks，arXiv 2405.09673）：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同等预算下，LoRA 学新领域不如全参彻底（learns less）；但对底座通用能力的破坏也小得多（forgets less）——正则化效果甚至优于常规手段。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便利贴不伤原书：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重编整本书（全参）能改得更彻底，但手一抖就把好内容改没了；便利贴（LoRA）改动有限，可原书永远完好。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代码领域续训实验：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全参在目标任务上分数更高，但通用 benchmark 掉得也多；LoRA 两头都稳。行为类微调的差距很小，深度知识灌注的差距才明显。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决策口径：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行为定制、多任务共存 → LoRA 先行；要把大量新知识「灌」进模型 → 才考虑全参 + 防遗忘措施（混通用数据、回归门禁）。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 · 变体一页通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变体一页通：都还是「冻结底座 + 小旁路」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DoRA（Weight-Decomposed LoRA）：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把权重更新拆成「方向 + 幅度」两部分分别学，低秩旁路的行为更接近全参微调，低 r 下常比 LoRA 稳一点。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AdaLoRA / 动态秩一族：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训练过程中把秩预算动态分配给更重要的层——自动版的「哪页该多贴几张便利贴」。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怎么看待这些变体：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思路全是「冻结底座 + 训小旁路」，会 LoRA 就都看得懂。论文层出不穷，生产默认仍是 LoRA/QLoRA——变体留作调优阶段的备选，不是起点。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售前姿势：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客户问「你们用的是最新的 XX-LoRA 吗」——答：起点用最稳的标准 LoRA，验收不达标时才引入变体，为效果负责而不是为名词负责。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 · 动手做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5029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给三个场景选方法、算显存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场景①：创业公司只有一张 RTX 4090，想微调 8B 客服模型——选方法，估显存。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89738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973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85166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场景②：企业有 8×H100，想把 70B 模型深度灌注行业语料——全参还是 LoRA？写出取舍理由。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51460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场景③：一个底座要同时服务 5 个部门、各自话术——用什么形态交付？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22326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232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17754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对照答案：① QLoRA（6–8GB，单卡富余）；② 想彻底灌注选全参但要防遗忘，预算紧就 LoRA 折中；③ 一个底座 + 5 个 LoRA adapter（第 7 章展开部署）。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DF4E7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06908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1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报显存时先报量级再报区间——「单卡能跑」和「要上集群」之间的鸿沟，才是客户真正关心的。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 · 客户会怎么问（面试题）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Q：LoRA 效果比全参差多少？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A：行为类任务（语气、格式）通常接近；要把大量新知识灌进模型时差距才明显。实证结论是「学得少、也忘得少」——多数企业场景 LoRA 性价比更高，我们默认从它起步。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8105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Q：为什么你们说一张卡就能微调 70B？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A：QLoRA：底座压成 4-bit 只读，训练的旁路参数不到 1%，显存从 TB 级降到 48GB 以内。轻微量化损失会在验收环节和基线对比，多数任务感知不到。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542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Q：r 要设多大？是不是要大量炼丹？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A：先用标准配方（r=16、alpha=32、2 epoch）跑通拿基线，再按验收结果调。微调的超参敏感度远低于预训练，不需要大规模搜参——预算应该花在数据上。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2735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Q：微调完交付物是什么、怎么管理？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A：LoRA 产物是几十 MB 的 adapter 文件：底座共享、按业务线各挂各的，版本管理像插件一样，回滚是秒级操作。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0050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Q：我们该为微调采购多少 GPU？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A：先定方法再谈卡：QLoRA 单卡、LoRA 单机、全参才要集群。而且训练是一次性负载，云上按需 GPU 更划算——别为偶发的训练任务常备集群。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 · 本章小结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本章要点收拢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430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全参微调：显存 ≈ 参数量 × 16 字节，上限高、成本与遗忘风险也高。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65376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64792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LoRA：冻结底座 + 低秩旁路，&lt;1% 可训参数、几十 MB 产物，生产默认起点。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86584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QLoRA：4-bit 底座 + 分页优化器，单卡微调大模型的技术底细。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08376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显存心算：全参 ×16 字节；QLoRA ×0.5 字节——先报量级，再谈精确。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730752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30168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取舍：LoRA 学得少也忘得少；深度灌注才全参，且必须配防遗忘门禁。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2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1605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串联：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SFT/对齐的训练原理见 LLM-Training 第 4/5 章；本模块只管「拿自己数据落地」这一段。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0B2540"/>
          </a:solidFill>
          <a:ln w="12700">
            <a:solidFill>
              <a:srgbClr val="9F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344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数据准备：微调成败在此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578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Where Fine-tuning Succeeds or Fails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项目九成的翻车不在训练，而在数据：格式拼错、样本太脏、量级误判。这一章讲数据的四件事——格式怎么摆、量级怎么估、质量怎么保、不够怎么造（合成与蒸馏）——最后补上售前必须会答的数据治理三问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 · 学习目标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179576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训练样本长什么样：messages 格式与聊天模板（Chat Template）为什么错不得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929384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数据量级怎么估：50–10,000 条的官方口径与「先小步验证」的节奏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624328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569464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为什么质量 &gt; 数量：LIMA 的结论怎么用到自己项目上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19272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64408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数据不够怎么造：合成数据流水线与蒸馏的标准玩法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014216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959352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数据治理三问：隐私、权属、出域——答不好技术再好也进不了采购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 · 数据格式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训练样本长这样：messages + JSONL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95044"/>
          </a:xfrm>
          <a:prstGeom prst="roundRect">
            <a:avLst>
              <a:gd name="adj" fmla="val 3670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07008"/>
            <a:ext cx="7818120" cy="1275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train.jsonl —— 每行一条样本（此处展开便于阅读）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{"messages": [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"system",    "content": "你是XX银行的客服助手，回答限50字内，术语用行内规范。"},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"user",      "content": "怎么查我上个月的账单？"},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"assistant", "content": "您好，登录手机银行 App，点「账单」→「月账单」即可查看…"}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]}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训练时由聊天模板（Chat Template）拼成模型真正吃的 token 序列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74777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7477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98448" y="2702052"/>
            <a:ext cx="7388352" cy="60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格式即协议：  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 = system/user/assistant 的 messages 数组，JSONL 每行一条；聊天模板负责把它拼成 token 序列——模板错 = 训了个寂寞。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40766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07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98448" y="3361944"/>
            <a:ext cx="7388352" cy="60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经典事故：  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训练用 A 家模板、推理用 B 家模板，效果「神秘变差」——永远用框架自带的对应模型模板，别手拼字符串。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0675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0675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98448" y="4021836"/>
            <a:ext cx="7388352" cy="60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便宜的保障：  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格式统一 + 模板正确 + 每条过一遍 schema 校验，是整个项目里性价比最高的质量投资。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 · 数据量级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要多少条：先小步跑通，再逐步加码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口径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官方数字：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Anthropic（Bedrock 微调指引）：50–10,000 条，窄分类 200–500 条常见效；OpenAI 建议先用 50–100 条看有没有信号。这些数字客户会拿来对表，要记熟。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教任务不是教人生：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教人打招呼不用一万遍示范，教人当律师才要海量案例——任务越窄、行为越明确，需要的样本越少。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两个量级参照：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意图分类 300 条精标注即可上线；开放域写作助手要几千到上万条。先 100 条微调一版看验收指标，有信号再加数据——曲线会告诉你边际收益。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节奏：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数据是逐步投资，不是一次凑齐。「先小后大」既降风险，也让报价有依据。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 · 质量优先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质量 &gt; 数量：LIMA 的一千条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LIMA（Meta）：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仅用 1,000 条精挑细选的样本做 SFT，对话质量逼近大流程对齐的模型。解释：能力早在预训练里学会了，微调只是「唤醒」特定格式与风格——所以样本贵在准，不在多。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教礼仪：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关键不是重复一万遍，而是每次示范都标准。错误示范教十遍，学到的就是错的十遍。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实务清单：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去重、修正错误答案、统一风格口径、删掉模型本来就会的简单样本。经验：100 条脏数据的伤害，大于 1,000 条好数据的收益。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预算分配：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数据预算优先花在「清洗与精选」上，而不是「爬更多」。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 · 合成数据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数据不够怎么造：合成数据流水线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56816" cy="1143000"/>
          </a:xfrm>
          <a:prstGeom prst="roundRect">
            <a:avLst>
              <a:gd name="adj" fmla="val 6400"/>
            </a:avLst>
          </a:prstGeom>
          <a:solidFill>
            <a:srgbClr val="F2F6F8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85216" y="1316736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种子样本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人工写 50–200 条，覆盖边界情况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377440" y="157276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FB3C0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78608" y="1188720"/>
            <a:ext cx="1956816" cy="1143000"/>
          </a:xfrm>
          <a:prstGeom prst="roundRect">
            <a:avLst>
              <a:gd name="adj" fmla="val 6400"/>
            </a:avLst>
          </a:prstGeom>
          <a:solidFill>
            <a:srgbClr val="0E4D64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06624" y="1316736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扩展生成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模型，Self-Instruct 式扩量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98848" y="157276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FB3C0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0016" y="1188720"/>
            <a:ext cx="1956816" cy="1143000"/>
          </a:xfrm>
          <a:prstGeom prst="roundRect">
            <a:avLst>
              <a:gd name="adj" fmla="val 6400"/>
            </a:avLst>
          </a:prstGeom>
          <a:solidFill>
            <a:srgbClr val="0E4D64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28032" y="1316736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judge 过滤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LLM（Large Language Model） 按标准打分，留下合格样本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20256" y="157276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FB3C0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21424" y="1188720"/>
            <a:ext cx="1956816" cy="1143000"/>
          </a:xfrm>
          <a:prstGeom prst="roundRect">
            <a:avLst>
              <a:gd name="adj" fmla="val 6400"/>
            </a:avLst>
          </a:prstGeom>
          <a:solidFill>
            <a:srgbClr val="F2F6F8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1316736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训练集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语料，/ DPO 偏好对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62432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243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98448" y="2578608"/>
            <a:ext cx="7388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常见配方：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条人工种子 → 教师模型扩到数万 → judge 按「正确性/风格/安全」过滤 → 留下几万条质量行，直接训开源底座。人的时间花在种子与标准上，量让大模型去堆。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8269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8269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98448" y="3236976"/>
            <a:ext cx="7388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合规红线：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A 家模型的产出训练模型，要看 A 家服务条款对「产出用于训练」的约定——售前被问到必须答得出处。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4106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410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98448" y="3895344"/>
            <a:ext cx="7388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合成数据已是 2026 年微调数据的主流来源；人负责「标准」，模型负责「产量」。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 · 蒸馏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蒸馏：大模型当老师，小模型当学生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蒸馏（Distillation）：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让大模型（教师）批量产出高质量问答——推理任务连「思考过程」一起输出成（输入, 推理轨迹, 输出）三元组——再用这些数据微调小模型（学生）。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特级教师写详解：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让名师把解题过程写成详解，学生对着详解练——比只对答案学得快得多，还能把「名师」请回家（模型私有化）。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格局：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 蒸馏系、Qwen 蒸馏系小模型批量涌现；云厂商把它做成了托管功能——Azure 蒸馏已 GA（GPT-4o 教师 → Phi-4 学生）。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售前故事线：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「frontier 效果 + 小模型成本 + 权重可私有」——讲降本与私有化，蒸馏是主角。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 · 数据治理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数据治理三问：采购会上必被问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隐私与 PII（Personally Identifiable Information）：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模型可能把训练样本「背」出来——训练前必须做 PII（个人敏感信息）清洗与脱敏，这是刚性前置步骤，不是可选项。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权属与条款：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客户数据用于训练要有明确授权；用第三方模型产出的数据训练，要核对其服务条款——方案书里写清数据来源与依据。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数据出域：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托管微调 = 训练数据交给平台。金融、政务常卡这条——提前备好 VPC 内训练 / 本地自建的替代路径。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治理三问答不好，技术方案再漂亮也过不了采购与风控——这页比超参更值得背熟。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 · 动手做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5029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从零造一份训练集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从你的业务里挑一个窄任务（如工单摘要），人工写 20 条种子样本，刻意覆盖 3 种边界情况。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89738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973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85166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用大模型把种子扩展成 100 条候选样本（提示词里给出风格与格式要求）。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51460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 3 条 judge 过滤标准（正确性 / 风格一致 / 安全合规），让另一个模型逐条打分筛选。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22326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232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17754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人工抽检 20 条通过样本：估计流水线的「合格率」，不合格的总结成新的过滤标准。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DF4E7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06908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1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种子的价值在覆盖度：正常案例三成、边界与困难案例七成——模型缺的是后者的示范。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 · 客户会怎么问（面试题）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Q：我们要准备多少数据？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A：窄任务几百条优质样本就见效，官方口径 50–10,000 条。建议先 100 条跑通看验收信号，有效再加码——数据是逐步投资，我们会带着你们小步走。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8105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Q：数据不够怎么办？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A：合成数据是 2026 年的主流做法：你们出种子样本和质量标准，大模型负责扩量，judge 模型过滤，人工抽检把关。人力花在刀刃上。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542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Q：微调会不会泄露我们的数据？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A：模型可能记住训练样本，所以训练前做 PII 清洗是标配；托管微调看平台数据条款（主流平台承诺不用于训练基础模型），敏感行业可选 VPC 或本地训练。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2735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Q：用 GPT 生成的数据训我们的模型，合规吗？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A：取决于所用模型的服务条款——各家对「产出能否用于训练」约定不同。方案里我们会写明数据来源与条款依据，这是我们的标准动作。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0050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Q：标注要雇多少人？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A：尽量少人标：种子人工写、扩量交给模型、验收抽检人工做。全人工标注在 2026 年已是少数场景——预算换个花法，效果更好。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 · 本章小结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本章要点收拢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430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格式即协议：messages + JSONL + 正确的聊天模板，模板错 = 全错。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65376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64792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量级：50–10,000 条口径；先 100 条看信号，逐步加码。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86584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 &gt; 数量：LIMA 一千条的启示——预算花在清洗与精选。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08376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不够就造：种子 → 扩展 → judge 过滤 → 训练集；蒸馏 = 名师写详解。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730752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30168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治理三问（隐私 / 权属 / 出域）是方案书标配，答不好进不了采购。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2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1605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串联：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合成数据也用于 LLM-Training 讲的预训练/后训练语料生产（其第 2 章）；蒸馏在第 6 章还会以云托管功能出现。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0B2540"/>
          </a:solidFill>
          <a:ln w="12700">
            <a:solidFill>
              <a:srgbClr val="9F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344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训练实操与框架图鉴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578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in Practice: Frameworks &amp; Monitoring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数据备好，这一章把训练跑起来：四大开源框架怎么选、一次真实训练的代码长什么样、loss 曲线怎么看、九成事故来自哪四个坑。结论先说：框架功能已趋同，选型别耗时间——复杂度在数据和验收里，不在代码里。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 · 学习目标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179576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四大框架（Unsloth / LLaMA-Factory / Axolotl / TRL）各自的定位与适用场景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929384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 LoRA 微调的真实代码：核心就十来行，门槛在哪里、不在哪里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624328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569464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曲线怎么看：train 与 eval 的分工，过拟合的信号与动作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19272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64408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微调九成事故的四大坑：学习率、epoch、模板、停止符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014216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959352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怎么答客户的「训练要多久多少钱」：量级与结构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 · 框架图鉴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框架图鉴：功能趋同，差异在工作流</a:t>
            </a:r>
            <a:endParaRPr lang="en-US" sz="23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2834640"/>
                <a:gridCol w="2286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框架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★（2026-07）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一句话定位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适合谁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Unsloth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~54K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单卡速度王：自研 Triton kernel，快 2×、省 70% 显存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单卡 / Colab 起步、快速实验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LLaMA-Factory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UI 全家桶（LlamaBoard），零代码可跑全流程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想点鼠标训练的团队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Axolotl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YAML 配置驱动，FSDP/DeepSpeed 开箱即用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多卡生产、要可复现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 Face 官方库：SFT/DPO/GRPO/KTO 原语（KTO 于 v1.8 转正）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要底层控制、自己写流程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4281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428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口径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98448" y="419709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年格局：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LoRA/QLoRA/全参/DPO/GRPO（Group Relative Policy Optimization） 四家全都支持——功能已趋同，差异只在配置方式、调试体验和分布式能力。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 · 选型决策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选型决策：一分钟定框架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单卡实验 / Colab 起步 →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Unsloth：同一张卡能塞下更大模型、跑得更快，免费笔记本生态最全。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86171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6171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815998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不想写代码 →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LLaMA-Factory：浏览器里点配置、看曲线，交付给非算法团队也能维护。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89581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89581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543861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多卡生产、要可复现 →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Axolotl：一份 YAML 就是一次实验的完整记录，FSDP/DeepSpeed 原生支持。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317443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17443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271723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深度定制训练逻辑 →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TRL：官方原语最全，自己组流水线；Mac 本地玩则看 MLX。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04530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4530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98448" y="3999586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别耗在选型上：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选哪个都能到终点。团队熟悉哪个就用哪个，一周内跑通第一版比「选最优框架」重要得多。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 · 代码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一次 LoRA 微调长什么样（TRL）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171700"/>
          </a:xfrm>
          <a:prstGeom prst="roundRect">
            <a:avLst>
              <a:gd name="adj" fmla="val 2526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07008"/>
            <a:ext cx="7818120" cy="195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trl import SFTTrainer, SFTConfig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peft import LoraConfig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= SFTTrainer(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model="Qwen/Qwen3-8B",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train_dataset=ds,                      # 第 3 章的 JSONL（messages 格式）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peft_config=LoraConfig(r=16, lora_alpha=32, target_modules="all-linear"),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args=SFTConfig(num_train_epochs=2, learning_rate=2e-4,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per_device_train_batch_size=4),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trainer.train()                            # 产物：几十 MB 的 LoRA adapter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342442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4244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98448" y="3378708"/>
            <a:ext cx="7388352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代码不是门槛：  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核心就这十来行——模型名、数据集、LoRA 配置、训练参数。框架把模板、分布式、checkpoint 全包了。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407593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07593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98448" y="4030218"/>
            <a:ext cx="7388352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复杂度守恒：  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省下来的代码复杂度，都转移到了数据质量与验收标准上——那才是项目的真正工作量。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 · 常见坑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九成事故来自这四个坑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学习率过大：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剧烈震荡甚至 NaN（飞了）——降一个数量级重跑；LoRA 常用 1e-4 – 2e-4。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86171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6171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815998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epoch 过多：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小数据集上转十几轮 = 背题。1–3 个 epoch 起步，靠 eval 曲线止损。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89581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89581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543861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模板不匹配：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训练与推理的聊天模板不一致，症状是「效果神秘变差」且无报错——最阴险的一类，永远用框架自带模板。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317443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17443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271723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停止符缺失：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样本没带 EOS（结束符）或 label mask 配错——生成停不下来、答案后面拖垃圾。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04530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4530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98448" y="3999586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排查顺序：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效果不对先查这四条，再怀疑数据，最后才怀疑方法——顺序反了会浪费一周。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 · 动手做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5029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免费微调你的第一个模型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 Unsloth 官方 Colab 笔记本（免费 GPU 即可），选一个 4B 级小模型。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89738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973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85166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把数据换成第 3 章动手做产出的 100 条样本，确认模板由框架自动处理。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51460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 1–2 个 epoch，观察 train/eval loss；截图曲线，标注你判断的最佳停点。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22326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232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17754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 5 个训练集里没有的问题，人工对比微调前后的输出——这就是你的第一份验收报告。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DF4E7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06908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1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显存不够就把 batch size 减半或换更小底座；跑通闭环比模型大小重要——这套流程放大 10 倍就是生产流程。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 · 客户会怎么问（面试题）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Q：训练要多久、多少钱？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A：LoRA 级：几百到几千条数据、单卡几小时，云上按需 GPU 几十到几百美元量级。真正的大头在数据准备与评估的人力，算力反而是零头——报价结构我们会拆开给您看。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8105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Q：我们一定要买 GPU 吗？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A：不必。托管微调平台或云上按需 GPU 都行；训练是一次性负载，为它常备集群通常不划算。推理侧的算力才需要按业务量规划（见推理服务方案）。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542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Q：你们用什么框架，为什么？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A：按场景选：单卡实验 Unsloth、多卡生产 Axolotl、要界面 LLaMA-Factory、深度定制 TRL。四家功能已趋同，我们更看重可复现性与运维成本。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2735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Q：训练失败或效果不好怎么办？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A：有标准诊断路径：先查四大坑（学习率/epoch/模板/停止符），再查数据质量；每个 checkpoint 都保留，可随时回滚——失败的成本是可控的。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0050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Q：训练过程我们能看到什么？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A：loss 曲线实时可见，且我们会按约定的检查点做中间抽样评估——您看到的不是黑盒，是带曲线和样例的进度报告。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 · 本章小结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本章要点收拢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430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框架功能已趋同：Unsloth 单卡快、LLaMA-Factory 有 UI、Axolotl 产线稳、TRL 最可控。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65376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64792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代码只有十来行；复杂度守恒——都在数据与验收里。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86584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盯 eval 不盯 train：验证集是标配，checkpoint 按 eval 曲线选。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08376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四大坑（学习率/epoch/模板/停止符）覆盖九成事故，按顺序排查。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730752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30168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成本结构：算力是零头，数据与评估的人力是大头——报价要拆给客户看。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2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1605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串联：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训练基础设施的大账（集群、并行策略）见 LLM-Training 第 7 章——微调用不到那个量级，但客户可能会问。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0B2540"/>
          </a:solidFill>
          <a:ln w="12700">
            <a:solidFill>
              <a:srgbClr val="9F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344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偏好对齐落地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578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Preference Alignment: DPO &amp; RFT in Practice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教会模型「照示范做」，但示范写不出「分寸感」——哪个回答更得体、什么时候该拒答。这一章讲对齐在企业项目里的落地：DPO 拿偏好对纠偏、RFT 拿可验证的分数练尖刀任务，以及最重要的——什么时候根本不需要走到这一步。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 · 学习目标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179576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的天花板在哪：为什么「示范」教不会「分寸」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929384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怎么落地：偏好对（chosen/rejected）从哪来、多少条起效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624328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569464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RFT/GRPO 是什么：可验证奖励 + 可编程 grader，适合哪类任务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19272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64408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决策表：症状 → 处方，什么时候 SFT 就够、什么时候才上对齐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014216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959352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怎么答客户「RLHF 是不是很贵」：对齐平民化的 2026 现状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 · SFT 的天花板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SFT 的天花板：示范教不会分寸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模仿的局限：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只会「照示范做」，表达不了「这两个都通顺，但左边更好」。有用性、简洁度、拒答边界这类「分寸感」，需要偏好信号（好/差对比）才能教。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教科书 vs 批改：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范文（SFT）能教会写作文，教不会「哪篇更打动人」——那需要老师对着两篇作文打分批改（偏好对齐）。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典型症状：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客服模型 SFT 后格式全对，但过度道歉、车轱辘话——你写不出「完美示范」，却一眼能挑出「哪个更好」。这正是该上 DPO 的信号。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51606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分工提示：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对齐的原理（奖励模型、RLHF（Reinforcement Learning from Human Feedback）、RLVR）在 LLM-Training 第 5/6 章讲过；本章只讲企业项目里的落地选择。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 · DPO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DPO：拿「好坏对」直接纠偏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87552"/>
          </a:xfrm>
          <a:prstGeom prst="roundRect">
            <a:avLst>
              <a:gd name="adj" fmla="val 5556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07008"/>
            <a:ext cx="7818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偏好对数据：prompt + 更好的回答（chosen）+ 更差的回答（rejected）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{"prompt":   "客户问：手续费能不能免？",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"chosen":   "您好，您当前的套餐每月可免 3 笔跨行手续费，本月还剩 2 笔…",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"rejected": "非常抱歉给您带来不便，手续费问题我们深表歉意，实在抱歉…"}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402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98448" y="2194560"/>
            <a:ext cx="7388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DPO（Direct Preference Optimization）：  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直接在偏好对上优化，跳过「训练奖励模型 + 强化学习」的传统 RLHF 大流程——成本接近再跑一次 SFT。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98448" y="2907792"/>
            <a:ext cx="7388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偏好对哪里来：  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线上 A/B 的用户选择、专家人工挑选、大模型 judge 合成三条路，通常混用；几百到几千对就能开工。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66674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6667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98448" y="3621024"/>
            <a:ext cx="7388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定位：  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之后「味道不对」的首选修正手段；OpenAI 托管微调与四大开源框架都直接支持。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 · RFT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RFT：结果可判分的任务，对着分数练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RFT（Reinforcement Fine-Tuning）：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不给标准答案，而是给一个「打分器（grader）」——模型每次作答都被打分，朝高分方向强化。OpenAI 用可编程 grader + o4-mini 提供托管 RFT；开源侧主力算法是 GRPO。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评委选菜 vs 考试判卷：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是「评委在两盘菜里选一盘」；RFT 是「考试有标准判卷」——凡是结果能机器判对错的任务，判卷比评委更高效。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适用任务：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代码生成（跑单元测试当 grader）、医疗编码、法律条款抽取、复杂分类——奖励清晰的窄任务，几十到几百条样本就能显著提升。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门槛：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成败在「写不写得出靠谱 grader」。判分规则含糊、能被钻空子（reward hacking），就退回 DPO/SFT。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 · 决策表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症状 → 处方：什么时候走到哪一步</a:t>
            </a:r>
            <a:endParaRPr lang="en-US" sz="23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828800"/>
                <a:gridCol w="32918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症状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处方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为什么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格式、语气、话术不对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SFT 就够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行为示范写得出来，模仿就能解决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会答但分寸差（啰嗦/过度拒答）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SFT + DPO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完美示范难写，好坏对比容易挑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结果可机器判分（代码/抽取/分类）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RFT / GRPO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有客观分数，强化比模仿上限高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通用能力不足（推理/数学弱）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换底座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微调不加智商，别硬调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4281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428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98448" y="419709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现实比例：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多数企业项目止步于 SFT（+ 少量 DPO 纠偏）；RFT 是尖刀任务的利器，不是标配——别让客户以为每个项目都要走全流程。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 · 动手做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5029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亲手构造一批偏好对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从第 4 章微调产物里挑 30 个真实回答，每个配上你认为「更好」的版本，人工标成 30 对 chosen/rejected。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89738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973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85166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写一份 judge 提示词（评什么、怎么算好），让大模型对同一批 30 对独立标注。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51460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算人工与 judge 的一致率：≥80% 说明标准清晰，可以放心让 judge 扩量到几千对。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22326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232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17754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一致率低就回头改标准描述——标准写不清，扩出来的量全是噪声。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DF4E7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06908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1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「先小批人工、再对齐 judge、最后放量」是偏好数据生产的标准三步——顺序不能省。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 · 客户会怎么问（面试题）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Q：SFT 和 DPO 我们都要做吗？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A：先 SFT 看验收——八成场景到此为止。上线后如果「会答但分寸不对」（啰嗦、过度拒答），再补一轮 DPO，偏好数据可以直接从线上反馈里攒。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8105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Q：RLHF 要训奖励模型，是不是特别贵？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A：传统 RLHF 是；但现在 DPO 跳过奖励模型、成本接近 SFT，RFT 也由平台托管——2026 年对齐已经平民化，不再是大厂专属。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542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Q：RFT 适合我们的场景吗？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A：问一句就知道：你们任务的结果能不能机器判分？能（代码过测试、抽取对错、分类命中）就适合；不能量化就用 DPO——我们会先帮您做这个判断。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2735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Q：偏好数据从哪来？要标多少？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A：三个来源：线上用户选择、专家标注、大模型 judge 合成，通常混用。几百对就能开工，先小批对齐标准再放量。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0050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Q：对齐会不会把模型调得太保守、啥都不敢答？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A：过度拒答确实是对齐失败的常见形态。所以偏好数据里要有「该答就答」的正例，验收指标里我们会同时盯拒答率和有用性，两头都设门禁。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</a:t>
            </a:r>
            <a:endParaRPr lang="en-US" sz="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 · 本章小结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本章要点收拢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430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教「照做」，偏好对齐教「分寸」——示范写不出的，用好坏对比教。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65376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64792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DPO：偏好对直接优化，成本接近 SFT，是「味道不对」的首选纠偏。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86584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RFT/GRPO：结果可判分的窄任务用分数练，门槛是写得出靠谱 grader。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08376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决策表先行：多数项目 SFT 就够，对齐是补刀不是标配。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730752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30168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对齐已平民化——「RLHF 很贵」是 2023 年的旧闻，别让客户带着旧地图。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2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1605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串联：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RLHF/RLVR 的原理与算法脉络见 LLM-Training 第 5/6 章；推理模型的训练侧故事也在那里。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0B2540"/>
          </a:solidFill>
          <a:ln w="12700">
            <a:solidFill>
              <a:srgbClr val="9F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344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托管微调服务与上云落地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578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Fine-tuning &amp; Cloud Landing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自己训还是交给平台？闭源模型能不能调、在哪调？这一章把 2026 年的托管微调格局摆成几张表：OpenAI 的三种方法、Claude 的唯一路径、三大云的能力对照，以及微调项目从数据到部署在云上的完整落位——售前的「平台事实库」，按表作答不出错。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 · 学习目标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179576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 vs 托管怎么选：三个问题问出答案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929384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微调 API 的三种方法与可调模型（2026-07 事实）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624328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569464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「能微调 Claude 吗」的标准答案：Bedrock + Haiku + SFT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19272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64408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三大云（Vertex / Azure / AWS）微调能力对照与选型逻辑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014216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959352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微调项目各环节在云上怎么落位：从数据到部署的服务地图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</a:t>
            </a:r>
            <a:endParaRPr lang="en-US" sz="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 · 自建 vs 托管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自建还是托管：三问定方向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数据能不能出域？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不能（金融/政务/医疗）→ 自建或 VPC 内训练；能 → 托管路径全部打开。这是第一道分水岭。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有没有 GPU 和会炼丹的人？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都没有 → 托管（平台管训练与部署，你只管数据）；有 → 自建换来自由度与长期成本优势。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要多深的定制？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 SFT/DPO → 托管完全够；要换底座、改训练流程、全参深度灌注 → 自建开源路线。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售前姿势：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先问这三句再打开方案库——托管省心、自建自由，混合（托管试点 + 自建放量）也常见。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</a:t>
            </a:r>
            <a:endParaRPr lang="en-US" sz="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 · OpenAI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 微调 API：三种方法并存</a:t>
            </a:r>
            <a:endParaRPr lang="en-US" sz="23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2743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适用场景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可微调模型（2026-07）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SFT（监督微调）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有标准示范可模仿：格式、语气、领域话术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 / GPT-4.1-mini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DPO（偏好优化）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写不出完美答案，但能比出好坏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 / GPT-4.1-mini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RFT（强化微调）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结果可验证 + 写得出 grader 的尖刀任务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o4-mini（推理模型）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4281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428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口径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98448" y="419709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使用形态：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传数据、平台训练与托管、按 token 计价；微调后的模型权重不交付，通过专属模型 ID 调用——「模型不落地」是客户要提前知道的事实。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 · Claude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「能微调 Claude 吗」：标准答案一页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口径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事实（2026-07）：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不在自家 API 开放微调；唯一托管路径是 Amazon Bedrock 上的 Claude 3 Haiku SFT（us-west-2 区域）。更大杯型、DPO 均未开放。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数据口径：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官方建议 50–10,000 条样本，窄分类 200–500 条见效；微调产物仍托管在 Bedrock 内调用，权重不交付。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误区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常见误解：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「所有模型都能随便微调」——闭源模型能不能调、在哪调、调到什么程度，是方案第一步要查证的平台事实，答错会在评审会上翻车。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标准话术：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「能，Bedrock 上、Haiku、SFT；超出这个范围目前答案是不能——但多数语气/格式需求，Haiku 微调 + 强提示词已经够用。」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</a:t>
            </a:r>
            <a:endParaRPr lang="en-US" sz="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 · 三大云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三大云微调能力对照（2026-07）</a:t>
            </a:r>
            <a:endParaRPr lang="en-US" sz="23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2743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微调能力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特色一句话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Vertex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全家 + 开源模型；全参 / LoRA / adapter 最灵活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微调-存储-鉴权-部署一体化最顺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AI Foundry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系模型微调最全；蒸馏已 GA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 教师 → Phi-4 学生的托管蒸馏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Bedrock + SageMaker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托管微调（含 Claude Haiku）；深度定制走 SageMaker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多模型货架 + 自由度兜底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4281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428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98448" y="419709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选型逻辑：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客户已经在哪朵云上、数据在哪，通常比「哪家微调功能强一点」更决定选型——微调只是整张云账单里的一小项。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</a:t>
            </a:r>
            <a:endParaRPr lang="en-US" sz="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 · 落地地图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上云落地地图：每个环节用什么</a:t>
            </a:r>
            <a:endParaRPr lang="en-US" sz="23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749040"/>
                <a:gridCol w="274320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环节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云上落位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备注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数据准备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对象存储 + 数据处理服务（清洗/去重/PII 脱敏）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治理三问在这一步解决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训练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托管微调 API；或按需 GPU 集群 + 自管框架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4 章的框架跑在这里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模型管理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模型注册表（版本、审批、血缘）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adapter 按业务线归档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托管推理端点；开源自部署走 vLLM 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 adapter 服务见第 7 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监控迭代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日志 + 评估流水线，bad case 回流数据集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7 章的闭环落在这里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4281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51606E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428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98448" y="419709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与推理模块衔接：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部署与监控两行的深水区（量化、批处理、SLO、压测）在 LLM-Inference 模块整册展开。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</a:t>
            </a:r>
            <a:endParaRPr lang="en-US" sz="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 · 动手做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5029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给一个真实约束写方案骨架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场景：金融客服，数据不能出境，日均 50 万次调用，要求品牌话术统一。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89738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973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85166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按「三问」定路径：数据不出域 → 本地/VPC 训练开源模型（QLoRA），排除跨境托管。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51460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写一页方案骨架：底座选型（开源 8B 级）、训练路径、数据合规动作、部署形态（adapter）、回滚方案。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22326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232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17754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给这页方案标注三处「客户最可能挑战的点」，各准备一句应答。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DF4E7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06908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1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方案骨架的说服力来自「约束→结论」的推导链，不是功能堆砌——评审会上被挑战的永远是推导，不是名词。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</a:t>
            </a:r>
            <a:endParaRPr lang="en-US" sz="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 · 客户会怎么问（面试题）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Q：托管微调，我们的数据安全吗？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A：主流平台承诺客户微调数据不用于训练基础模型，支持加密与租户隔离；如果行业要求数据不出域，我们直接切 VPC 内自建训练路径——两套方案都是现成的。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8105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Q：微调后的模型归谁？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A：托管闭源模型：您获得专属访问权，权重不交付；开源自训：权重完全归您。这条会写进合同——很多客户到验收才想起来问，我们提前讲清。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542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Q：直接用 OpenAI 微调就行，为什么找你们？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A：单点微调谁都能做；我们比的是整条链路——数据合规、多模型选择（闭源+开源）、与您现有云资产的集成、部署运维与迭代闭环。微调只是链路上的一环。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2735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Q：以后想换云、换模型，微调成果能带走吗？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A：开源路线：adapter 与数据全可迁移。托管闭源路线：模型绑平台，但数据集和评估体系可带走——锁定风险我们会在方案里明示，这也是很多客户混合布局的原因。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0050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Q：第一个试点项目怎么选？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A：选高频、窄边界、易验收的任务（工单分类、摘要、话术合规），托管路径两周出第一版；小切口最快证明价值，再谈扩展。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</a:t>
            </a:r>
            <a:endParaRPr lang="en-US" sz="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 · 本章小结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本章要点收拢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430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三问定方向：数据出域？有人有卡？定制多深？——先问再开方案库。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65376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64792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OpenAI：SFT/DPO 调 GPT-4.1 系，RFT 调 o4-mini；模型不落地。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86584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Claude：只有 Bedrock + Haiku + SFT 一条托管路径，别口头承诺更多。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08376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三大云对照：Vertex 最灵活、Azure 蒸馏 GA、AWS 货架+SageMaker 兜底。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730752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30168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云上落地五环节：数据→训练→注册→部署→监控，微调只是链路一环。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2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1605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串联：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推理部署的深水区（vLLM、量化、SLO）见 LLM-Inference 模块；蒸馏的数据侧原理在本册第 3 章。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</a:t>
            </a:r>
            <a:endParaRPr lang="en-US" sz="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0B2540"/>
          </a:solidFill>
          <a:ln w="12700">
            <a:solidFill>
              <a:srgbClr val="9F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344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评估与部署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578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Evaluation, Deployment &amp; the Iteration Loop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训练结束不等于项目结束：怎么证明微调「成了」？通用能力有没有被调掉？adapter 怎么上线、怎么灰度回滚？这一章给出验收四层、防遗忘门禁、部署两形态和迭代闭环——微调项目真正卖的是这个闭环，不是一次训练。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 · 学习目标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179576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验收四层：held-out 指标、任务硬指标、LLM judge、线上 A/B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929384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灾难性遗忘怎么防：回归测试门禁的搭法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624328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569464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部署两形态：合并权重 vs adapter 热插拔，多租户怎么省显存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19272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64408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迭代闭环：bad case 回流 → 再训 → 回归验收的飞轮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014216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959352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怎么答客户「怎么证明有效 / 会不会退化 / 怎么回滚」三连问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</a:t>
            </a:r>
            <a:endParaRPr lang="en-US" sz="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 · 验收四层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怎么知道微调成了：验收四层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四层验收：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held-out 测试集指标（绝不用训练数据考试）→ ② 任务硬指标（JSON 合规率、意图准确率）→ ③ LLM judge 评分（风格、有用性等主观维度）→ ④ 线上 A/B（真实流量说话）。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期末考 + 实习期：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是期末考（没见过的题），A/B 是实习表现（真实工作）；拿刷过的题自证成绩，谁都不会认。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验收单示例：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合规率 ≥ 99%、意图准确率 ≥ 92%、judge 评分不低于基线模型、通用回归不降——训练开始前就跟客户签下这几个数。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顺序不能反：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先定验收标准，再开始训练——先有考卷，再补课。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</a:t>
            </a:r>
            <a:endParaRPr lang="en-US" sz="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 · 深潜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四类实验失真：高分不等于可信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四类失真：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数据泄漏（测试集异常高分 → 实体/时间切分 + 近重复扫描，留 split 报告）；随机性挑 run（结果波动大 → 多 seed 多 trial，报均值方差）；Judge 偏差（单分数虚高 → 人工校准 + 多证据）；指标替代目标（loss 好业务差 → 任务结果 + 安全性能一起看）。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最常见的坑：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训练集和测试集混进了同一批工单的改写版——近重复没扫，测试分虚高十个点，上线当天现原形；冻结切分哈希后重测，提升只剩一半。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51606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与验收四层衔接：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上一页的验收四层管「测什么」，这一页管「别骗自己」——任何提升都要说明：相对哪个冻结基线、在哪些切片、不确定性多大、换来多少成本与副作用。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口诀：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先冻结基线与切分，再谈提升；多跑几个 seed，报区间不报单点；判官打的分要有人工抽检兜底。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</a:t>
            </a:r>
            <a:endParaRPr lang="en-US" sz="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 · 防遗忘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灾难性遗忘：微调的安全带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偏科风险：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目标任务涨分、通用能力掉分。防线四件套：用 LoRA（天然温和）、低学习率少 epoch、训练集混入少量通用数据、上线前跑通用回归测试集。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集训的代价：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三个月只练竞赛题，正常作业反而不会写了——所以集训期每周还得做一套常规卷（回归测试），掉太多就调整训练计划。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上线门禁：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双达标才放行：目标任务过验收线 + 通用回归套件（常识问答、安全拒答、多轮对话抽样）不低于基线的 98%。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成本极低：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一套几百题的回归集，跑一次几分钟——微调项目性价比最高的保险。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</a:t>
            </a:r>
            <a:endParaRPr lang="en-US" sz="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 · 深潜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adapter 上线：五层发布控制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五层：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产物层（base 版本 + adapter 哈希 + tokenizer 模板 + 许可证）→ 转换层（合并/量化/格式导出，做数值回归）→ 服务层（引擎版本 + GPU 镜像 + 缓存与最大秩 + 健康检查）→ 流量层（租户路由 + 影子/金丝雀 + 限流 + 兜底）→ 治理层（登记 + 签名 + 审计 + 回滚/急停）。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翻车样本：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只登记了 adapter 哈希没锁 base 版本——底座升级后同一个 adapter 行为漂移，查了三天。正确做法：把 base+adapter+模板+引擎+镜像作为一个组合发布号，切流、观测、回滚都围绕它执行。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51606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与部署两形态衔接：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上一页讲「合并 vs 挂 adapter」怎么选；这一页讲选完之后，发布链上每一层都要能独立验证失败、都要能追溯到同一个发布号。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给客户一句话：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微调交付的不是一个文件，是一条五层可回滚的发布链——报价里的「运营费」，买的就是这条链。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</a:t>
            </a:r>
            <a:endParaRPr lang="en-US" sz="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 · 迭代闭环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迭代闭环：微调不是一锤子买卖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飞轮：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上线 → 收集 bad case 与用户反馈 → 归因（数据缺口还是行为漂移）→ 修数据/补样本 → 再训 → 回归验收 → 灰度发布。每一圈都走同一套门禁。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转正不是终点：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新员工入职培训（首次微调）后还有季度复盘、纠偏、再培训——没人指望一次培训管三年。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节奏参考：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首月周迭代（问题密集期），稳定后月迭代或按 bad case 阈值触发；每次迭代产出版本化的 adapter + 验收报告。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售前定位：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卖微调项目实际卖的是这个闭环的运营能力——一次性交付的微调，半年后一定劣化成新的痛点。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</a:t>
            </a:r>
            <a:endParaRPr lang="en-US" sz="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 · 动手做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5029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为你的微调产物设计验收清单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为第 4 章动手做的模型写 10 条 held-out 测试样本（不许来自训练集，覆盖 3 种边界情况）。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89738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973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85166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 2 个硬指标并给出门槛值（如格式合规率 ≥95%、关键信息命中率 ≥90%）。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51460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 5 道通用题（常识/安全拒答/多轮）做迷你回归套件，记录基线模型分数。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22326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232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17754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写出上线条件与回滚条件各一句话——什么情况发布、什么情况一键切回旧版本。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DF4E7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06908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1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验收清单在训练前写好并让「客户」签字——这个顺序本身就是你方案专业度的证明。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</a:t>
            </a:r>
            <a:endParaRPr lang="en-US" sz="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 · 客户会怎么问（面试题）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Q：怎么证明微调真的有效？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A：事前签验收：held-out 指标 + 任务硬指标 + judge 评分 + 通用回归，四项打包成报告交付。绝不拿训练数据自证——这是我们的验收纪律。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8105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Q：微调后模型的通用能力会退化吗？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A：有风险但可控：LoRA + 保守超参 + 上线前通用回归门禁，掉超过阈值就不放行。您拿到的每个版本都带着回归报告。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542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Q：模型多久要重训一次？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A：行为类微调相对稳定；知识更新交给 RAG 天天走。通常按季度看漂移、bad case 积累到阈值才迭代——不是越频繁越好，每次迭代都有验收成本。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2735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Q：怎么灰度？出问题怎么回滚？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A：adapter 部署天然支持：新旧 adapter 并存、按流量比例灰度、秒级切回。合并权重方案则走标准的模型版本管理。回滚方案会写进上线手册。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0050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Q：效果不达标怎么办？责任怎么算？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A：有标准诊断路径：先数据（质量/覆盖）→ 再超参（四大坑）→ 再方法（SFT 升 DPO）→ 最后换底座。合同按验收指标分期付款，风险共担。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</a:t>
            </a:r>
            <a:endParaRPr lang="en-US" sz="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 · 本章小结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本章要点收拢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430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验收四层：held-out → 硬指标 → judge → A/B；考卷先于补课。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65376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64792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防遗忘四件套 + 通用回归门禁：双达标才放行，成本极低的保险。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86584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部署两形态：多租户用 adapter 热插拔（vLLM 多 LoRA），单任务可合并权重。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08376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迭代闭环才是交付物：bad case 回流 → 再训 → 回归 → 灰度，圈圈有门禁。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730752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30168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客户三连问（有效？退化？回滚？）每问都有标准答案——这页背熟。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2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1605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串联：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评估这条线与 RAG 检索评估、Agent 评估、LLM-Training 模型评估并列，等未来 Evaluation 模块收编成总纲。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</a:t>
            </a:r>
            <a:endParaRPr lang="en-US" sz="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0B2540"/>
          </a:solidFill>
          <a:ln w="12700">
            <a:solidFill>
              <a:srgbClr val="9F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344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售前速查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578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Guide: Decisions, Costs &amp; Misconceptions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最后一章不讲新知识，只做武器化整理：一张决策树、一张成本心算表、一张误区总表、一张全库串联图，外加六道综合面试题——见客户前翻这一章，五分钟完成战前检查。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 · 决策树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一张图定方案：从抱怨到处方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F2F6F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1155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「效果不好」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88920" y="122529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B3C0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11556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先榨干提示词与 few-shot —— 免费、当天见效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F2F6F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8288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模型「不知道」？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88920" y="19385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B3C0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182880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知识问题 → RAG：可更新、可溯源、按用户隔离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0E4D64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54203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模型「不听话」？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88920" y="2651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B3C0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254203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行为问题 → SFT（LoRA 起步）：格式、语气、话术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55264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0E4D64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2552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会答但「分寸差」？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88920" y="336499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B3C0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3255264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纠偏；结果可机器判分的尖刀任务 → RFT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68496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F2F6F8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96849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还是不行？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788920" y="407822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B3C0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3968496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能力问题 → 换更强底座，微调不加智商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</a:t>
            </a:r>
            <a:endParaRPr lang="en-US" sz="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 · 成本心算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成本心算模板：报价的结构</a:t>
            </a:r>
            <a:endParaRPr lang="en-US" sz="23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成本项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量级参考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备注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数据准备（最大头）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人天为单位：种子撰写 + 清洗 + 抽检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合成流水线可把人力砍到抽检为主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训练算力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QLoRA 单卡数小时：几十~几百美元级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托管平台按训练 token 计价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评估验收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测试集构建 + judge 调用 + 人工评审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一次投入，迭代复用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部署增量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adapter 近零增量；托管端点按量付费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多租户共享底座是省钱关键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迭代运营（隐性）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case 归因 + 周期性再训的长期人力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常被漏报——却是项目成败项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4281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428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98448" y="419709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报价话术：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「算力是零头，数据与运营才是大头」——把结构拆给客户看，既显专业又管理了预期。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</a:t>
            </a:r>
            <a:endParaRPr lang="en-US" sz="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 · 误区总表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客户误区总表：一句话纠正</a:t>
            </a:r>
            <a:endParaRPr lang="en-US" sz="230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常见误区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一句话纠正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「微调 = 让模型学会我们的知识」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知识用 RAG（可更新可溯源）；微调管行为，两者常组合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「数据越多越好」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质量优先：LIMA 证明千条精选可胜万条粗料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「微调会让模型更聪明」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智商来自底座；能力不足换模型，别硬调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「什么模型都能微调」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闭源各有开放范围（如 Claude 仅 Bedrock+Haiku），先查再承诺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「微调一次就完事」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是持续闭环：bad case 回流、季度迭代、回归门禁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「微调很贵，要大集群」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QLoRA 单卡起步；大头在数据人力，不在卡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4281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428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98448" y="419709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用法：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评审会 80% 的质疑都在这张表里——每行的「纠正」就是当场应答的第一句话。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</a:t>
            </a:r>
            <a:endParaRPr lang="en-US" sz="8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 · 全库串联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本模块在知识库里的位置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56816" cy="1051560"/>
          </a:xfrm>
          <a:prstGeom prst="roundRect">
            <a:avLst>
              <a:gd name="adj" fmla="val 6957"/>
            </a:avLst>
          </a:prstGeom>
          <a:solidFill>
            <a:srgbClr val="0E4D64"/>
          </a:solidFill>
          <a:ln/>
        </p:spPr>
      </p:sp>
      <p:sp>
        <p:nvSpPr>
          <p:cNvPr id="5" name="Text 3"/>
          <p:cNvSpPr/>
          <p:nvPr/>
        </p:nvSpPr>
        <p:spPr>
          <a:xfrm>
            <a:off x="585216" y="1298448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发动机舱：Transformer 与注意力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77440" y="1536192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FB3C0"/>
                </a:solidFill>
              </a:rPr>
              <a:t>→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78608" y="1188720"/>
            <a:ext cx="1956816" cy="1051560"/>
          </a:xfrm>
          <a:prstGeom prst="roundRect">
            <a:avLst>
              <a:gd name="adj" fmla="val 695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2706624" y="1298448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LLM-Training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造模型：预训练与后训练原理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98848" y="1536192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FB3C0"/>
                </a:solidFill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00016" y="1188720"/>
            <a:ext cx="1956816" cy="1051560"/>
          </a:xfrm>
          <a:prstGeom prst="roundRect">
            <a:avLst>
              <a:gd name="adj" fmla="val 695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1298448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DF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定制模型：本讲义（工程实践）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0256" y="1536192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FB3C0"/>
                </a:solidFill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21424" y="1188720"/>
            <a:ext cx="1956816" cy="1051560"/>
          </a:xfrm>
          <a:prstGeom prst="roundRect">
            <a:avLst>
              <a:gd name="adj" fmla="val 6957"/>
            </a:avLst>
          </a:prstGeom>
          <a:solidFill>
            <a:srgbClr val="0E4D64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298448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跑模型：推理服务与优化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53288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51606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328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98448" y="2487168"/>
            <a:ext cx="7388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RAG 模块：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「知识 vs 行为」的两侧——RAG 管知识外挂，微调管行为内化；组合是生产常态（本册第 1 章 ↔ RAG 第 1 章）。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51606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461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98448" y="3200400"/>
            <a:ext cx="7388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LLM-Training：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那边讲「模型厂怎么炼」的原理（SFT/对齐/RLVR，Reinforcement Learning with Verifiable Rewards），这边讲「拿自己数据定制」的工程；原理不懂时回那册补课。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5935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51606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593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98448" y="3913632"/>
            <a:ext cx="7388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LLM-Inference / Agent：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微调产物经 adapter 部署进推理服务（第 7 章）；Agent 的工具调用能力也可用微调强化——四条评估线共同等待 Evaluation 模块收编。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</a:t>
            </a:r>
            <a:endParaRPr lang="en-US" sz="8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 · 客户会怎么问（面试题）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综合面试题：见客户前的五分钟检查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Q：30 秒说清：提示词、RAG、微调怎么选？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A：先分类：模型「不知道」是知识问题上 RAG；「不听话」是行为问题上微调；「不够聪明」换底座。顺序永远是提示词 → RAG → 微调，左边没榨干不动右边。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688592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Q：要多少数据、多少钱、多久见效？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A：窄任务几百条优质样本、单卡几小时、两周出第一版可验收的模型。大头是数据人力不是算力——先小试点再放量。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298192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Q：会不会把模型调坏？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A：用 LoRA + 保守超参 + 通用回归门禁三层保险；每个版本双达标（目标任务 + 通用能力）才放行，且随时可秒级回滚。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907792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Q：GPT / Claude / 开源，微调路径分别是什么？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A：OpenAI：SFT/DPO 调 GPT-4.1 系、RFT 调 o4-mini；Claude：仅 Bedrock 上 Haiku SFT；开源：自由度最大，QLoRA 单卡起步。按事实表作答，不口头加码。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517392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Q：数据安全怎么保证？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A：训练前 PII 清洗；托管路径看平台条款（不用于训练基础模型）；不出域需求切 VPC/本地方案。治理三问我们都有标准动作。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4126992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Q：为什么选你们，而不是我们自己调？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A：微调本身不难，难在链路：数据流水线、验收体系、防遗忘门禁、部署与迭代运营。我们交付的是这套能力，不是一次训练。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</a:t>
            </a:r>
            <a:endParaRPr lang="en-US" sz="8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全书小结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527048"/>
            <a:ext cx="146304" cy="146304"/>
          </a:xfrm>
          <a:prstGeom prst="rect">
            <a:avLst/>
          </a:prstGeom>
          <a:solidFill>
            <a:srgbClr val="C87B2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417320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一条主线：该不该调（第 1 章）→ 怎么调（第 2 章）→ 数据（第 3 章）→ 训练（第 4 章）→ 对齐（第 5 章）→ 上云（第 6 章）→ 验收部署（第 7 章）。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304288"/>
            <a:ext cx="146304" cy="146304"/>
          </a:xfrm>
          <a:prstGeom prst="rect">
            <a:avLst/>
          </a:prstGeom>
          <a:solidFill>
            <a:srgbClr val="C87B2E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94560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三句心法：知识找 RAG、行为找微调、能力换底座；质量大于数量；考卷先于补课。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3081528"/>
            <a:ext cx="146304" cy="146304"/>
          </a:xfrm>
          <a:prstGeom prst="rect">
            <a:avLst/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971800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一个定位：微调是高频窄任务的规模生意，卖的是闭环运营能力，不是一次训练。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0E4D6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97764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接下来读什么：</a:t>
            </a: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本模块《电子书书单》按售前场景排了优先级（Unsloth 指南与 OpenAI 官方指南先读）；原理补课去 LLM-Training，部署深水区去 LLM-Inference。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84632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 · 2026-07-09</a:t>
            </a:r>
            <a:endParaRPr lang="en-US" sz="8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生产验收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527048"/>
            <a:ext cx="146304" cy="146304"/>
          </a:xfrm>
          <a:prstGeom prst="rect">
            <a:avLst/>
          </a:prstGeom>
          <a:solidFill>
            <a:srgbClr val="C87B2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417320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五个验收域，各交各的证据：① 数据——dataset 卡、权利与 PII 清洗、切分去重（来源不清、测试泄漏、无法删除＝拒绝上线）；② 训练——run 清单、seed 与版本、checkpoint、失败记录（不可复现＝拒绝）；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304288"/>
            <a:ext cx="146304" cy="146304"/>
          </a:xfrm>
          <a:prstGeom prst="rect">
            <a:avLst/>
          </a:prstGeom>
          <a:solidFill>
            <a:srgbClr val="C87B2E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94560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质量安全——冻结集、分片、多 trial、人工校准、红队与拒答（关键切片退化或越权＝拒绝）；④ 服务——组合发布号、压测、隔离、金丝雀、回滚（路由串租户、SLO 不达标＝拒绝）；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3081528"/>
            <a:ext cx="146304" cy="146304"/>
          </a:xfrm>
          <a:prstGeom prst="rect">
            <a:avLst/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971800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运营成本——TCO（Total Cost of Ownership）、监控、升级节奏、责任人（成本无归属、无回滚负责人＝拒绝）。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0E4D6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97764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终极判断：</a:t>
            </a: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净增益可复现、关键风险受控、组合发布可回滚、长期责任有人扛——四条都点头，微调才算「成了」；差一条，就还在实验室。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84632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 · 2026-07-13</a:t>
            </a:r>
            <a:endParaRPr lang="en-US" sz="8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0045"/>
            <a:ext cx="8138160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B2A4A"/>
                </a:solidFill>
                <a:latin typeface="Cambria"/>
                <a:ea typeface="Cambria"/>
              </a:rPr>
              <a:t>附 · 与 Prompt Engineering 的关系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31570"/>
            <a:ext cx="813816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A6473"/>
                </a:solidFill>
                <a:latin typeface="Calibri"/>
                <a:ea typeface="Calibri"/>
              </a:rPr>
              <a:t>「何时微调」的上游，是「提示词到头了没」。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51660"/>
            <a:ext cx="8138160" cy="216027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188720" cy="385762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承上启下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97467"/>
            <a:ext cx="7772400" cy="13373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本模块第 1 章的选型判断，前置是提示词工程：先把提示词 + RAG 试到头，仍不够（要固定风格 / 能力，或想把长提示词压缩进权重来降本）才上微调。二者是同一条选型链的两端——Prompt Engineering 第 1 章从「最便宜的杠杆」这头讲起，本模块从「最后一步」那头收口。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71975"/>
            <a:ext cx="8138160" cy="462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2B6CB0"/>
                </a:solidFill>
                <a:latin typeface="Calibri"/>
                <a:ea typeface="Calibri"/>
              </a:rPr>
              <a:t>↔ 回指：Prompt Engineering《是什么 / 为什么 · 选型边界》pe#pe-what-why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1 章 · 定制光谱  CUSTOMIZATION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定制手段光谱：一级一级往上爬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梯子原则——从左往右逐级升级，左边一档没榨干之前不动右边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3209544"/>
            <a:ext cx="1933956" cy="9601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19" y="3291840"/>
            <a:ext cx="1659636" cy="8366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1. 提示词工程</a:t>
            </a:r>
          </a:p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分钟级 · 零训练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改说法、给示例，立即生效；上限是上下文窗口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23743" y="2798064"/>
            <a:ext cx="1933956" cy="9601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60904" y="2880360"/>
            <a:ext cx="1659636" cy="8366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2. RAG</a:t>
            </a:r>
          </a:p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小时级 · 建索引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知识外挂：可溯源、随时更新；不改模型行为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67428" y="2386583"/>
            <a:ext cx="1933956" cy="96012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4588" y="2468879"/>
            <a:ext cx="1659636" cy="8366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1" i="0">
                <a:solidFill>
                  <a:srgbClr val="993C1D"/>
                </a:solidFill>
                <a:latin typeface="Calibri"/>
                <a:ea typeface="Calibri"/>
              </a:rPr>
              <a:t>3. 微调</a:t>
            </a:r>
          </a:p>
          <a:p>
            <a:pPr algn="l"/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天级 · 要数据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行为内化：语气、格式、领域习惯；改的是权重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11111" y="1975104"/>
            <a:ext cx="1933956" cy="960120"/>
          </a:xfrm>
          <a:prstGeom prst="roundRect">
            <a:avLst>
              <a:gd name="adj" fmla="val 4000"/>
            </a:avLst>
          </a:prstGeom>
          <a:solidFill>
            <a:srgbClr val="F3E2D8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1" y="2057400"/>
            <a:ext cx="1659636" cy="8366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1" i="0">
                <a:solidFill>
                  <a:srgbClr val="5A2412"/>
                </a:solidFill>
                <a:latin typeface="Calibri"/>
                <a:ea typeface="Calibri"/>
              </a:rPr>
              <a:t>4. 继续预训练</a:t>
            </a:r>
          </a:p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月级 · 重投入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大规模灌注领域语料，改知识底盘；极少数场景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27731" y="3346704"/>
            <a:ext cx="82296" cy="102870"/>
          </a:xfrm>
          <a:prstGeom prst="line">
            <a:avLst/>
          </a:prstGeom>
          <a:ln w="1524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471416" y="2935224"/>
            <a:ext cx="82296" cy="102869"/>
          </a:xfrm>
          <a:prstGeom prst="line">
            <a:avLst/>
          </a:prstGeom>
          <a:ln w="1524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515100" y="2523743"/>
            <a:ext cx="82296" cy="102871"/>
          </a:xfrm>
          <a:prstGeom prst="line">
            <a:avLst/>
          </a:prstGeom>
          <a:ln w="1524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7190" y="1577340"/>
            <a:ext cx="24688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▲ 成本 / 周期 / 维护 逐级升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7940" y="4491990"/>
            <a:ext cx="24688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51606E"/>
                </a:solidFill>
                <a:latin typeface="Calibri"/>
                <a:ea typeface="Calibri"/>
              </a:rPr>
              <a:t>生效速度逐级降 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217670"/>
            <a:ext cx="5760720" cy="49377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2930" y="4286250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售前口径：</a:t>
            </a:r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客户说「模型不好用」先问卡在哪一档——九成的「要微调」，追问两句会退回提示词或 RAG。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Fine-tuning 讲义 · 微调工程实践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什么时候该微调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1 章 · 知识 vs 行为  THE KEY FORK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最重要的分界线：知识问题，还是行为问题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先分清是「不知道」还是「不听话」——分错了，微调也白搭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69030" y="1611630"/>
            <a:ext cx="1817370" cy="548640"/>
          </a:xfrm>
          <a:prstGeom prst="roundRect">
            <a:avLst>
              <a:gd name="adj" fmla="val 8000"/>
            </a:avLst>
          </a:prstGeom>
          <a:solidFill>
            <a:srgbClr val="0B2540"/>
          </a:solidFill>
          <a:ln w="11906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</a:rPr>
              <a:t>模型的问题是？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" y="2434590"/>
            <a:ext cx="3943350" cy="1405889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510" y="2516886"/>
            <a:ext cx="363474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「不知道」/ 过期 → 知识问题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1510" y="2866643"/>
            <a:ext cx="1165860" cy="45262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</a:rPr>
              <a:t>上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39211"/>
            <a:ext cx="2400300" cy="9258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改数据不改模型 · 可溯源 · 便宜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类比：发最新版「手册」，内容天天可换新。</a:t>
            </a:r>
          </a:p>
          <a:p>
            <a:pPr algn="l"/>
            <a:r>
              <a:rPr sz="850" b="0" i="0">
                <a:solidFill>
                  <a:srgbClr val="993C1D"/>
                </a:solidFill>
                <a:latin typeface="Calibri"/>
                <a:ea typeface="Calibri"/>
              </a:rPr>
              <a:t>例：「答错了产品价格」→ 知识过期。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97730" y="2434590"/>
            <a:ext cx="3943350" cy="1405889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2516886"/>
            <a:ext cx="363474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「不听话」/ 风格不对 → 行为问题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69180" y="2866643"/>
            <a:ext cx="1165860" cy="45262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4A1B0C"/>
                </a:solidFill>
                <a:latin typeface="Calibri"/>
                <a:ea typeface="Calibri"/>
              </a:rPr>
              <a:t>才上微调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7909" y="2839211"/>
            <a:ext cx="2400300" cy="9258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改权重 · 内化语气/格式/习惯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类比：送员工去「培训」，改做事习惯。</a:t>
            </a:r>
          </a:p>
          <a:p>
            <a:pPr algn="l"/>
            <a:r>
              <a:rPr sz="850" b="0" i="0">
                <a:solidFill>
                  <a:srgbClr val="993C1D"/>
                </a:solidFill>
                <a:latin typeface="Calibri"/>
                <a:ea typeface="Calibri"/>
              </a:rPr>
              <a:t>例：「老不按工单 JSON 格式」→ 行为不合规。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400300" y="2160270"/>
            <a:ext cx="1714500" cy="260604"/>
          </a:xfrm>
          <a:prstGeom prst="line">
            <a:avLst/>
          </a:prstGeom>
          <a:ln w="16192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40630" y="2160270"/>
            <a:ext cx="1611630" cy="260604"/>
          </a:xfrm>
          <a:prstGeom prst="line">
            <a:avLst/>
          </a:prstGeom>
          <a:ln w="16192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80060" y="4011930"/>
            <a:ext cx="8181594" cy="672084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87368"/>
            <a:ext cx="7818120" cy="5829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27500A"/>
                </a:solidFill>
                <a:latin typeface="Calibri"/>
                <a:ea typeface="Calibri"/>
              </a:rPr>
              <a:t>生产中常组合：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微调管「风格与格式」，RAG 管「事实与知识」——与 RAG 模块互为镜像，一道选择题两侧收口。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Fine-tuning 讲义 · 微调工程实践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什么时候该微调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2 章 · LoRA 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LoRA：给权重贴便利贴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冻结原权重 W，旁边加一对低秩矩阵 B×A，只训这条旁路——可训参数通常不到 1%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5109210" cy="2057400"/>
          </a:xfrm>
          <a:prstGeom prst="roundRect">
            <a:avLst>
              <a:gd name="adj" fmla="val 4000"/>
            </a:avLst>
          </a:prstGeom>
          <a:solidFill>
            <a:srgbClr val="F7FBFC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" y="1865376"/>
            <a:ext cx="1645920" cy="672084"/>
          </a:xfrm>
          <a:prstGeom prst="roundRect">
            <a:avLst>
              <a:gd name="adj" fmla="val 8000"/>
            </a:avLst>
          </a:prstGeom>
          <a:solidFill>
            <a:srgbClr val="ECECEA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012" b="1" i="0">
                <a:solidFill>
                  <a:srgbClr val="555552"/>
                </a:solidFill>
                <a:latin typeface="Calibri"/>
                <a:ea typeface="Calibri"/>
              </a:rPr>
              <a:t>原权重 W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冻结 frozen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一个字不动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" y="2798064"/>
            <a:ext cx="1645920" cy="672084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4A1B0C"/>
                </a:solidFill>
                <a:latin typeface="Calibri"/>
                <a:ea typeface="Calibri"/>
              </a:rPr>
              <a:t>低秩旁路 B × 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4A1B0C"/>
                </a:solidFill>
                <a:latin typeface="Calibri"/>
                <a:ea typeface="Calibri"/>
              </a:rPr>
              <a:t>秩 r = 8–64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4A1B0C"/>
                </a:solidFill>
                <a:latin typeface="Calibri"/>
                <a:ea typeface="Calibri"/>
              </a:rPr>
              <a:t>只训这条 · &lt;1% 参数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6190" y="2304288"/>
            <a:ext cx="1268730" cy="75438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</a:rPr>
              <a:t>生效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FFFFFF"/>
                </a:solidFill>
                <a:latin typeface="Calibri"/>
                <a:ea typeface="Calibri"/>
              </a:rPr>
              <a:t>W + BA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推理时相加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4590" y="2482596"/>
            <a:ext cx="9601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50" b="1" i="0">
                <a:solidFill>
                  <a:srgbClr val="1A2733"/>
                </a:solidFill>
                <a:latin typeface="Calibri"/>
                <a:ea typeface="Calibri"/>
              </a:rPr>
              <a:t>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6856" y="2249424"/>
            <a:ext cx="1495044" cy="301752"/>
          </a:xfrm>
          <a:prstGeom prst="line">
            <a:avLst/>
          </a:prstGeom>
          <a:ln w="14288">
            <a:solidFill>
              <a:srgbClr val="9FB3C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276856" y="2784347"/>
            <a:ext cx="1495044" cy="301753"/>
          </a:xfrm>
          <a:prstGeom prst="line">
            <a:avLst/>
          </a:prstGeom>
          <a:ln w="1524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571750" y="2057400"/>
            <a:ext cx="1371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冻结·直接并入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1750" y="3086100"/>
            <a:ext cx="1371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993C1D"/>
                </a:solidFill>
                <a:latin typeface="Calibri"/>
                <a:ea typeface="Calibri"/>
              </a:rPr>
              <a:t>训练后相加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59" y="1645920"/>
            <a:ext cx="3038093" cy="2057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95009" y="1735074"/>
            <a:ext cx="2708910" cy="1920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类比 · 便利贴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不重写整本书，只在关键页贴便利贴——原书一字不动，读时把便利贴一起读进去；一套便利贴对应一个任务，可揭下换一套。</a:t>
            </a:r>
          </a:p>
          <a:p>
            <a:pPr algn="l"/>
            <a:r>
              <a:rPr sz="862" b="1" i="0">
                <a:solidFill>
                  <a:srgbClr val="993C1D"/>
                </a:solidFill>
                <a:latin typeface="Calibri"/>
                <a:ea typeface="Calibri"/>
              </a:rPr>
              <a:t>案例：8B 挂 LoRA（r=16）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可训参数约 0.3% · 单卡几小时 · 产物只是几十 MB 的 adapter 文件。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854196"/>
            <a:ext cx="8250174" cy="82296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" y="3936492"/>
            <a:ext cx="7886700" cy="72009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27500A"/>
                </a:solidFill>
                <a:latin typeface="Calibri"/>
                <a:ea typeface="Calibri"/>
              </a:rPr>
              <a:t>默认起点：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生产微调的默认选择——adapter 小、好存好换好回滚，还能多套并存（第 7 章多租户部署就靠它）。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Fine-tuning 讲义 · 微调工程实践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2 章 · 微调方法谱系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2 章 · 微调方法谱系  FULL / LoRA / QLoRA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三种微调对比：显存、效果、遗忘怎么权衡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客户问「要几张卡」，看这张——从整本书重编，到贴便利贴，到压缩影印再贴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2708910" cy="198882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48790"/>
            <a:ext cx="236601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9B2C2C"/>
                </a:solidFill>
                <a:latin typeface="Calibri"/>
                <a:ea typeface="Calibri"/>
              </a:rPr>
              <a:t>1. 全参微调</a:t>
            </a:r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　整本书重编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235708"/>
            <a:ext cx="2324862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51606E"/>
                </a:solidFill>
                <a:latin typeface="Calibri"/>
                <a:ea typeface="Calibri"/>
              </a:rPr>
              <a:t>显存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2263140"/>
            <a:ext cx="1885950" cy="164592"/>
          </a:xfrm>
          <a:prstGeom prst="roundRect">
            <a:avLst>
              <a:gd name="adj" fmla="val 4000"/>
            </a:avLst>
          </a:prstGeom>
          <a:solidFill>
            <a:srgbClr val="993C1D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2468879"/>
            <a:ext cx="232486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≈ 参数 × 16 字节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756915"/>
            <a:ext cx="232486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7B ≈ 112GB · 多卡集群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3099815"/>
            <a:ext cx="2324862" cy="4457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9B2C2C"/>
                </a:solidFill>
                <a:latin typeface="Calibri"/>
                <a:ea typeface="Calibri"/>
              </a:rPr>
              <a:t>效果上限最高，遗忘风险也高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16402" y="1645920"/>
            <a:ext cx="2708910" cy="19888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7852" y="1748790"/>
            <a:ext cx="236601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0E4D64"/>
                </a:solidFill>
                <a:latin typeface="Calibri"/>
                <a:ea typeface="Calibri"/>
              </a:rPr>
              <a:t>2. LoRA</a:t>
            </a:r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　贴便利贴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8426" y="2235708"/>
            <a:ext cx="2324862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51606E"/>
                </a:solidFill>
                <a:latin typeface="Calibri"/>
                <a:ea typeface="Calibri"/>
              </a:rPr>
              <a:t>显存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33622" y="2263140"/>
            <a:ext cx="792099" cy="164592"/>
          </a:xfrm>
          <a:prstGeom prst="roundRect">
            <a:avLst>
              <a:gd name="adj" fmla="val 4000"/>
            </a:avLst>
          </a:prstGeom>
          <a:solidFill>
            <a:srgbClr val="128199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8426" y="2468879"/>
            <a:ext cx="232486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16-bit 底座 + 小旁路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8426" y="2756915"/>
            <a:ext cx="232486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单卡几小时 · adapter 几十 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426" y="3099815"/>
            <a:ext cx="2324862" cy="4457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学得少也忘得少 · 默认起点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21323" y="1645920"/>
            <a:ext cx="2708910" cy="198882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2773" y="1748790"/>
            <a:ext cx="236601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27500A"/>
                </a:solidFill>
                <a:latin typeface="Calibri"/>
                <a:ea typeface="Calibri"/>
              </a:rPr>
              <a:t>3. QLoRA</a:t>
            </a:r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　压缩影印再贴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3347" y="2235708"/>
            <a:ext cx="2324862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51606E"/>
                </a:solidFill>
                <a:latin typeface="Calibri"/>
                <a:ea typeface="Calibri"/>
              </a:rPr>
              <a:t>显存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38544" y="2263140"/>
            <a:ext cx="301752" cy="164592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3347" y="2468879"/>
            <a:ext cx="232486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4-bit 量化 + 分页优化器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3347" y="2756915"/>
            <a:ext cx="232486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7B 只需 6–8GB · 单卡 4090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3347" y="3099815"/>
            <a:ext cx="2324862" cy="4457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轻微质量损失 · 没集群第一选择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3806190"/>
            <a:ext cx="8250174" cy="87096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" y="3888486"/>
            <a:ext cx="7886700" cy="7543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决策口径：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行为定制、多任务共存 → LoRA 先行；要把大量新知识「灌」进模型 → 才考虑全参 + 防遗忘；没有大集群 → QLoRA。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心算规则给客户先讲量级（全参×16 字节、QLoRA×0.5 字节），精确数留给 POC。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Fine-tuning 讲义 · 微调工程实践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2 章 · 微调方法谱系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4 章 · 训练监控  LOSS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盯 eval 不盯 train：loss 曲线怎么看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train loss 下降只说明「在学」；eval loss 同步下降才说明「学到能泛化的东西」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28700" y="1851660"/>
            <a:ext cx="0" cy="1714500"/>
          </a:xfrm>
          <a:prstGeom prst="line">
            <a:avLst/>
          </a:prstGeom>
          <a:ln w="13335">
            <a:solidFill>
              <a:srgbClr val="516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28700" y="3566160"/>
            <a:ext cx="3840480" cy="0"/>
          </a:xfrm>
          <a:prstGeom prst="line">
            <a:avLst/>
          </a:prstGeom>
          <a:ln w="13335">
            <a:solidFill>
              <a:srgbClr val="516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2900" y="1817370"/>
            <a:ext cx="6858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51606E"/>
                </a:solidFill>
                <a:latin typeface="Calibri"/>
                <a:ea typeface="Calibri"/>
              </a:rPr>
              <a:t>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3634740"/>
            <a:ext cx="17830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训练步 / epoch →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05509" y="1988820"/>
            <a:ext cx="614477" cy="411480"/>
          </a:xfrm>
          <a:prstGeom prst="line">
            <a:avLst/>
          </a:prstGeom>
          <a:ln w="2286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19986" y="2400300"/>
            <a:ext cx="691286" cy="377190"/>
          </a:xfrm>
          <a:prstGeom prst="line">
            <a:avLst/>
          </a:prstGeom>
          <a:ln w="2286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411272" y="2777490"/>
            <a:ext cx="691286" cy="274320"/>
          </a:xfrm>
          <a:prstGeom prst="line">
            <a:avLst/>
          </a:prstGeom>
          <a:ln w="2286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102559" y="3051810"/>
            <a:ext cx="691286" cy="171450"/>
          </a:xfrm>
          <a:prstGeom prst="line">
            <a:avLst/>
          </a:prstGeom>
          <a:ln w="2286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793845" y="3223260"/>
            <a:ext cx="691287" cy="102870"/>
          </a:xfrm>
          <a:prstGeom prst="line">
            <a:avLst/>
          </a:prstGeom>
          <a:ln w="2286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485132" y="3326130"/>
            <a:ext cx="345643" cy="51435"/>
          </a:xfrm>
          <a:prstGeom prst="line">
            <a:avLst/>
          </a:prstGeom>
          <a:ln w="2286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05509" y="1937385"/>
            <a:ext cx="614477" cy="394335"/>
          </a:xfrm>
          <a:prstGeom prst="line">
            <a:avLst/>
          </a:prstGeom>
          <a:ln w="2286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719986" y="2331720"/>
            <a:ext cx="691286" cy="342900"/>
          </a:xfrm>
          <a:prstGeom prst="line">
            <a:avLst/>
          </a:prstGeom>
          <a:ln w="2286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11272" y="2674620"/>
            <a:ext cx="537668" cy="137159"/>
          </a:xfrm>
          <a:prstGeom prst="line">
            <a:avLst/>
          </a:prstGeom>
          <a:ln w="2286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948940" y="2811779"/>
            <a:ext cx="307238" cy="17146"/>
          </a:xfrm>
          <a:prstGeom prst="line">
            <a:avLst/>
          </a:prstGeom>
          <a:ln w="2286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256178" y="2708910"/>
            <a:ext cx="537667" cy="120015"/>
          </a:xfrm>
          <a:prstGeom prst="line">
            <a:avLst/>
          </a:prstGeom>
          <a:ln w="2286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793845" y="2503170"/>
            <a:ext cx="537668" cy="205740"/>
          </a:xfrm>
          <a:prstGeom prst="line">
            <a:avLst/>
          </a:prstGeom>
          <a:ln w="2286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331512" y="2297430"/>
            <a:ext cx="499262" cy="205740"/>
          </a:xfrm>
          <a:prstGeom prst="line">
            <a:avLst/>
          </a:prstGeom>
          <a:ln w="2286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124504" y="2774061"/>
            <a:ext cx="109728" cy="109728"/>
          </a:xfrm>
          <a:prstGeom prst="ellipse">
            <a:avLst/>
          </a:prstGeom>
          <a:solidFill>
            <a:srgbClr val="993C1D"/>
          </a:solidFill>
          <a:ln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05048" y="2486025"/>
            <a:ext cx="19888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eval 掉头 = 过拟合起点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2208" y="2650617"/>
            <a:ext cx="19888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993C1D"/>
                </a:solidFill>
                <a:latin typeface="Calibri"/>
                <a:ea typeface="Calibri"/>
              </a:rPr>
              <a:t>取这个 checkpoint 交付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3845" y="3291840"/>
            <a:ext cx="10972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128199"/>
                </a:solidFill>
                <a:latin typeface="Calibri"/>
                <a:ea typeface="Calibri"/>
              </a:rPr>
              <a:t>train 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4274" y="2400300"/>
            <a:ext cx="123444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eval 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0" y="1645920"/>
            <a:ext cx="3518154" cy="19202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14950" y="1735074"/>
            <a:ext cx="3188970" cy="1783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类比 · 刷题分 vs 模拟考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train loss 是刷题正确率——刷多了自然高，可能只是背了题；eval loss 是没见过的模拟考，这个分才算数。</a:t>
            </a:r>
          </a:p>
          <a:p>
            <a:pPr algn="l"/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标准操作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小数据训 3 个 epoch，eval 在第 2 个 epoch 后上翘 → 取第 2 个 epoch 的 checkpoint，而不是「再训久一点」。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3806190"/>
            <a:ext cx="8250174" cy="870966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" y="3895344"/>
            <a:ext cx="7886700" cy="7543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27500A"/>
                </a:solidFill>
                <a:latin typeface="Calibri"/>
                <a:ea typeface="Calibri"/>
              </a:rPr>
              <a:t>铁律：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永远留一份不参与训练的验证集；永远按 eval 曲线（加上任务指标）选 checkpoint——别被 train loss 骗了。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Fine-tuning 讲义 · 微调工程实践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4 章 · 训练实操与框架图鉴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5 章 · 偏好对齐  SFT → DPO → RFT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对齐三级：照做、分寸、对着分数练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示范教不会「哪个更好」的分寸——按症状逐级升级，多数项目止步 SFT + 少量 DPO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1885950"/>
            <a:ext cx="2537460" cy="147447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510" y="1995678"/>
            <a:ext cx="2194560" cy="51435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128199"/>
                </a:solidFill>
                <a:latin typeface="Calibri"/>
                <a:ea typeface="Calibri"/>
              </a:rPr>
              <a:t>1. SFT</a:t>
            </a:r>
            <a:r>
              <a:rPr sz="900" b="1" i="0">
                <a:solidFill>
                  <a:srgbClr val="1A2733"/>
                </a:solidFill>
                <a:latin typeface="Calibri"/>
                <a:ea typeface="Calibri"/>
              </a:rPr>
              <a:t>　示范照做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75738"/>
            <a:ext cx="2125980" cy="3566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128199"/>
                </a:solidFill>
                <a:latin typeface="Calibri"/>
                <a:ea typeface="Calibri"/>
              </a:rPr>
              <a:t>范文 · 教格式 / 语气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" y="2900934"/>
            <a:ext cx="2153412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天花板：教不会「两个都通顺、哪个更好」的分寸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05556" y="1885950"/>
            <a:ext cx="2537460" cy="147447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7006" y="1995678"/>
            <a:ext cx="2194560" cy="51435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2. DPO</a:t>
            </a:r>
            <a:r>
              <a:rPr sz="900" b="1" i="0">
                <a:solidFill>
                  <a:srgbClr val="1A2733"/>
                </a:solidFill>
                <a:latin typeface="Calibri"/>
                <a:ea typeface="Calibri"/>
              </a:rPr>
              <a:t>　好坏对纠偏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296" y="2475738"/>
            <a:ext cx="2125980" cy="3566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批改 · chosen / rejected 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7580" y="2900934"/>
            <a:ext cx="2153412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SFT 后「味道不对」的首选；成本≈再跑一次 SFT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31052" y="1885950"/>
            <a:ext cx="2537460" cy="147447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2502" y="1995678"/>
            <a:ext cx="2194560" cy="51435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27500A"/>
                </a:solidFill>
                <a:latin typeface="Calibri"/>
                <a:ea typeface="Calibri"/>
              </a:rPr>
              <a:t>3. RFT</a:t>
            </a:r>
            <a:r>
              <a:rPr sz="900" b="1" i="0">
                <a:solidFill>
                  <a:srgbClr val="1A2733"/>
                </a:solidFill>
                <a:latin typeface="Calibri"/>
                <a:ea typeface="Calibri"/>
              </a:rPr>
              <a:t>　对着分数练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6792" y="2475738"/>
            <a:ext cx="2125980" cy="3566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判卷 · 打分器 grader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3075" y="2900934"/>
            <a:ext cx="2153412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结果可机器判分的窄任务（代码跑测试）；成败在 grader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31236" y="2623185"/>
            <a:ext cx="260604" cy="0"/>
          </a:xfrm>
          <a:prstGeom prst="line">
            <a:avLst/>
          </a:prstGeom>
          <a:ln w="18098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983230" y="2335149"/>
            <a:ext cx="356616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不够再升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56731" y="2623185"/>
            <a:ext cx="260605" cy="0"/>
          </a:xfrm>
          <a:prstGeom prst="line">
            <a:avLst/>
          </a:prstGeom>
          <a:ln w="18098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08725" y="2335149"/>
            <a:ext cx="356616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不够再升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" y="3771900"/>
            <a:ext cx="8181594" cy="90525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854196"/>
            <a:ext cx="7818120" cy="7886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现实比例：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多数企业项目止步于 SFT（+ 少量 DPO 纠偏）；RFT 是尖刀任务的利器，不是标配。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别让客户以为每个项目都要走全流程——判分规则含糊、能被钻空子（reward hacking），就退回 DPO / SFT。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Fine-tuning 讲义 · 微调工程实践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5 章 · 偏好对齐落地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7 章 · 部署形态  MERGE vs ADAPTER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部署两形态：合并权重 vs 挂 adapter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单一稳定任务合并权重换运维简单；多任务 / 多租户挂 adapter 是标准答案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合并权重 —— W + BA 合成新模型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" y="2160270"/>
            <a:ext cx="1097280" cy="493776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FFFFFF"/>
                </a:solidFill>
                <a:latin typeface="Calibri"/>
                <a:ea typeface="Calibri"/>
              </a:rPr>
              <a:t>W + BA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合并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65376" y="2407158"/>
            <a:ext cx="294894" cy="0"/>
          </a:xfrm>
          <a:prstGeom prst="line">
            <a:avLst/>
          </a:prstGeom>
          <a:ln w="14288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94560" y="2160270"/>
            <a:ext cx="198882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一个普通模型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和平常无异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" y="2846070"/>
            <a:ext cx="3771900" cy="7886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部署简单，和普通模型完全一样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一次一个任务，换任务要重发整模型</a:t>
            </a:r>
          </a:p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· 适合：单一、稳定的任务，换运维简单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2915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挂 adapter —— 底座共享，运行时加载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72050" y="2139696"/>
            <a:ext cx="1371600" cy="1028700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4A1B0C"/>
                </a:solidFill>
                <a:latin typeface="Calibri"/>
                <a:ea typeface="Calibri"/>
              </a:rPr>
              <a:t>共享底座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4A1B0C"/>
                </a:solidFill>
                <a:latin typeface="Calibri"/>
                <a:ea typeface="Calibri"/>
              </a:rPr>
              <a:t>one 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52260" y="2139696"/>
            <a:ext cx="1851660" cy="301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部门A LoRA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357366" y="2290572"/>
            <a:ext cx="281178" cy="363474"/>
          </a:xfrm>
          <a:prstGeom prst="line">
            <a:avLst/>
          </a:prstGeom>
          <a:ln w="10478">
            <a:solidFill>
              <a:srgbClr val="993C1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52260" y="2496312"/>
            <a:ext cx="1851660" cy="301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部门B LoRA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357366" y="2647188"/>
            <a:ext cx="281178" cy="6858"/>
          </a:xfrm>
          <a:prstGeom prst="line">
            <a:avLst/>
          </a:prstGeom>
          <a:ln w="10478">
            <a:solidFill>
              <a:srgbClr val="993C1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652260" y="2852928"/>
            <a:ext cx="1851660" cy="301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部门C… LoRA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7366" y="2654046"/>
            <a:ext cx="281178" cy="349758"/>
          </a:xfrm>
          <a:prstGeom prst="line">
            <a:avLst/>
          </a:prstGeom>
          <a:ln w="10478">
            <a:solidFill>
              <a:srgbClr val="993C1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00600" y="3236976"/>
            <a:ext cx="3840480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可热插拔、多套并存：5 部门 = 1 底座 + 5 LoRA，vLLM 多 LoRA 按请求路由，省一个数量级显存。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840480"/>
            <a:ext cx="8250174" cy="83667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" y="3922776"/>
            <a:ext cx="7886700" cy="72009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默认姿势：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多任务 / 多租户 → adapter 化部署是标准答案；单一稳定任务 → 合并权重换运维简单。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（动态加载 adapter 有官方安全警告：仅限隔离受信环境；上线还要过 LLM-Inference 的量化 / 批处理 / SLO（Service Level Objective） 关。）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Fine-tuning 讲义 · 微调工程实践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7 章 · 评估与部署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95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973836"/>
            <a:ext cx="836676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190" y="1385316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第2章 · 微调方法谱系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0330" y="1385316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QLoRA 论文、2026 实践指南</a:t>
            </a:r>
          </a:p>
        </p:txBody>
      </p:sp>
      <p:sp>
        <p:nvSpPr>
          <p:cNvPr id="8" name="Rectangle 7"/>
          <p:cNvSpPr/>
          <p:nvPr/>
        </p:nvSpPr>
        <p:spPr>
          <a:xfrm>
            <a:off x="377190" y="1728216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190" y="1769364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第3章 · 数据准备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0330" y="1769364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行业综述、Azure/厂商公告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7190" y="2112264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190" y="2153412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第4章 · 训练实操与框架图鉴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0330" y="2153412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GitHub、框架对比评测；github.com/huggingface/peft/releases；github.com/huggingface/trl/releases；Unsloth 官方文档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7190" y="2496312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190" y="2537460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第5章 · 偏好对齐落地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0330" y="2537460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OpenAI RFT 文档、行业综述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7190" y="2880360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7190" y="2921508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第6章 · 托管微调服务与上云落地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0330" y="2921508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OpenAI 官方微调文档；AWS 官方博客、Claude Cookbook；平台官方与 2026 对比评测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7190" y="3264408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7190" y="3305556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第7章 · 评估与部署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40330" y="3305556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docs.vllm.ai/en/stable/features/lora/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7190" y="3648456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77190" y="4457700"/>
            <a:ext cx="8387334" cy="329184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核实窗口 2026-07-09 至 2026-07-12　·　保鲜机制：季度巡检（每年 1/4/7/10 月）＋ 建议复查日定点复查　·　引用任何数字前先核日期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Fine-tuning 讲义 · 微调工程实践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89</Slides>
  <ScaleCrop>false</ScaleCrop>
  <HeadingPairs>
    <vt:vector size="2" baseType="variant">
      <vt:variant>
        <vt:lpstr>幻灯片标题</vt:lpstr>
      </vt:variant>
      <vt:variant>
        <vt:i4>89</vt:i4>
      </vt:variant>
    </vt:vector>
  </HeadingPairs>
  <TitlesOfParts>
    <vt:vector size="89" baseType="lpstr">
      <vt:lpstr>微调工程实践</vt:lpstr>
      <vt:lpstr>全书导览：八章一条主线</vt:lpstr>
      <vt:lpstr>开场必备</vt:lpstr>
      <vt:lpstr>什么时候该微调</vt:lpstr>
      <vt:lpstr>学完这一章，你能对客户讲清楚</vt:lpstr>
      <vt:lpstr>微调：把要求「内化」进模型本身</vt:lpstr>
      <vt:lpstr>定制手段光谱：一级一级往上爬</vt:lpstr>
      <vt:lpstr>最重要的分界线：知识问题，还是行为问题</vt:lpstr>
      <vt:lpstr>微调能兑现的五类价值</vt:lpstr>
      <vt:lpstr>什么时候别微调：四条劝退清单</vt:lpstr>
      <vt:lpstr>成本收益账：微调是高频场景的规模生意</vt:lpstr>
      <vt:lpstr>动手做 · HANDS-ON</vt:lpstr>
      <vt:lpstr>现场最可能被追问的问题</vt:lpstr>
      <vt:lpstr>本章要点收拢</vt:lpstr>
      <vt:lpstr>微调方法谱系</vt:lpstr>
      <vt:lpstr>学完这一章，你能对客户讲清楚</vt:lpstr>
      <vt:lpstr>全参微调：整本书重新编辑</vt:lpstr>
      <vt:lpstr>LoRA：给权重贴便利贴</vt:lpstr>
      <vt:lpstr>LoRA 超参实务：先跑通，再精调</vt:lpstr>
      <vt:lpstr>QLoRA：压缩底座，便利贴照贴</vt:lpstr>
      <vt:lpstr>显存账速查：客户问「要几张卡」时用</vt:lpstr>
      <vt:lpstr>学得少，也忘得少：LoRA 与全参的取舍</vt:lpstr>
      <vt:lpstr>三种微调对比：显存、效果、遗忘怎么权衡</vt:lpstr>
      <vt:lpstr>变体一页通：都还是「冻结底座 + 小旁路」</vt:lpstr>
      <vt:lpstr>动手做 · HANDS-ON</vt:lpstr>
      <vt:lpstr>现场最可能被追问的问题</vt:lpstr>
      <vt:lpstr>本章要点收拢</vt:lpstr>
      <vt:lpstr>数据准备：微调成败在此</vt:lpstr>
      <vt:lpstr>学完这一章，你能对客户讲清楚</vt:lpstr>
      <vt:lpstr>训练样本长这样：messages + JSONL</vt:lpstr>
      <vt:lpstr>要多少条：先小步跑通，再逐步加码</vt:lpstr>
      <vt:lpstr>质量 &amp;gt; 数量：LIMA 的一千条</vt:lpstr>
      <vt:lpstr>数据不够怎么造：合成数据流水线</vt:lpstr>
      <vt:lpstr>蒸馏：大模型当老师，小模型当学生</vt:lpstr>
      <vt:lpstr>数据治理三问：采购会上必被问</vt:lpstr>
      <vt:lpstr>动手做 · HANDS-ON</vt:lpstr>
      <vt:lpstr>现场最可能被追问的问题</vt:lpstr>
      <vt:lpstr>本章要点收拢</vt:lpstr>
      <vt:lpstr>训练实操与框架图鉴</vt:lpstr>
      <vt:lpstr>学完这一章，你能对客户讲清楚</vt:lpstr>
      <vt:lpstr>框架图鉴：功能趋同，差异在工作流</vt:lpstr>
      <vt:lpstr>选型决策：一分钟定框架</vt:lpstr>
      <vt:lpstr>一次 LoRA 微调长什么样（TRL）</vt:lpstr>
      <vt:lpstr>盯 eval 不盯 train：loss 曲线怎么看</vt:lpstr>
      <vt:lpstr>九成事故来自这四个坑</vt:lpstr>
      <vt:lpstr>动手做 · HANDS-ON</vt:lpstr>
      <vt:lpstr>现场最可能被追问的问题</vt:lpstr>
      <vt:lpstr>本章要点收拢</vt:lpstr>
      <vt:lpstr>偏好对齐落地</vt:lpstr>
      <vt:lpstr>学完这一章，你能对客户讲清楚</vt:lpstr>
      <vt:lpstr>SFT 的天花板：示范教不会分寸</vt:lpstr>
      <vt:lpstr>DPO：拿「好坏对」直接纠偏</vt:lpstr>
      <vt:lpstr>RFT：结果可判分的任务，对着分数练</vt:lpstr>
      <vt:lpstr>对齐三级：照做、分寸、对着分数练</vt:lpstr>
      <vt:lpstr>症状 → 处方：什么时候走到哪一步</vt:lpstr>
      <vt:lpstr>动手做 · HANDS-ON</vt:lpstr>
      <vt:lpstr>现场最可能被追问的问题</vt:lpstr>
      <vt:lpstr>本章要点收拢</vt:lpstr>
      <vt:lpstr>托管微调服务与上云落地</vt:lpstr>
      <vt:lpstr>学完这一章，你能对客户讲清楚</vt:lpstr>
      <vt:lpstr>自建还是托管：三问定方向</vt:lpstr>
      <vt:lpstr>OpenAI 微调 API：三种方法并存</vt:lpstr>
      <vt:lpstr>「能微调 Claude 吗」：标准答案一页</vt:lpstr>
      <vt:lpstr>三大云微调能力对照（2026-07）</vt:lpstr>
      <vt:lpstr>上云落地地图：每个环节用什么</vt:lpstr>
      <vt:lpstr>动手做 · HANDS-ON</vt:lpstr>
      <vt:lpstr>现场最可能被追问的问题</vt:lpstr>
      <vt:lpstr>本章要点收拢</vt:lpstr>
      <vt:lpstr>评估与部署</vt:lpstr>
      <vt:lpstr>学完这一章，你能对客户讲清楚</vt:lpstr>
      <vt:lpstr>怎么知道微调成了：验收四层</vt:lpstr>
      <vt:lpstr>四类实验失真：高分不等于可信</vt:lpstr>
      <vt:lpstr>灾难性遗忘：微调的安全带</vt:lpstr>
      <vt:lpstr>部署两形态：合并权重 vs 挂 adapter</vt:lpstr>
      <vt:lpstr>adapter 上线：五层发布控制</vt:lpstr>
      <vt:lpstr>迭代闭环：微调不是一锤子买卖</vt:lpstr>
      <vt:lpstr>动手做 · HANDS-ON</vt:lpstr>
      <vt:lpstr>现场最可能被追问的问题</vt:lpstr>
      <vt:lpstr>本章要点收拢</vt:lpstr>
      <vt:lpstr>售前速查</vt:lpstr>
      <vt:lpstr>一张图定方案：从抱怨到处方</vt:lpstr>
      <vt:lpstr>成本心算模板：报价的结构</vt:lpstr>
      <vt:lpstr>客户误区总表：一句话纠正</vt:lpstr>
      <vt:lpstr>本模块在知识库里的位置</vt:lpstr>
      <vt:lpstr>综合面试题：见客户前的五分钟检查</vt:lpstr>
      <vt:lpstr>全书小结</vt:lpstr>
      <vt:lpstr>生产验收</vt:lpstr>
      <vt:lpstr>附 · 与 Prompt Engineering 的关系</vt:lpstr>
      <vt:lpstr>来源与核实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Fine-tuning 讲义 · 微调工程实践</dc:title>
  <dc:subject>PptxGenJS Presentation</dc:subject>
  <dc:creator>MY 知识库</dc:creator>
  <cp:lastModifiedBy>MY 知识库</cp:lastModifiedBy>
  <cp:revision>1</cp:revision>
  <dcterms:created xsi:type="dcterms:W3CDTF">2026-07-09T00:39:29Z</dcterms:created>
  <dcterms:modified xsi:type="dcterms:W3CDTF">2026-07-09T00:39:29Z</dcterms:modified>
</cp:coreProperties>
</file>