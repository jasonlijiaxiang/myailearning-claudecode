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8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329" r:id="rId80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325" r:id="rId76"/>
    <p:sldId id="272" r:id="rId23"/>
    <p:sldId id="273" r:id="rId24"/>
    <p:sldId id="326" r:id="rId77"/>
    <p:sldId id="274" r:id="rId25"/>
    <p:sldId id="330" r:id="rId81"/>
    <p:sldId id="322" r:id="rId73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323" r:id="rId74"/>
    <p:sldId id="283" r:id="rId34"/>
    <p:sldId id="327" r:id="rId78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328" r:id="rId79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9" r:id="rId70"/>
    <p:sldId id="333" r:id="rId84"/>
    <p:sldId id="320" r:id="rId71"/>
    <p:sldId id="321" r:id="rId72"/>
    <p:sldId id="317" r:id="rId68"/>
    <p:sldId id="318" r:id="rId69"/>
    <p:sldId id="324" r:id="rId75"/>
    <p:sldId id="331" r:id="rId8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30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20.xml"/><Relationship Id="rId74" Type="http://schemas.openxmlformats.org/officeDocument/2006/relationships/slide" Target="slides/slide29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4" Type="http://schemas.openxmlformats.org/officeDocument/2006/relationships/slide" Target="slides/slide7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A65A"/>
                </a:solidFill>
                <a:latin typeface="Calibri"/>
              </a:rPr>
              <a:t>AI 知识库 · 讲义式 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mbria"/>
              </a:rPr>
              <a:t>MCP · 模型上下文协议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D6E1E8"/>
                </a:solidFill>
                <a:latin typeface="Cambria"/>
              </a:rPr>
              <a:t>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AF3F5"/>
                </a:solidFill>
                <a:latin typeface="Calibri"/>
              </a:rPr>
              <a:t>给 AI 应用与外部工具之间，装一个标准插座：从 M×N 的定制胶水，变成 M+N 的即插即用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60520"/>
            <a:ext cx="1444752" cy="56692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444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AF3F5"/>
                </a:solidFill>
                <a:latin typeface="Calibri"/>
              </a:rPr>
              <a:t>1 · 是什么/为什么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9434" y="4160520"/>
            <a:ext cx="1444752" cy="56692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9434" y="4160520"/>
            <a:ext cx="1444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AF3F5"/>
                </a:solidFill>
                <a:latin typeface="Calibri"/>
              </a:rPr>
              <a:t>2 · 协议解剖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35908" y="4160520"/>
            <a:ext cx="1444752" cy="56692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5908" y="4160520"/>
            <a:ext cx="1444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AF3F5"/>
                </a:solidFill>
                <a:latin typeface="Calibri"/>
              </a:rPr>
              <a:t>3 · 传输与演进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2382" y="4160520"/>
            <a:ext cx="1444752" cy="56692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2382" y="4160520"/>
            <a:ext cx="1444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AF3F5"/>
                </a:solidFill>
                <a:latin typeface="Calibri"/>
              </a:rPr>
              <a:t>4 · 动手写 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8856" y="4160520"/>
            <a:ext cx="1444752" cy="56692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48856" y="4160520"/>
            <a:ext cx="1444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AF3F5"/>
                </a:solidFill>
                <a:latin typeface="Calibri"/>
              </a:rPr>
              <a:t>5 · 生产落地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5330" y="4160520"/>
            <a:ext cx="1444752" cy="56692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5330" y="4160520"/>
            <a:ext cx="1444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AF3F5"/>
                </a:solidFill>
                <a:latin typeface="Calibri"/>
              </a:rPr>
              <a:t>6 · 安全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FB3C0"/>
                </a:solidFill>
                <a:latin typeface="Calibri"/>
              </a:rPr>
              <a:t>读者定位：AI 平台「售前技术」角色（有 Python/API 基础，重底层概念、原理与取舍）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FB3C0"/>
                </a:solidFill>
                <a:latin typeface="Calibri"/>
              </a:rPr>
              <a:t>2026-07-12 · 时效性事实已联网核实</a:t>
            </a:r>
          </a:p>
        </p:txBody>
      </p:sp>
      <p:sp>
        <p:nvSpPr>
          <p:cNvPr id="20" name="Rounded Rectangle 5"/>
          <p:cNvSpPr/>
          <p:nvPr/>
        </p:nvSpPr>
        <p:spPr>
          <a:xfrm>
            <a:off x="9861804" y="4160520"/>
            <a:ext cx="1444752" cy="56692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6"/>
          <p:cNvSpPr txBox="1"/>
          <p:nvPr/>
        </p:nvSpPr>
        <p:spPr>
          <a:xfrm>
            <a:off x="9861804" y="4160520"/>
            <a:ext cx="1444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AF3F5"/>
                </a:solidFill>
                <a:latin typeface="Calibri"/>
              </a:rPr>
              <a:t>7 · 售前速查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1606E"/>
                </a:solidFill>
                <a:latin typeface="Calibri"/>
              </a:rPr>
              <a:t>导览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全书导览：七章一条主线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主线：先讲清「为什么要有 MCP、它到底是什么」，再拆开协议本体，接着落到「怎么写、怎么上生产、怎么保安全」——从概念一路走到能给客户交付。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76272"/>
            <a:ext cx="10908792" cy="54864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6384" y="2249424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24942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21991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是什么 / 为什么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221991"/>
            <a:ext cx="7269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USB-C 类比、M×N→M+N、与 Function Calling 的关系、简史与 AAIF 治理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4348"/>
            <a:ext cx="10908792" cy="54864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6384" y="2857500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85750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3006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协议解剖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830068"/>
            <a:ext cx="7269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Host/Client/Server 三角色、JSON-RPC 基座、生命周期、三大原语、真实报文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92424"/>
            <a:ext cx="10908792" cy="54864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3465576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65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438144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传输与版本演进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438144"/>
            <a:ext cx="7269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stdio vs Streamable HTTP、五版脉络、2026-07-28 无状态核心、Extensions/Tasks/Apps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00500"/>
            <a:ext cx="10908792" cy="54864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4073652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7365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4622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动手写 server 与 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046220"/>
            <a:ext cx="7269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Python SDK 上手、定义工具/资源、MCP Inspector 调试、接入 Claude、把 REST 包成 MCP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608576"/>
            <a:ext cx="10908792" cy="54864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6384" y="4681728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68172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654296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生产落地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4654296"/>
            <a:ext cx="7269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OAuth 授权、部署形态与网关、官方 Registry vs 私有 registry、上云怎么落地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216652"/>
            <a:ext cx="10908792" cy="54864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86384" y="5289804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28980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262372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安全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5262372"/>
            <a:ext cx="7269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工具投毒/rug pull/confused deputy、2026 年 40+ CVE、NSA/CISA 指引、防护组合拳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· 模型上下文协议</a:t>
            </a:r>
          </a:p>
        </p:txBody>
      </p:sp>
      <p:sp>
        <p:nvSpPr>
          <p:cNvPr id="37" name="Rounded Rectangle 4"/>
          <p:cNvSpPr/>
          <p:nvPr/>
        </p:nvSpPr>
        <p:spPr>
          <a:xfrm>
            <a:off x="640080" y="5824728"/>
            <a:ext cx="10908792" cy="54864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5"/>
          <p:cNvSpPr/>
          <p:nvPr/>
        </p:nvSpPr>
        <p:spPr>
          <a:xfrm>
            <a:off x="786384" y="5897880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6"/>
          <p:cNvSpPr txBox="1"/>
          <p:nvPr/>
        </p:nvSpPr>
        <p:spPr>
          <a:xfrm>
            <a:off x="786384" y="589788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40" name="TextBox 7"/>
          <p:cNvSpPr txBox="1"/>
          <p:nvPr/>
        </p:nvSpPr>
        <p:spPr>
          <a:xfrm>
            <a:off x="1371600" y="587044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售前速查</a:t>
            </a:r>
          </a:p>
        </p:txBody>
      </p:sp>
      <p:sp>
        <p:nvSpPr>
          <p:cNvPr id="41" name="TextBox 8"/>
          <p:cNvSpPr txBox="1"/>
          <p:nvPr/>
        </p:nvSpPr>
        <p:spPr>
          <a:xfrm>
            <a:off x="4160520" y="5870448"/>
            <a:ext cx="7269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高频问题、上手排错、版本口径与串联地图——一页找到名字和数字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第 1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MCP 是什么 / 为什么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290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D6E1E8"/>
                </a:solidFill>
                <a:latin typeface="Cambria"/>
              </a:rPr>
              <a:t>What &amp;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AF3F5"/>
                </a:solidFill>
                <a:latin typeface="Calibri"/>
              </a:rPr>
              <a:t>在讲协议细节之前，先回答客户最朴素的问题：为什么突然人人都在说 MCP（Model Context Protocol）？它解决的到底是哪个痛点，和我已经在用的 Function Calling 是什么关系？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1 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是什么/为什么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用一句话向客户解释 MCP：给大模型接工具/数据的「USB-C 标准接口」，让接入从 M×N 变成 M+N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795778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9577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95778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说清 MCP 与 Function Calling 的关系——不是替代，而是把「一次工具调用」标准化成跨厂商协议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717036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170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717036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讲清 MCP 的来历与治理：2024 年 Anthropic 提出、2025 年底捐给中立基金会 AAIF，不是某家私有协议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38294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3829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638294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判断一个场景该不该上 MCP：什么时候值得引入这层标准，什么时候直接写 Function Calling 就够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1 章 · 是什么/为什么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是什么/为什么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M×N 问题：为什么非要一个标准不可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没有标准时，M 个 AI 应用要接 N 个工具，理论上要写 M×N 套定制对接；每加一个应用或一个工具，对接量成倍增长，还各家格式不一、难维护。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像各国插座标准不统一：出国就得带一堆转换头。约定一个通用口后，M 个电器 + N 个国家，只需各自符合标准一次，就是 M+N。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有了 MCP：工具方写一个 server（+1），应用方实现一个 client（+1），双方各做一次即可互通——连接复杂度从 M×N 塌缩到 M+N。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MCP 的核心价值就一句话：把「组合爆炸」的定制对接，变成「各做一次」的标准对接——生态越大，省得越多。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是什么/为什么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MCP vs Function Calling：不是替代，是分工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82880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74519"/>
            <a:ext cx="1609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维度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874519"/>
            <a:ext cx="457200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96896" y="1874519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Function Calling（函数调用）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874519"/>
            <a:ext cx="4507992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68896" y="1874519"/>
            <a:ext cx="428853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MCP（模型上下文协议）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50008"/>
            <a:ext cx="182880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404872"/>
            <a:ext cx="160934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解决什么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350008"/>
            <a:ext cx="457200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6896" y="2404872"/>
            <a:ext cx="435254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让模型「决定」调哪个函数、传什么参数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2350008"/>
            <a:ext cx="4507992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8896" y="2404872"/>
            <a:ext cx="42885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让工具「怎么被发现、被调用」跨应用标准化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31566"/>
            <a:ext cx="182880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986430"/>
            <a:ext cx="160934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作用层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2931566"/>
            <a:ext cx="457200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6896" y="2986430"/>
            <a:ext cx="435254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模型能力层：一次推理里的一步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2931566"/>
            <a:ext cx="4507992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8896" y="2986430"/>
            <a:ext cx="42885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集成协议层：应用与工具之间的通道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13124"/>
            <a:ext cx="182880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67988"/>
            <a:ext cx="160934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谁定义工具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3513124"/>
            <a:ext cx="457200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96896" y="3567988"/>
            <a:ext cx="435254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每个应用自己在代码里声明一遍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3513124"/>
            <a:ext cx="4507992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68896" y="3567988"/>
            <a:ext cx="42885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工具方在 server 里声明一次，人人可用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094683"/>
            <a:ext cx="182880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149547"/>
            <a:ext cx="160934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复用性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4094683"/>
            <a:ext cx="457200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96896" y="4149547"/>
            <a:ext cx="435254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换个应用/框架要重写对接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4094683"/>
            <a:ext cx="4507992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68896" y="4149547"/>
            <a:ext cx="42885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做成 server 后，任何 MCP 客户端直接接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676241"/>
            <a:ext cx="182880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731105"/>
            <a:ext cx="160934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关系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68880" y="4676241"/>
            <a:ext cx="457200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96896" y="4731105"/>
            <a:ext cx="435254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MCP 内部仍靠模型的 function calling 决策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4676241"/>
            <a:ext cx="4507992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8896" y="4731105"/>
            <a:ext cx="42885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MCP 把那「一次调用」标准化、跨厂商化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34924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C0"/>
                </a:solidFill>
                <a:latin typeface="Calibri"/>
              </a:rPr>
              <a:t>一句话：Function Calling 是「模型怎么决定用工具」，MCP 是「工具怎么被标准地接进来」。二者叠加，不是二选一。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是什么/为什么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简史与治理：它不是某一家的私有协议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时间线：2024-11 Anthropic 首次开源 MCP → 2025 年被主流 AI 应用与 IDE 快速采用 → 2025-12 Anthropic 把 MCP 捐给 Agentic AI Foundation（AAIF）。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像一门语言从「一家公司内部方言」变成「有标准委员会的通用语」：AAIF 是 Linux 基金会旗下的中立基金会，由 Anthropic、Block、OpenAI 等共同发起。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协议怎么改？走 SEP（Specification Enhancement Proposal，规范增强提案）公开流程，社区提案、评审、进入规范——和其它开放标准的演进方式一致。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对客户的关键话术：MCP 由中立基金会治理、开放演进，接入它不等于绑定某一家大模型厂商——这正是「标准」的意义。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是什么/为什么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重点术语中英对照（中文为主）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5358384" cy="118872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02536"/>
            <a:ext cx="4901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模型上下文协议（Model Context Protocol / MCP）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AI 应用与外部工具、数据源之间的开放集成标准。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1874519"/>
            <a:ext cx="5358384" cy="118872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2002536"/>
            <a:ext cx="4901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函数调用（Function Calling / Tool Use）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423160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模型以结构化参数决定调用哪个外部函数的机制。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09544"/>
            <a:ext cx="5358384" cy="118872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4901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M×N → M+N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58183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集成复杂度：从「每对都定制」塌缩为「各做一次」。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3209544"/>
            <a:ext cx="5358384" cy="118872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337560"/>
            <a:ext cx="4901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主机 / 客户端 / 服务端（Host / Client / Server）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758183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MCP 的三个角色，第 2 章展开。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44568"/>
            <a:ext cx="5358384" cy="118872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672583"/>
            <a:ext cx="4901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SEP（规范增强提案）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93207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MCP 协议演进的公开提案与评审机制。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4544568"/>
            <a:ext cx="5358384" cy="118872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4672583"/>
            <a:ext cx="4901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AAIF（Agentic AI Foundation）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5093207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托管 MCP 治理的中立基金会（Linux 基金会旗下）。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是什么/为什么 · 承上启下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与 Agent 模块的关系：一个接口的两个视角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本知识库已有 Agent 模块，其第 4 章《工具接入与 MCP》从「智能体为什么需要标准接口」讲过 MCP。两个模块讲的是同一件事的两端，互为补充、并不重复：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23160"/>
            <a:ext cx="10908792" cy="101498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23160"/>
            <a:ext cx="109728" cy="1014984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10424160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Agent 第 4 章 →  </a:t>
            </a:r>
            <a:r>
              <a:rPr sz="1300" b="0" i="0">
                <a:solidFill>
                  <a:srgbClr val="1A2733"/>
                </a:solidFill>
                <a:latin typeface="Calibri"/>
              </a:rPr>
              <a:t>站在智能体一侧：agent 要用很多工具，M×N 对接受不了，所以需要 MCP 这层标准（讲「为什么需要」）。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84448"/>
            <a:ext cx="10908792" cy="101498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584448"/>
            <a:ext cx="109728" cy="1014984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675887"/>
            <a:ext cx="10424160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本模块 →  </a:t>
            </a:r>
            <a:r>
              <a:rPr sz="1300" b="0" i="0">
                <a:solidFill>
                  <a:srgbClr val="1A2733"/>
                </a:solidFill>
                <a:latin typeface="Calibri"/>
              </a:rPr>
              <a:t>站在协议一侧：这层标准本身长什么样、server/client 怎么写、怎么上生产、怎么保安全（讲「是什么、怎么用好」）。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45736"/>
            <a:ext cx="10908792" cy="101498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745736"/>
            <a:ext cx="109728" cy="1014984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837175"/>
            <a:ext cx="10424160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怎么配合看 →  </a:t>
            </a:r>
            <a:r>
              <a:rPr sz="1300" b="0" i="0">
                <a:solidFill>
                  <a:srgbClr val="1A2733"/>
                </a:solidFill>
                <a:latin typeface="Calibri"/>
              </a:rPr>
              <a:t>先看 Agent 第 4 章建立动机与直觉，再用本模块把协议吃透——从「知道要用」到「能亲手交付」。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25311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FB3C0"/>
                </a:solidFill>
                <a:latin typeface="Calibri"/>
              </a:rPr>
              <a:t>串联备注：本页与 Agent/README.html 第 4 章互为实链接；另与 RAG 模块存在弱关联（检索也能包成 MCP 工具），见第 4 章。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第 1 章 · 是什么/为什么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211324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132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65960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把你手头 3 个真实客户集成场景，逐一判断：是直接写 Function Calling 就够，还是值得引入 MCP？写下判断依据。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6768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433572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3357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88208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找一个你熟悉的现成 MCP server（如官方 filesystem / GitHub），读它的说明，说清它暴露了哪些能力、面向谁复用。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19016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655820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5582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410456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用「M×N → M+N」给一位非技术同事讲清 MCP 的价值，控制在 3 句话内——这是售前现场的开场白。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5"/>
          </a:xfrm>
          <a:prstGeom prst="roundRect">
            <a:avLst/>
          </a:prstGeom>
          <a:solidFill>
            <a:srgbClr val="FFF6EA"/>
          </a:solidFill>
          <a:ln w="12700">
            <a:solidFill>
              <a:srgbClr val="E7C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32704"/>
            <a:ext cx="10424160" cy="493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第 1 题的判断尺子是「这套工具会不会被多个应用/多个团队复用」；会复用才值得上 MCP 这层标准。第 3 题练的是把技术价值翻译成生意语言的能力。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1 章 · 动手做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是什么/为什么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65376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MCP 和 Function Calling 到底什么关系，是不是替代？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不替代。Function Calling 是模型「决定调哪个工具」的能力，MCP 是「工具怎么被标准接入」的协议；MCP 内部仍用 function calling 做决策，二者叠加。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49931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32227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这是不是 Anthropic 的私有协议，用了会被锁定吗？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不会。2025 年底已捐给中立的 AAIF 基金会、开放治理，主流大模型应用与厂商都在支持，接入它反而降低单一厂商绑定。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16782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99078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我们已经在用 Function Calling 了，还有必要上 MCP 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看复用面。工具只服务一个应用，直接写就好；一旦要被多应用/多团队反复接，MCP 能省掉成倍的重复对接。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83633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65929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MCP 会不会像很多「标准」一样昙花一现？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当前生态采用面广、有基金会中立治理和公开演进机制，落地案例多；判断一个标准活不活，看生态和治理，这两点它都占。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50484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32780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接 MCP 需要我们换大模型吗？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不需要。MCP 与模型解耦，主流客户端和多家模型都支持；你的工具做成 server 后可对接不同模型应用。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A65A"/>
                </a:solidFill>
                <a:latin typeface="Calibri"/>
              </a:rPr>
              <a:t>第 1 章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是什么 / 为什么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MCP ＝ AI 世界的 USB-C：一层开放接入标准，让工具和 AI 应用解耦，各做一次、随处可插。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96946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96946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70098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核心价值是把 M×N 的定制对接塌缩成 M+N——生态越大越省；这也是它区别于「又一个模型能力」的地方。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27931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027931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01083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与 Function Calling 是分工不是替代：前者管模型「怎么决定用工具」，MCP 管工具「怎么被标准接入」。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58917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058917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32069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治理上归中立基金会 AAIF、走 SEP 公开演进，接入不等于绑定单一厂商——这是给客户的定心丸。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1 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第 2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协议解剖：三角色、原语与报文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290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D6E1E8"/>
                </a:solidFill>
                <a:latin typeface="Cambria"/>
              </a:rPr>
              <a:t>Anatomy of the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AF3F5"/>
                </a:solidFill>
                <a:latin typeface="Calibri"/>
              </a:rPr>
              <a:t>把 MCP 拆开看内部结构：谁和谁在通信（三个角色）、说什么语言（JSON-RPC）、能提供哪几类东西（三大原语），以及一次真实调用的报文长什么样。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2 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协议解剖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说清 MCP 的三个角色 Host / Client / Server 各自管什么，画出它们之间的连接关系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795778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9577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95778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解释 MCP 为什么选 JSON-RPC 2.0 作底座，以及一次请求/响应的基本结构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717036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170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717036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讲清服务端三大原语——工具（Tools）、资源（Resources）、提示词（Prompts）的区别与用途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38294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3829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638294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读懂一次 tools/call 的真实报文，能对着 JSON 给客户逐字段解释「可读、可校验、可审计」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协议解剖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三个角色：Host、Client、Server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MCP 有三个角色，各司其职：主机（Host）是用户面对的 AI 应用（如 Claude Desktop、IDE），管权限与用户交互；客户端（Client）是 Host 内部为每个 server 建的连接器，一对一维护会话；服务端（Server）是工具/数据的提供方，声明自己能做什么。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像公司里：Host 是「老板」（决定做不做、担责任），Client 是「对接专员」（每个供应商配一个、专线沟通），Server 是「供应商」（提供具体能力）。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Claude Desktop（Host）里同时接了 filesystem 和 GitHub 两个 server：它内部就起两个 client，各连一个 server，互不干扰。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记法：Host 管权限、Client 管连接、Server 管能力——一个 Host 可挂多个 Client，各连一个 Server。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协议解剖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协议解剖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说什么语言：JSON-RPC 2.0 作底座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MCP 的所有通信都是 JSON-RPC 2.0 报文：一种极简的远程调用格式，请求带 method（方法名）和 params（参数），响应带 result 或 error，用 id 把一问一答配对。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像点菜的标准单据：单子上写「要什么菜（method）、几份辣度几分（params）、桌号（id）」，后厨照单做好按桌号回传——格式统一，谁来都不会乱。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列工具用 method="tools/list"，调用工具用 method="tools/call"；每条报文都是纯 JSON，可读、可日志、可审计。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选 JSON-RPC 的好处：简单、语言无关、天然可序列化与审计——这也是为什么 MCP 流量能轻松纳入现有 API 治理。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协议解剖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协议解剖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生命周期：一次连接怎么开始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经典连接分三步：① 初始化握手（initialize）——双方交换协议版本与能力清单；② 能力发现——客户端拉取 tools/list、resources/list、prompts/list；③ 正常调用——按需 tools/call 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像新员工入职：先对表（你会什么、我要什么），再领「能干哪些活」的清单，然后才开始派活干活。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握手时 server 说「我支持 tools 和 resources、不支持 prompts」，client 就只会去拉这两类——能力协商避免瞎调。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先握手对齐能力、再发现、后调用。（注：2026-07-28 新版把这套握手改成无状态，第 3 章细讲——理解经典流程仍是基础。）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协议解剖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协议解剖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三大原语：Tools、Resources、Prompts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55448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74519"/>
            <a:ext cx="1335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原语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1874519"/>
            <a:ext cx="420624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22576" y="1874519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是什么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74519"/>
            <a:ext cx="228600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8816" y="1874519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谁触发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874519"/>
            <a:ext cx="2862072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14816" y="1874519"/>
            <a:ext cx="264261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典型例子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50008"/>
            <a:ext cx="15544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404872"/>
            <a:ext cx="13350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工具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2350008"/>
            <a:ext cx="42062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22576" y="2404872"/>
            <a:ext cx="398678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模型可调用的「动作」，会执行、可能改状态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350008"/>
            <a:ext cx="22860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404872"/>
            <a:ext cx="206654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模型自主决定调用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2350008"/>
            <a:ext cx="286207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14816" y="2404872"/>
            <a:ext cx="2642615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查数据库、发邮件、创建 issue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319272"/>
            <a:ext cx="1554480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374136"/>
            <a:ext cx="13350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资源 Resources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3319272"/>
            <a:ext cx="4206240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22576" y="3374136"/>
            <a:ext cx="398678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可读取的「数据/上下文」，只读不产生副作用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319272"/>
            <a:ext cx="2286000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3374136"/>
            <a:ext cx="206654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应用/用户挂载引用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3319272"/>
            <a:ext cx="2862072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14816" y="3374136"/>
            <a:ext cx="2642615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一个文件、一段数据库记录、一份文档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288536"/>
            <a:ext cx="15544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343399"/>
            <a:ext cx="13350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提示词 Prompts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4288536"/>
            <a:ext cx="42062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22576" y="4343399"/>
            <a:ext cx="398678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预置的「对话模板」，把最佳用法固化下来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288536"/>
            <a:ext cx="22860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8816" y="4343399"/>
            <a:ext cx="206654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用户显式选用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4288536"/>
            <a:ext cx="286207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14816" y="4343399"/>
            <a:ext cx="2642615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「代码审查」「总结会议纪要」模板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34924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C0"/>
                </a:solidFill>
                <a:latin typeface="Calibri"/>
              </a:rPr>
              <a:t>记法：Tools 是「能做什么」（动词、有副作用），Resources 是「能看什么」（名词、只读），Prompts 是「怎么用得好」（模板）。三者由谁触发不同，是常被客户问混的点。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协议解剖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协议解剖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另一把刀：按「谁控制」切分三原语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55448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74519"/>
            <a:ext cx="1335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原语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1874519"/>
            <a:ext cx="420624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22576" y="1874519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谁控制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74519"/>
            <a:ext cx="228600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8816" y="1874519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责任落点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874519"/>
            <a:ext cx="2862072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14816" y="1874519"/>
            <a:ext cx="264261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口径示例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50008"/>
            <a:ext cx="15544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404872"/>
            <a:ext cx="13350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工具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2350008"/>
            <a:ext cx="42062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22576" y="2404872"/>
            <a:ext cx="398678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模型控制（model-controlled）：模型自主决定何时调用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350008"/>
            <a:ext cx="22860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404872"/>
            <a:ext cx="206654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确认弹窗、权限与审计都要按「模型会乱调」设防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2350008"/>
            <a:ext cx="286207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14816" y="2404872"/>
            <a:ext cx="2642615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create_ticket：调用前要用户确认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319272"/>
            <a:ext cx="1554480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374136"/>
            <a:ext cx="13350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资源 Resources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3319272"/>
            <a:ext cx="4206240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22576" y="3374136"/>
            <a:ext cx="398678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应用控制（application-controlled）：宿主决定挂载什么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319272"/>
            <a:ext cx="2286000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3374136"/>
            <a:ext cx="206654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数据可见性由应用负责，越权看数据在这层查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3319272"/>
            <a:ext cx="2862072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14816" y="3374136"/>
            <a:ext cx="2642615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crm://customer/42：应用挂载客户记录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288536"/>
            <a:ext cx="15544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343399"/>
            <a:ext cx="13350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提示词 Prompts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4288536"/>
            <a:ext cx="42062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22576" y="4343399"/>
            <a:ext cx="398678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用户控制（user-controlled）：用户显式选用模板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288536"/>
            <a:ext cx="22860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8816" y="4343399"/>
            <a:ext cx="206654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入口放在 UI 让用户主动挑，不由模型代选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4288536"/>
            <a:ext cx="286207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14816" y="4343399"/>
            <a:ext cx="2642615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「代码审查」模板：斜杠命令唤起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34924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C0"/>
                </a:solidFill>
                <a:latin typeface="Calibri"/>
              </a:rPr>
              <a:t>上一页按「能做什么」记，这一页按「谁控制」记——控制者决定展示方式、确认时机、权限与审计责任；选错控制面，UX 和审计责任就会错位（口径：官方规范 2025-11-25，2026-07-12 核实）。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协议解剖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协议解剖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客户端能力与「弃用」走向：Sampling、Elicitation、Roots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除了服务端三原语，MCP 也定义了反向能力：Sampling（服务端反过来请客户端的模型帮忙生成）、Elicitation（服务端向用户追问补充信息）、Roots（客户端告知可访问的目录范围）。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Tools 是「你让供应商干活」；Sampling / Elicitation 则是「供应商反过来问你要个决策或补个资料」——通信是双向的。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现状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重要提醒：2026-07-28 新版把 Roots、Sampling、Logging 正式列入弃用（Deprecated），建议改用工具参数、直连模型 API、stderr/OpenTelemetry 等替代，且保留至少 12 个月缓冲。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给客户的话术：核心是服务端三原语；反向能力了解即可，其中几项正在被更简洁的方式取代——选型时别把架构压在将被弃用的特性上。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协议解剖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协议解剖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真实报文：一次 tools/call 的来回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4708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8199"/>
                </a:solidFill>
                <a:latin typeface="Calibri"/>
              </a:rPr>
              <a:t>① 客户端 → 服务端：调用工具（JSON-RPC 2.0）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57984"/>
            <a:ext cx="10908792" cy="1197864"/>
          </a:xfrm>
          <a:prstGeom prst="roundRect">
            <a:avLst/>
          </a:prstGeom>
          <a:solidFill>
            <a:srgbClr val="0E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1033272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{ "jsonrpc": "2.0", "id": 7, "method": "tools/call",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"params": {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"name": "query_db",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"arguments": { "sql": "SELECT region, SUM(rev) FROM sales GROUP BY region" }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}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39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8199"/>
                </a:solidFill>
                <a:latin typeface="Calibri"/>
              </a:rPr>
              <a:t>② 服务端 → 客户端：返回结果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31335"/>
            <a:ext cx="10908792" cy="980236"/>
          </a:xfrm>
          <a:prstGeom prst="roundRect">
            <a:avLst/>
          </a:prstGeom>
          <a:solidFill>
            <a:srgbClr val="0E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86199"/>
            <a:ext cx="10332720" cy="8705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{ "jsonrpc": "2.0", "id": 7, "result": {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"content": [{ "type": "text",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"text": "[{\"region\":\"华东\",\"rev\":10200000}, ...]" }],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"isError": false }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76164"/>
            <a:ext cx="10908792" cy="1077163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031028"/>
            <a:ext cx="10424160" cy="9674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5A"/>
                </a:solidFill>
                <a:latin typeface="Calibri"/>
              </a:rPr>
              <a:t>解读：</a:t>
            </a:r>
            <a:r>
              <a:rPr sz="1200" b="0" i="0">
                <a:solidFill>
                  <a:srgbClr val="1A2733"/>
                </a:solidFill>
                <a:latin typeface="Calibri"/>
              </a:rPr>
              <a:t>就是标准 JSON-RPC 2.0：id 配对一问一答，params 带结构化参数，result.content 回传内容。可读、可校验、可审计——和 Agent 第 2 章的 function calling 报文对照看，MCP 是把那「一来一回」标准化成了跨厂商协议。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协议解剖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第 2 章 · 协议解剖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211324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132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65960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用官方 MCP Inspector 连上一个现成 server，手动点一次 tools/list 和 tools/call，看真实报文往返。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6768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433572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3357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88208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对着本章报文，向同事逐字段解释 jsonrpc / id / method / params / result 各是什么、为什么可审计。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19016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655820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5582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410456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拿一个真实工具（如「查订单」），分别设计它作为 Tool、作为 Resource 的形态，说清区别与各自适用场景。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5"/>
          </a:xfrm>
          <a:prstGeom prst="roundRect">
            <a:avLst/>
          </a:prstGeom>
          <a:solidFill>
            <a:srgbClr val="FFF6EA"/>
          </a:solidFill>
          <a:ln w="12700">
            <a:solidFill>
              <a:srgbClr val="E7C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32704"/>
            <a:ext cx="10424160" cy="493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第 1 题重点体会「握手 → 发现 → 调用」的顺序；第 3 题的判断依据是「有没有副作用、由谁触发」——有动作/改状态的是 Tool，纯只读上下文的是 Resource。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2 章 · 动手做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协议解剖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65376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Resources 和 Tools 到底啥区别？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Tools 是模型自主调用、会执行动作、可能改状态（如发邮件）；Resources 是只读上下文、由应用/用户挂载引用（如一个文件）。一个是动词，一个是名词。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49931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32227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为什么还要 Prompts 这个原语？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把「这个工具/场景的最佳用法」固化成模板，用户一键选用，避免每次自己拼提示词——是把专家经验沉淀进 server 的方式。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16782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99078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MCP 用 JSON-RPC，会不会性能不行？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JSON-RPC 只是消息格式，开销极小；性能瓶颈通常在工具后端本身而非协议。它换来的是可读、可审计、语言无关，企业治理上很划算。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83633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65929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Sampling 这些反向能力我要用吗？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多数场景用不到，而且部分（Roots/Sampling）已在新版被弃用。优先用服务端三原语，架构别押在将被取代的特性上。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50484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32780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不同厂商的 MCP 实现能互通吗？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能——只要都遵循同一版规范。报文是标准 JSON-RPC，这正是「协议」的意义：server 和 client 各自实现，跨厂商对接。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协议解剖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A65A"/>
                </a:solidFill>
                <a:latin typeface="Calibri"/>
              </a:rPr>
              <a:t>第 2 章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协议解剖：三角色、原语与报文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三角色：Host 管权限、Client 管连接、Server 管能力；一个 Host 可挂多个 Client，各连一个 Server。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96946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96946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70098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底座是 JSON-RPC 2.0：method + params 一问，result / error 一答，id 配对——简单、语言无关、可审计。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27931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027931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01083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服务端三大原语：Tools（能做什么·有副作用）、Resources（能看什么·只读）、Prompts（怎么用得好·模板）。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58917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058917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32069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反向能力（Sampling/Elicitation/Roots）了解即可，其中几项已被新版弃用；一次 tools/call 就是标准 JSON-RPC 来回。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2 章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第 3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传输与版本演进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290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D6E1E8"/>
                </a:solidFill>
                <a:latin typeface="Cambria"/>
              </a:rPr>
              <a:t>Transport &amp; Protocol 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AF3F5"/>
                </a:solidFill>
                <a:latin typeface="Calibri"/>
              </a:rPr>
              <a:t>同样一套报文，可以「本地进程直连」也可以「走 HTTP 远程」。这一章讲两种传输怎么选，以及 MCP 从 2024 到 2026 一路怎么演进——尤其是本月底转正的「无状态核心」到底改了什么。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3 章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传输与演进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说清两种传输 stdio 与 Streamable HTTP 的差异，判断本地 server 与远程 server 各该用哪种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795778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9577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95778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讲清 MCP 从 2024-11 到 2026-07-28 的五版演进主线，把握「协议在往企业规模化走」的方向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717036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170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717036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解释 2026-07-28「无状态核心」改了什么、为什么它让 server 更容易横向扩容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38294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3829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638294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了解新版三个扩展方向 Extensions、Tasks、MCP Apps，以及「正式弃用政策」对选型的意义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3 章 · 传输与演进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传输与演进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两种传输：stdio 与 Streamable HTTP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55448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74519"/>
            <a:ext cx="1335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维度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1874519"/>
            <a:ext cx="438912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22576" y="1874519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stdio（标准输入输出）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79" y="1874519"/>
            <a:ext cx="4965192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11695" y="1874519"/>
            <a:ext cx="474573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Streamable HTTP（可流式 HTTP）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50008"/>
            <a:ext cx="155448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404872"/>
            <a:ext cx="133502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跑在哪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2350008"/>
            <a:ext cx="438912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22576" y="2404872"/>
            <a:ext cx="4169663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本地：Host 把 server 当子进程拉起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79" y="2350008"/>
            <a:ext cx="4965192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1695" y="2404872"/>
            <a:ext cx="47457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远程：server 是独立 HTTP 服务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31566"/>
            <a:ext cx="155448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986430"/>
            <a:ext cx="133502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适合谁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2931566"/>
            <a:ext cx="438912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22576" y="2986430"/>
            <a:ext cx="4169663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本地工具（读本地文件、跑本地命令）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79" y="2931566"/>
            <a:ext cx="4965192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1695" y="2986430"/>
            <a:ext cx="47457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团队共享、SaaS 化、跨网络的 server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13124"/>
            <a:ext cx="155448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67988"/>
            <a:ext cx="133502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鉴权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3513124"/>
            <a:ext cx="438912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22576" y="3567988"/>
            <a:ext cx="4169663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靠本地进程边界，通常无需额外认证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79" y="3513124"/>
            <a:ext cx="4965192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11695" y="3567988"/>
            <a:ext cx="47457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需要 OAuth 等认证（见第 5 章）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094683"/>
            <a:ext cx="155448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149547"/>
            <a:ext cx="133502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部署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4094683"/>
            <a:ext cx="438912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22576" y="4149547"/>
            <a:ext cx="4169663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随客户端启动，零运维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79" y="4094683"/>
            <a:ext cx="4965192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11695" y="4149547"/>
            <a:ext cx="47457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像普通 Web 服务：容器/函数计算部署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676241"/>
            <a:ext cx="155448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731105"/>
            <a:ext cx="133502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典型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4676241"/>
            <a:ext cx="438912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22576" y="4731105"/>
            <a:ext cx="4169663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filesystem、本地数据库工具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79" y="4676241"/>
            <a:ext cx="4965192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11695" y="4731105"/>
            <a:ext cx="47457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企业内网数据服务、云上托管 server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34924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C0"/>
                </a:solidFill>
                <a:latin typeface="Calibri"/>
              </a:rPr>
              <a:t>选型口诀：只在本机用、碰本地资源 → stdio；要多人/多应用共享、跨网络 → Streamable HTTP。Streamable HTTP 是 2025-03 起取代旧「HTTP+SSE（Server-Sent Events）」的当前标准传输。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传输与演进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传输与演进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同一个协议，两套信任模型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55448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74519"/>
            <a:ext cx="1335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传输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1874519"/>
            <a:ext cx="420624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22576" y="1874519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运行形态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74519"/>
            <a:ext cx="228600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8816" y="1874519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凭据与边界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874519"/>
            <a:ext cx="2862072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14816" y="1874519"/>
            <a:ext cx="264261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信任前提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50008"/>
            <a:ext cx="15544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404872"/>
            <a:ext cx="13350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stdio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2350008"/>
            <a:ext cx="42062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22576" y="2404872"/>
            <a:ext cx="398678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本地子进程，stdout 只发协议报文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350008"/>
            <a:ext cx="22860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404872"/>
            <a:ext cx="206654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凭据走环境变量/本地文件，边界＝进程隔离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2350008"/>
            <a:ext cx="286207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14816" y="2404872"/>
            <a:ext cx="2642615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信任你启动的命令与其来源——「本地」不自动等于安全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319272"/>
            <a:ext cx="1554480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374136"/>
            <a:ext cx="13350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Streamable HTTP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3319272"/>
            <a:ext cx="4206240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22576" y="3374136"/>
            <a:ext cx="398678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单一 endpoint（POST/GET），可选 SSE 流式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319272"/>
            <a:ext cx="2286000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3374136"/>
            <a:ext cx="206654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TLS + Origin 校验 + OAuth（audience 限定），边界＝网络策略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3319272"/>
            <a:ext cx="2862072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14816" y="3374136"/>
            <a:ext cx="2642615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信任网络边界与授权配置——HTTP 也不等于必须公网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288536"/>
            <a:ext cx="15544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343399"/>
            <a:ext cx="13350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怎么选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4288536"/>
            <a:ext cx="42062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22576" y="4343399"/>
            <a:ext cx="398678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本机自用、碰本地资源 → stdio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288536"/>
            <a:ext cx="22860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8816" y="4343399"/>
            <a:ext cx="206654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多人共享、跨网访问 → Streamable HTTP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4288536"/>
            <a:ext cx="286207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14816" y="4343399"/>
            <a:ext cx="2642615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先定信任模型，再选传输形态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34924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C0"/>
                </a:solidFill>
                <a:latin typeface="Calibri"/>
              </a:rPr>
              <a:t>语法相同不代表信任相同：换传输＝换一整套进程/网络/凭据边界——从 stdio 迁到 HTTP 时鉴权设计要重做，不是改个 URL（口径：官方规范 2025-11-25，2026-07-12 核实）。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传输与演进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传输与演进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版本演进主线：从能用到企业级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五版脉络：2024-11 首发 → 2025-03（Streamable HTTP、OAuth 授权）→ 2025-06（Elicitation、结构化输出）→ 2025-11-25（当前稳定版）→ 2026-07-28（无状态核心，本月底转正）。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像一条路从「乡道」逐步拓宽成「高速」：早期解决「能跑通」，后面几版全在解决「多车道、能收费站鉴权、能规模化扩容」——越来越像企业基础设施。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今天生产上用的是 2025-11-25 稳定版；2026-07-28 版 RC 已于 5 月锁定，给 SDK 十周验证窗口，月底正式发布。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给客户的判断：协议在稳步向「企业规模化」演进，且有弃用缓冲机制——方向明确、升级可控，不是朝令夕改。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传输与演进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传输与演进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三个扩展方向：Extensions、Tasks、MCP Apps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Extensions（扩展框架）：把非核心能力拆成独立、可单独版本化的扩展（反向 DNS 命名），核心保持精简、生态各自演进。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Tasks（长任务）：从实验特性转正为官方扩展，支持长时间运行的任务句柄——发起后可查询/更新/取消，不必卡在一次同步调用里。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MCP Apps：server 可下发交互式 HTML 界面，在沙箱 iframe 里渲染，UI 与工具调用走同一套协议——工具不再只是纯文本返回。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加上「正式弃用政策」（Active→Deprecated→Removed，至少 12 个月缓冲），新版给了客户两个安心点：能力可扩展、变更有节奏。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传输与演进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第 3 章 · 传输与演进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211324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132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65960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把同一个 server 分别以 stdio 和 Streamable HTTP 两种方式跑起来，观察客户端配置的差异。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6768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433572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3357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88208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读 2026-07-28 RC 发布说明，用三句话向同事解释「无状态核心」解决了什么运维痛点。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19016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655820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5582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410456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盘点你（或客户）现有集成里有没有依赖 Roots/Sampling/Logging 的地方，评估弃用后的替代方案。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5"/>
          </a:xfrm>
          <a:prstGeom prst="roundRect">
            <a:avLst/>
          </a:prstGeom>
          <a:solidFill>
            <a:srgbClr val="FFF6EA"/>
          </a:solidFill>
          <a:ln w="12700">
            <a:solidFill>
              <a:srgbClr val="E7C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32704"/>
            <a:ext cx="10424160" cy="493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第 1 题体会「本地零运维 vs 远程需鉴权」的区别；第 3 题是给客户做「新版影响评估」的实战——12 个月缓冲期意味着不必慌，但要提前规划。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3 章 · 动手做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传输与演进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65376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我该用 stdio 还是 Streamable HTTP？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本机自用、碰本地资源就用 stdio（零运维）；要多人/多应用共享、跨网络访问就用 Streamable HTTP（像普通 Web 服务部署 + 鉴权）。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49931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32227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月底新版发布，我现在的 server 要立刻改代码吗？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不必立刻。稳定版仍是 2025-11-25，新旧版本有兼容期，SDK 同时支持新旧协议；按 12 个月弃用缓冲从容规划即可。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16782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99078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「无状态」对我意味着什么？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server 更好扩容：不用维护会话粘连，普通负载均衡即可横向扩。对高并发、SaaS 化的企业场景是实打实的利好。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83633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65929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长任务（比如跑十分钟的分析）以前怎么办？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旧版容易卡在同步调用里；新版 Tasks 扩展给了任务句柄，可异步发起、查询进度、取消——长任务终于有了标准姿势。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50484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32780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协议老变，会不会我刚上就过时？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新版引入正式弃用政策：任何特性从弃用到移除至少留 12 个月，且走公开 SEP 演进——变更有节奏、可预期，不是突然断供。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传输与演进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A65A"/>
                </a:solidFill>
                <a:latin typeface="Calibri"/>
              </a:rPr>
              <a:t>第 3 章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传输与版本演进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两种传输：stdio 本地零运维、碰本地资源；Streamable HTTP 远程共享、需鉴权，是当前标准传输。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96946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96946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70098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五版演进主线一路在解决「企业规模化」：传输、授权、结构化输出，直到 2026-07-28 的无状态核心。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27931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027931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01083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无状态核心＝删握手删会话 ID、上下文随请求走，server 像普通 Web 服务一样好扩容，是最实的一步。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58917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058917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32069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新版三扩展（Extensions/Tasks/MCP Apps）+ 正式弃用政策（≥12 个月缓冲）：能力可扩展、变更有节奏。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3 章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第 4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动手写 server 与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290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D6E1E8"/>
                </a:solidFill>
                <a:latin typeface="Cambria"/>
              </a:rPr>
              <a:t>Build a Server &amp;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AF3F5"/>
                </a:solidFill>
                <a:latin typeface="Calibri"/>
              </a:rPr>
              <a:t>前三章讲原理，这一章上手：用官方 Python SDK 从零写一个 MCP server、定义工具、本地调试、接进 Claude 实测，再看看怎么把一个现成的 REST API 最快包成 MCP。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4 章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动手写 server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用官方 Python SDK 写出一个最小可运行的 MCP server，并定义一个带参数的工具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795778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9577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95778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会用 MCP Inspector 在本地调试 server，看 tools/list 与 tools/call 的真实往返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717036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170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717036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把 server 接进 Claude Desktop / 支持 MCP 的客户端，理解配置与授权弹窗的时机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38294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3829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638294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掌握把现有 REST API 快速「包」成 MCP server 的思路，估算一个 server 的开发工作量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4 章 · 动手写 server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动手写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用 Python SDK 写一个最小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4708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8199"/>
                </a:solidFill>
                <a:latin typeface="Calibri"/>
              </a:rPr>
              <a:t>① 安装（稳定版 SDK，FastMCP 风格）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57984"/>
            <a:ext cx="10908792" cy="327355"/>
          </a:xfrm>
          <a:prstGeom prst="roundRect">
            <a:avLst/>
          </a:prstGeom>
          <a:solidFill>
            <a:srgbClr val="0E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10332720" cy="2176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pip install "mcp[cli]"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49931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8199"/>
                </a:solidFill>
                <a:latin typeface="Calibri"/>
              </a:rPr>
              <a:t>② server.py：定义一个工具，几行就跑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60827"/>
            <a:ext cx="10908792" cy="2503627"/>
          </a:xfrm>
          <a:prstGeom prst="roundRect">
            <a:avLst/>
          </a:prstGeom>
          <a:solidFill>
            <a:srgbClr val="0E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5691"/>
            <a:ext cx="10332720" cy="23938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from mcp.server.fastmcp import FastMCP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mcp = FastMCP("demo-weather")   # 起个 server 名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@mcp.tool()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def get_weather(city: str) -&gt; str: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"""查询某城市的当前天气（示例返回假数据）"""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return f"{city}：晴，26°C"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if __name__ == "__main__":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mcp.run()          # 默认走 stdio 传输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629046"/>
            <a:ext cx="10908792" cy="4242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683910"/>
            <a:ext cx="10424160" cy="3145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5A"/>
                </a:solidFill>
                <a:latin typeface="Calibri"/>
              </a:rPr>
              <a:t>解读：</a:t>
            </a:r>
            <a:r>
              <a:rPr sz="1200" b="0" i="0">
                <a:solidFill>
                  <a:srgbClr val="1A2733"/>
                </a:solidFill>
                <a:latin typeface="Calibri"/>
              </a:rPr>
              <a:t>装饰器 @mcp.tool() 会自动把函数签名、类型注解、docstring 转成规范的工具描述（tools/list 里客户端看到的就是它）——所以函数注释要写给「模型」看，写清什么时候用、参数是什么。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动手写 server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动手写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再加资源与提示词，一个 server 三类能力齐活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4708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8199"/>
                </a:solidFill>
                <a:latin typeface="Calibri"/>
              </a:rPr>
              <a:t>资源（只读上下文）：用 URI 模板暴露数据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57984"/>
            <a:ext cx="10908792" cy="980236"/>
          </a:xfrm>
          <a:prstGeom prst="roundRect">
            <a:avLst/>
          </a:prstGeom>
          <a:solidFill>
            <a:srgbClr val="0E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10332720" cy="8705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@mcp.resource("file://readme")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def readme() -&gt; str: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"""把项目 README 作为只读资源提供"""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return open("README.md", encoding="utf-8").read()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028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8199"/>
                </a:solidFill>
                <a:latin typeface="Calibri"/>
              </a:rPr>
              <a:t>提示词（对话模板）：把最佳用法固化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13708"/>
            <a:ext cx="10908792" cy="980236"/>
          </a:xfrm>
          <a:prstGeom prst="roundRect">
            <a:avLst/>
          </a:prstGeom>
          <a:solidFill>
            <a:srgbClr val="0E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68572"/>
            <a:ext cx="10332720" cy="8705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@mcp.prompt()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def code_review(code: str) -&gt; str: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"""生成一段「代码审查」提示词"""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return f"请审查以下代码的安全与性能问题：\n{code}"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758537"/>
            <a:ext cx="10908792" cy="129479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813401"/>
            <a:ext cx="10424160" cy="11850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5A"/>
                </a:solidFill>
                <a:latin typeface="Calibri"/>
              </a:rPr>
              <a:t>解读：</a:t>
            </a:r>
            <a:r>
              <a:rPr sz="1200" b="0" i="0">
                <a:solidFill>
                  <a:srgbClr val="1A2733"/>
                </a:solidFill>
                <a:latin typeface="Calibri"/>
              </a:rPr>
              <a:t>同一个 server 里，@mcp.tool() / @mcp.resource() / @mcp.prompt() 分别对应第 2 章的三大原语。写 server 的核心工作，就是想清楚「哪些是动作(工具)、哪些是只读上下文(资源)、哪些是可复用模板(提示词)」。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动手写 server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动手写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本地调试：MCP Inspector 是你的万用表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MCP Inspector 是官方调试工具：把你的 server 连上，用图形界面手动查看它暴露的工具/资源/提示词，并逐个点击调用、看真实的 JSON-RPC 报文往返。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像电工的万用表：接上就能量出「这根线通不通、电压对不对」——不必先接进大模型，就能验证 server 本身对不对。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命令：npx @modelcontextprotocol/inspector 后连上你的 server，先点 tools/list 确认工具被正确识别，再点 tools/call 传参试跑。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开发顺序：先用 Inspector 把 server 单独调通（排除模型变量），再接进真实客户端——定位问题快一个数量级。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动手写 server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动手写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接进 Claude Desktop：一段配置的事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4708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8199"/>
                </a:solidFill>
                <a:latin typeface="Calibri"/>
              </a:rPr>
              <a:t>在客户端配置文件里登记你的 server（JSON）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57984"/>
            <a:ext cx="10908792" cy="1850745"/>
          </a:xfrm>
          <a:prstGeom prst="roundRect">
            <a:avLst/>
          </a:prstGeom>
          <a:solidFill>
            <a:srgbClr val="0E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10332720" cy="17410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{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"mcpServers": {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"demo-weather": {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  "command": "python",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  "args": ["/abs/path/to/server.py"]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}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}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73321"/>
            <a:ext cx="10908792" cy="1880006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228185"/>
            <a:ext cx="10424160" cy="17702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5A"/>
                </a:solidFill>
                <a:latin typeface="Calibri"/>
              </a:rPr>
              <a:t>解读：</a:t>
            </a:r>
            <a:r>
              <a:rPr sz="1200" b="0" i="0">
                <a:solidFill>
                  <a:srgbClr val="1A2733"/>
                </a:solidFill>
                <a:latin typeface="Calibri"/>
              </a:rPr>
              <a:t>重启客户端后，它会把 demo-weather 当子进程拉起（stdio 传输），你在对话里问「北京天气」，模型就会自主调用 get_weather。首次调用工具时客户端会弹授权确认——这一步就是 Host 在「管权限」（第 2 章的三角色）。远程 server 则改成填 URL + OAuth，见第 5 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动手写 server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第 4 章 · 动手写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211324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132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65960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照本章代码写出 demo-weather server，用 mcp[cli] 跑起来，先用 MCP Inspector 点通 tools/call。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6768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433572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3357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88208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把 server 接进 Claude Desktop（或任一支持 MCP 的客户端），在对话里触发一次工具调用，注意授权弹窗时机。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19016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655820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5582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410456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挑你熟悉的一个现成 REST API，写一个 @mcp.tool() 把它包起来，估算完整做完（含鉴权）大概几人天。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5"/>
          </a:xfrm>
          <a:prstGeom prst="roundRect">
            <a:avLst/>
          </a:prstGeom>
          <a:solidFill>
            <a:srgbClr val="FFF6EA"/>
          </a:solidFill>
          <a:ln w="12700">
            <a:solidFill>
              <a:srgbClr val="E7C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32704"/>
            <a:ext cx="10424160" cy="493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第 1 题务必先过 Inspector 再接模型——把「server 对不对」和「模型会不会用」两件事分开排查。第 3 题的估算就是售前报工作量时的底气来源。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4 章 · 动手做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动手写 server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65376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开发一个 MCP server 到底要多少工作量？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有现成 API 的话，核心是「描述工具 + 转调后端 + 整理返回 + 加鉴权」，一个中等 server 通常几人天；不是重写业务系统。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49931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32227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我们现有的 REST API 怎么最快接进来？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写一层薄 server，每个工具内部转调你的 API、透传参数、整理返回即可，后端不用动——像给 API 套个标准转接头。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16782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99078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工具描述真有那么重要吗？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非常重要。模型靠 tools/list 里的描述决定用不用、怎么传参；描述含糊会导致误调。写 docstring 时要当成「写给模型的产品说明」。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83633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65929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调试很痛苦吗，出了问题怎么定位？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先用官方 MCP Inspector 把 server 单独调通，排除模型变量，再接客户端。分层排查能把定位效率提高一个数量级。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50484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32780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Python 之外的语言能写 server 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能。官方有 Python / TypeScript / Go / C# 等多语言 SDK，协议是标准 JSON-RPC，选你团队顺手的栈即可。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动手写 server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A65A"/>
                </a:solidFill>
                <a:latin typeface="Calibri"/>
              </a:rPr>
              <a:t>第 4 章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动手写 server 与 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用官方 Python SDK（FastMCP 风格），@mcp.tool() 装饰器几行就能定义工具，函数注释即工具描述。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96946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96946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70098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同一个 server 用三种装饰器对应三大原语：工具（动作）、资源（只读）、提示词（模板）。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27931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027931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01083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开发顺序：先用 MCP Inspector 单独把 server 调通，再接进 Claude Desktop 等客户端——分层排查最省时。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58917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058917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32069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最常见落地是把现有 REST API 包一层 MCP：描述+转调+整理+鉴权，几人天量级，不用重写业务。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4 章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第 5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生产落地：鉴权、部署与 Registry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290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D6E1E8"/>
                </a:solidFill>
                <a:latin typeface="Cambria"/>
              </a:rPr>
              <a:t>Production: Auth, Deploy &amp; 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AF3F5"/>
                </a:solidFill>
                <a:latin typeface="Calibri"/>
              </a:rPr>
              <a:t>demo 跑通只是起点。要在企业里用起来，得回答三个问题：远程 server 怎么做鉴权、怎么部署与集中管控、以及去哪儿发现可信的 server——这一章也把「上云怎么落地」摆到台面上。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5 章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生产落地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说清远程 MCP server 的鉴权模型：为什么用 OAuth 2.0 / OIDC（OpenID Connect），授权大致怎么流转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795778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9577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95778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讲清企业级部署形态：server 托管在哪、为什么要一个 MCP 网关做统一管控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717036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170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717036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分清官方 Registry（当前 preview）与企业自建私有 registry 的定位与取舍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38294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3829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638294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把 MCP 各环节对应到主流云服务，能给客户讲「在你们云上怎么落地」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5 章 · 生产落地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生产落地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鉴权：远程 server 为什么要 OAuth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stdio 本地 server 靠进程边界就安全；远程 server 暴露在网络上，必须认证「谁在调、有没有权」。MCP 采用 OAuth 2.0 / OIDC：客户端拿到令牌（token）再访问，server 校验令牌与权限。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像进写字楼：本地 server 是自家客厅（进门即信任）；远程 server 是办公楼，得先在前台换访客证（token），刷卡才能进对应楼层（权限范围）。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现状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2026-07-28 新版进一步向 OAuth/OIDC 对齐：客户端要校验令牌签发方（iss）、注册时声明应用类型、凭据绑定签发方——都是在堵「令牌被张冠李戴」的坑。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给客户的话术：远程 MCP 的鉴权就是标准 OAuth，能直接对接你现有的 IAM（Identity and Access Management） / 身份体系，不是另起一套。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生产落地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部署与管控：为什么要一个 MCP 网关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企业里 server 会越来越多、还有员工想接外部 server。MCP 网关（gateway）在客户端与众多 server 之间做统一入口：集中认证、限流、审计、按策略放行/拦截。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像公司的「统一收发室」：所有进出的包裹（MCP 流量）都过这里登记、安检、留档，而不是每个工位各收各的、无人管。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有了网关，就能统一实现「这个部门只能用这几个 server」「所有调用留审计日志」「外部 server 先过白名单」——治理有着落。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部署形态：server 用容器/函数计算跑，前面挂网关做集中管控——把 MCP 流量纳入现有 API 治理体系，不另起炉灶。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生产落地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去哪儿发现 server：官方 Registry vs 私有 registry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官方 MCP Registry 是集中的「服务器元数据仓库」：记录每个公开 server 叫什么、在哪、怎么装（反向 DNS 命名 + 域名/GitHub 验证属主）。注意——它目前仍是 preview，未 GA，可能有破坏性变更。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像「应用商店的货架说明卡」：只登记「这个 app 叫什么、去哪下」，本身不托管代码（代码在 npm/PyPI/Docker），也不替你做安全审查。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关键限制：官方 Registry 不收私有 server。企业内网的 server 要自建私有 registry（可实现同一套 OpenAPI 接口，复用生态工具）来管理与分发。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给客户的判断：公开生态查官方 Registry，企业内部一定要自建私有 registry——这是数据不出门与合规的必然要求。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生产落地 · 上云怎么落地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上云怎么落地：MCP 各环节对应的云能力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55448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74519"/>
            <a:ext cx="1335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技术环节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1874519"/>
            <a:ext cx="576072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22576" y="1874519"/>
            <a:ext cx="5541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代表性做法（多厂商，非绑定）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1874519"/>
            <a:ext cx="3593592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83296" y="1874519"/>
            <a:ext cx="337413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给客户一句话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50008"/>
            <a:ext cx="155448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404872"/>
            <a:ext cx="133502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Server 托管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2350008"/>
            <a:ext cx="576072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22576" y="2404872"/>
            <a:ext cx="554126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函数计算 / 容器服务跑自建 server；主流云与平台提供托管 MCP 运行时与目录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350008"/>
            <a:ext cx="3593592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2404872"/>
            <a:ext cx="33741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server 就是个小服务，云上部署走熟路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31566"/>
            <a:ext cx="155448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986430"/>
            <a:ext cx="133502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统一鉴权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2931566"/>
            <a:ext cx="576072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22576" y="2986430"/>
            <a:ext cx="554126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API 网关 + OAuth，对接各云 IAM 做认证、限流、审计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931566"/>
            <a:ext cx="3593592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3296" y="2986430"/>
            <a:ext cx="33741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把 MCP 流量纳入现有 API 治理，不另起炉灶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13124"/>
            <a:ext cx="155448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67988"/>
            <a:ext cx="133502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远程接入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3513124"/>
            <a:ext cx="576072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22576" y="3567988"/>
            <a:ext cx="554126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Cloudflare 等提供远程 MCP 托管与 Streamable HTTP 出口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3513124"/>
            <a:ext cx="3593592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3296" y="3567988"/>
            <a:ext cx="33741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远程 server 像普通 Web 服务一样上线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094683"/>
            <a:ext cx="155448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149547"/>
            <a:ext cx="133502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现成生态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4094683"/>
            <a:ext cx="576072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22576" y="4149547"/>
            <a:ext cx="554126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官方 servers 仓库 + 各厂商官方 server（数据库、SaaS 类）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4094683"/>
            <a:ext cx="3593592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296" y="4149547"/>
            <a:ext cx="33741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先用现成的，只为私有系统写自己的 server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676241"/>
            <a:ext cx="155448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731105"/>
            <a:ext cx="133502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私有目录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4676241"/>
            <a:ext cx="576072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22576" y="4731105"/>
            <a:ext cx="554126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自建私有 registry（实现官方 OpenAPI 接口）管理内部 server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4676241"/>
            <a:ext cx="3593592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83296" y="4731105"/>
            <a:ext cx="33741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内部 server 数据不出门、集中可控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34924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C0"/>
                </a:solidFill>
                <a:latin typeface="Calibri"/>
              </a:rPr>
              <a:t>以上为「有真实云关联」才列；同一环节给多厂商代表性选项，不绑死单一供应商。服务能力以各云 2026 年现状为准（如 AWS Bedrock AgentCore Runtime 托管 MCP、AgentCore Gateway 把 API 转成 MCP 工具；Google 侧 Apigee 作 API→MCP 桥、Gemini Enterprise 平台；Cloudflare 远程 MCP 等）。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第 5 章 · 生产落地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211324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132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65960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给第 4 章的 server 换成 Streamable HTTP 远程形态，加一个最简单的 token 校验，体会本地与远程的鉴权差异。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6768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433572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3357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88208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画一张你（或客户）公司的目标架构图：客户端 → MCP 网关 → 若干 server，标出认证、审计、白名单在哪一层。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19016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655820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5582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410456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在官方 MCP Registry 上查 3 个公开 server 的元数据，再设想：哪些内部 server 必须放进你自建的私有 registry。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5"/>
          </a:xfrm>
          <a:prstGeom prst="roundRect">
            <a:avLst/>
          </a:prstGeom>
          <a:solidFill>
            <a:srgbClr val="FFF6EA"/>
          </a:solidFill>
          <a:ln w="12700">
            <a:solidFill>
              <a:srgbClr val="E7C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32704"/>
            <a:ext cx="10424160" cy="493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第 2 题是售前最常画的一张图——把「集中管控」落到具体层次；第 3 题的判断线是「涉不涉及内部数据/私有网络」，涉及就必须私有 registry。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5 章 · 动手做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生产落地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65376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远程 server 的权限怎么管，安全吗？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走标准 OAuth 2.0 / OIDC：客户端持令牌访问、server 校验权限，能直接对接你现有 IAM。新版还强化了令牌签发方校验，堵张冠李戴的坑。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49931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32227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员工乱接外面的 server 怎么治？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上 MCP 网关做统一入口：白名单放行、集中审计、按部门限权。别让每个客户端各连各的、无人管控。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16782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99078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我们内部系统的 server 能放到官方 Registry 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不能，官方 Registry 只收公开 server 且仍是 preview。内部 server 要自建私有 registry，数据不出门、集中管理。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83633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65929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官方 Registry 能直接当企业应用商店用吗？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不建议。它只是「元数据货架」，不托管代码、不做安全审查，且未 GA。企业该在它之上做私有目录 + 自己的审查与治理。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50484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32780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这些东西在我们云上落地难吗？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不难。server 是普通小服务（容器/函数计算），鉴权用 API 网关 + IAM，主流云还有托管 MCP 运行时和 API→MCP 网关——多是现成能力。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A65A"/>
                </a:solidFill>
                <a:latin typeface="Calibri"/>
              </a:rPr>
              <a:t>第 5 章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生产落地：鉴权、部署与 Registry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远程 server 用标准 OAuth 2.0 / OIDC 鉴权，能对接现有 IAM；新版强化令牌签发方校验，堵张冠李戴。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96946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96946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70098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部署：server 用容器/函数计算跑，前面挂 MCP 网关做集中认证、限流、审计、白名单——纳入现有 API 治理。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27931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027931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01083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官方 Registry 是公开 server 的「元数据货架」（仍 preview、不托管代码、不审查、不收私有 server）。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58917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058917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32069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企业内部 server 必须自建私有 registry；MCP 各环节都能对应到主流云的现成能力，落地走熟路。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5 章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第 6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安全：威胁面与防护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290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D6E1E8"/>
                </a:solidFill>
                <a:latin typeface="Cambria"/>
              </a:rPr>
              <a:t>Security: Threats &amp; Defenses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AF3F5"/>
                </a:solidFill>
                <a:latin typeface="Calibri"/>
              </a:rPr>
              <a:t>MCP 让工具即插即用，也把「插进来的东西可信吗」变成头等问题。2026 年这一年 MCP 生态爆出 40 多个 CVE（Common Vulnerabilities and Exposures）。这一章把威胁面讲透，再给一套能对客户复述的防护组合拳。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6 章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安全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讲清 MCP 特有的几类威胁：工具投毒、rug pull、confused deputy、裸奔 server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795778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9577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95778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用 2026 年真实数据（40+ CVE、投毒成功率）说明风险不是理论，而是已发生的事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717036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170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717036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掌握 NSA / CISA 官方安全设计指引的要点，作为给客户的合规对标依据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38294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3829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638294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背下一套「防护组合拳」，被客户追问安全时能当场给出可落地的措施清单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6 章 · 安全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威胁面全景：MCP 特有的几类坑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工具投毒（Tool Poisoning）：恶意 server 把攻击指令藏在「工具描述」里，客户端一连上、模型一读描述就被注入——发生在任何实际调用之前。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地毯式抽换（Rug Pull）：一开始是正常 server，赢得信任后偷偷把工具行为/描述改成恶意——「先立牌坊后作恶」。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风险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混淆代理（Confused Deputy）：server 借用客户端/用户的权限去做用户没授权的事，权限被越权放大。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裸奔 server：把 server 无鉴权直接暴露公网，等于把内部能力开放给所有人——Trend Micro 报告这类问题已蔓延到云端。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安全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风险有多真实：2026 年的一本账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体量：2026 年 1–4 月，MCP 生态披露 40+ CVE，横跨 Python/TS/Java/Rust 各 SDK 与参考实现，受影响组件合计下载量约 1.5 亿——连官方参考 server 也中招。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标志性案例：mcp-remote 的 CVE-2025-6514（恶意端点经构造授权 URL 达成远程执行）；官方 mcp-server-git 的三连漏洞（路径校验绕过 + 不受限 init + 参数注入）可链式利用。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现状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投毒有多好使：MCPTox 基准在开启「自动批准」的场景下，工具投毒攻击成功率高达 84.2%——「自动同意」几乎等于「自动沦陷」。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给客户的定调：MCP 的安全风险不是「理论上可能」，而是「已经大规模发生」——但都有对应防护，关键是默认就要设防。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安全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官方背书：NSA / CISA 安全设计指引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2026 年 6 月，NSA / CISA 等发布《MCP: Security Design Considerations》——从架构设计角度给出 MCP 安全建议，覆盖认证授权、供应链可信、注入面防护、部署边界等。（本模块 ebooks/ 已归档该 PDF。）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像行业主管部门发的「施工安全规范」：不保证你不出事，但照着做就有了合规对标的依据，出事也说得清「我按标准做了」。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售前用法：客户问「你们凭什么说 MCP 能安全落地」，可直接引用这份官方指引作背书，并对照说明「我们的方案覆盖了其中哪几条」。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有权威指引这件事本身就是价值信号：说明 MCP 已进入「被认真对待、有官方规范」的成熟阶段。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安全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防护组合拳：克制比聪明更重要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防护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最小权限：每个 server 只给完成任务所需的最小权限与数据范围；能只读就别给写。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防护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人在环上：高危操作（删数据、发钱、对外发消息）默认要人工审批，绝不开「全自动批准」——直接把投毒成功率打下来。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防护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来源可信 + 固定：只用可信来源的 server，锁定版本（tool pinning），警惕 rug pull；连接前审查工具描述。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防护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集中管控 + 审计：走 MCP 网关统一认证/限流/留痕，别裸暴露公网；持续监控异常调用——对齐 NSA/CISA 指引。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安全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第 6 章 · 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211324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132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65960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找一个 server 的工具描述，试着以「攻击者视角」在里面藏一句诱导指令，理解工具投毒为什么防不胜防。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6768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433572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3357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88208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给你的 agent 关掉「自动批准」、给高危工具加人工确认，对比开关前后的安全姿态。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19016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655820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5582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410456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对照 NSA/CISA 指引，给一个真实 MCP 方案做一次「安全自查表」，逐条打勾或标注缺口。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5"/>
          </a:xfrm>
          <a:prstGeom prst="roundRect">
            <a:avLst/>
          </a:prstGeom>
          <a:solidFill>
            <a:srgbClr val="FFF6EA"/>
          </a:solidFill>
          <a:ln w="12700">
            <a:solidFill>
              <a:srgbClr val="E7C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32704"/>
            <a:ext cx="10424160" cy="493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第 1 题让你亲身体会「描述即攻击面」；第 2 题印证 84.2% 那个数字的现实意义；第 3 题产出的自查表，就是售前应对客户安全评审时最有力的交付物。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6 章 · 动手做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安全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65376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接了 MCP，会不会把我们的数据泄出去？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风险可控。内部 server 部署在私有网络+私有 registry、数据不出门；配合最小权限、网关审计、人工审批，可把暴露面压到最小。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49931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32227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工具投毒听起来很吓人，怎么防？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三招：只用可信来源 server 并锁版本、连接前审查工具描述、关掉「自动批准」给高危操作加人工确认——最后一招最立竿见影。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16782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99078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你们平台怎么防恶意 / 被篡改的 server？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来源白名单 + 版本固定防 rug pull，MCP 网关集中认证与审计，最小权限限制越权（confused deputy），并对照 NSA/CISA 官方指引自查。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83633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65929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MCP 出了这么多 CVE，还能用吗？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能，且要用对姿势。CVE 多恰恰说明它被广泛使用、被认真审视；官方已有安全指引和修复机制，关键是默认设防、及时更新。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50484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32780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最容易被忽视、也最致命的错误是什么？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把 server 无鉴权裸暴露公网，以及图省事开「全自动批准」。这两条几乎是事故直通车，也是最容易避免的。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安全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A65A"/>
                </a:solidFill>
                <a:latin typeface="Calibri"/>
              </a:rPr>
              <a:t>第 6 章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安全：威胁面与防护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MCP 特有威胁：工具投毒（描述即攻击面）、rug pull（先立信后作恶）、confused deputy（越权）、裸奔 server。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96946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96946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70098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风险已大规模发生：2026 年 1–4 月 40+ CVE、官方参考实现也中招、自动批准下投毒成功率 84.2%。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27931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027931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01083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NSA/CISA 2026-06 官方安全设计指引已就位（ebooks/ 已归档），是给客户的合规对标与背书依据。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58917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058917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32069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防护组合拳：最小权限 + 人在环上（关自动批准）+ 来源可信并锁版本 + 网关集中管控与审计——克制优先。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6 章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高频问题速查：六章对练的电梯版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MCP 和 Function Calling 什么关系？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13248" y="169164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不替代：FC 是「会用手」，MCP 是「统一插座」（第 1 章）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会被 Anthropic 锁定吗？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13248" y="224028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已捐 AAIF 中立治理，主流厂商与云都支持（第 1 章）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Tools 和 Resources 区别？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3248" y="278892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动词 vs 名词：模型自主调用 vs 只读挂载（第 2 章）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stdio 还是 Streamable HTTP？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3248" y="333756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本机自用 stdio；多人共享/跨网络走 HTTP + 鉴权（第 3 章）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几百个内部 API 都要重写吗？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3248" y="388620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不用：薄包装层转调即可，功夫在把描述写清（第 4 章）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员工乱接外部 server 怎么治？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443484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MCP 网关统一入口：白名单 + 集中审计 + 按部门限权（第 5 章）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83479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工具投毒怎么防？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4983479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可信来源锁版本 + 审查工具描述 + 关掉自动批准（第 6 章）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3212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CVE 这么多还能用吗？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553212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能：默认设防 + 及时更新；裸暴露公网与全自动批准才是事故直通车（第 6 章）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6016752"/>
            <a:ext cx="10908792" cy="4754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6089904"/>
            <a:ext cx="104241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用法：</a:t>
            </a:r>
            <a:r>
              <a:rPr sz="1200" b="0">
                <a:solidFill>
                  <a:srgbClr val="1A2733"/>
                </a:solidFill>
                <a:latin typeface="Calibri"/>
              </a:rPr>
              <a:t>每条 15 秒说完；被追问再翻对应章完整对练页。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上手路径与排错速查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2679192" cy="141732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874519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① stdio 起步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286000"/>
            <a:ext cx="2377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AF3F5"/>
                </a:solidFill>
                <a:latin typeface="Calibri"/>
              </a:rPr>
              <a:t>本机跑通最小 server，零运维验证价值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1737360"/>
            <a:ext cx="2679192" cy="141732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66744" y="1874519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② Inspector 调通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2286000"/>
            <a:ext cx="2377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AF3F5"/>
                </a:solidFill>
                <a:latin typeface="Calibri"/>
              </a:rPr>
              <a:t>官方调试器单测工具，排除模型变量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1737360"/>
            <a:ext cx="2679192" cy="141732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874519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③ HTTP 化 + 鉴权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286000"/>
            <a:ext cx="2377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AF3F5"/>
                </a:solidFill>
                <a:latin typeface="Calibri"/>
              </a:rPr>
              <a:t>OAuth/OIDC 接现有 IAM，像 Web 服务部署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26296" y="1737360"/>
            <a:ext cx="2679192" cy="141732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90888" y="1874519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④ 网关治理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0888" y="2286000"/>
            <a:ext cx="2377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AF3F5"/>
                </a:solidFill>
                <a:latin typeface="Calibri"/>
              </a:rPr>
              <a:t>白名单、审计、限权——规模化的前提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排错三板斧 + 安全五条：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排错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931920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先 Inspector 单测 server → 再接客户端分层定位 → 最后查工具描述是否让模型误调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34256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安全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334256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server 永不无鉴权裸暴露公网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36592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安全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736592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高危操作关「自动批准」，加人工确认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138928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安全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138928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来源白名单 + 版本固定，防投毒与 rug pull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541264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安全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541264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内部 server 用私有 registry，数据不出门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436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安全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943600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对照 NSA/CISA 官方指引自查（书单第 9 项）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版本口径与串联地图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920240" cy="47548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稳定版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792224"/>
            <a:ext cx="87782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2025-11-25 规范：生产可用的当前基线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04288"/>
            <a:ext cx="1920240" cy="47548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新版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359152"/>
            <a:ext cx="87782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2026-07-28 发布（RC 已出）：无状态核心、Tasks 长任务扩展——主打规模化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71215"/>
            <a:ext cx="1920240" cy="47548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弃用政策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926079"/>
            <a:ext cx="87782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任何特性从弃用到移除至少 12 个月缓冲，走公开 SEP 演进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38144"/>
            <a:ext cx="1920240" cy="47548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售前话术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493008"/>
            <a:ext cx="87782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「现在建不会过时：兼容期充足、SDK 双版本支持、按缓冲期从容升级」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串联地图：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E4D64"/>
                </a:solidFill>
                <a:latin typeface="Calibri"/>
              </a:rPr>
              <a:t>Agent 第 4 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617720"/>
            <a:ext cx="8412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入口视角：智能体为什么需要标准接口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56631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E4D64"/>
                </a:solidFill>
                <a:latin typeface="Calibri"/>
              </a:rPr>
              <a:t>AI-Gateway 第 7 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056631"/>
            <a:ext cx="8412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运营层：MCP 流量的代理、鉴权、限流、审计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95544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E4D64"/>
                </a:solidFill>
                <a:latin typeface="Calibri"/>
              </a:rPr>
              <a:t>A2A（Agent2Agent） 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5495544"/>
            <a:ext cx="8412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协议层兄弟：MCP 接工具（纵向），A2A 接 Agent（横向）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3445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E4D64"/>
                </a:solidFill>
                <a:latin typeface="Calibri"/>
              </a:rPr>
              <a:t>Security 第 5 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934456"/>
            <a:ext cx="8412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工具投毒 / confused deputy 的防护弹药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A65A"/>
                </a:solidFill>
                <a:latin typeface="Calibri"/>
              </a:rPr>
              <a:t>全书串联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本模块与知识库的串联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10424160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2A65A"/>
                </a:solidFill>
                <a:latin typeface="Calibri"/>
              </a:rPr>
              <a:t>与 Agent 模块 · 真实实链  </a:t>
            </a:r>
            <a:r>
              <a:rPr sz="1300" b="0" i="0">
                <a:solidFill>
                  <a:srgbClr val="EAF3F5"/>
                </a:solidFill>
                <a:latin typeface="Calibri"/>
              </a:rPr>
              <a:t>Agent 第 4 章讲「智能体为什么需要标准接口」，本模块讲「这标准本身怎么用好」——同一件事的动机端与实现端，互为实链接。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96946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96946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88386"/>
            <a:ext cx="10424160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2A65A"/>
                </a:solidFill>
                <a:latin typeface="Calibri"/>
              </a:rPr>
              <a:t>与 RAG（Retrieval-Augmented Generation） 模块 · 弱关联  </a:t>
            </a:r>
            <a:r>
              <a:rPr sz="1300" b="0" i="0">
                <a:solidFill>
                  <a:srgbClr val="EAF3F5"/>
                </a:solidFill>
                <a:latin typeface="Calibri"/>
              </a:rPr>
              <a:t>检索也可以包成一个 MCP 工具；RAG 建好的知识库，在 agent 眼里就是一个可调用的 server。点到为止，不强串。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27931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027931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9371"/>
            <a:ext cx="10424160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2A65A"/>
                </a:solidFill>
                <a:latin typeface="Calibri"/>
              </a:rPr>
              <a:t>对外一句话  </a:t>
            </a:r>
            <a:r>
              <a:rPr sz="1300" b="0" i="0">
                <a:solidFill>
                  <a:srgbClr val="EAF3F5"/>
                </a:solidFill>
                <a:latin typeface="Calibri"/>
              </a:rPr>
              <a:t>MCP 是把 Agent 的「工具使用」标准化、跨厂商化的那一层——理解 MCP，就理解了智能体生态的「接线规范」。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58917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058917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50357"/>
            <a:ext cx="10424160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2A65A"/>
                </a:solidFill>
                <a:latin typeface="Calibri"/>
              </a:rPr>
              <a:t>预留  </a:t>
            </a:r>
            <a:r>
              <a:rPr sz="1300" b="0" i="0">
                <a:solidFill>
                  <a:srgbClr val="EAF3F5"/>
                </a:solidFill>
                <a:latin typeface="Calibri"/>
              </a:rPr>
              <a:t>第 6 章安全 ↔ 未来 Evaluation / 安全模块的评测与指标体系，待相应模块建成后补实链，本次不强凑。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全书串联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A65A"/>
                </a:solidFill>
                <a:latin typeface="Calibri"/>
              </a:rPr>
              <a:t>总收束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把 MCP 讲给客户，一句话记住每一章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75104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① 是什么：MCP ＝ AI 世界的 USB-C——把 M×N 定制对接塌缩成 M+N，工具与应用解耦、随处可插。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42616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② 协议解剖：Host 管权限 / Client 管连接 / Server 管能力；JSON-RPC 作底座；三原语 工具·资源·提示词。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64992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19856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③ 传输与演进：本地 stdio / 远程 Streamable HTTP；2026-07-28 无状态核心让 server 像普通 Web 服务好扩容。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87368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42231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④ 动手写：Python SDK 装饰器几行定义工具；先用 Inspector 调通再接客户端；把现有 REST API 包一层即可。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09744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64607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⑤ 生产落地：远程走 OAuth 对接 IAM；网关集中管控；公开查官方 Registry、内部自建私有 registry。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532120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86983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⑥ 安全：投毒/rug pull/越权/裸奔是主坑；默认设防——最小权限 + 关自动批准 + 锁版本 + 网关审计。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总收束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A65A"/>
                </a:solidFill>
                <a:latin typeface="Calibri"/>
              </a:rPr>
              <a:t>生产验收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上线前把五条验收线走一遍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75104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① 版本与协商：锁定稳定基线（2025-11-25）、能力协商取交集、未知能力要拒绝——证据：初始化记录、版本兼容表、错误路径用例（第 3 章）。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42616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② 身份与授权：Origin 校验、token audience 限定、scope 最小化、后端二次授权——证据：负向测试、策略日志、审计记录（第 5 章）。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64992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19856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③ 供应链与工具安全：server 来源可信、版本哈希锁定、副作用受控、高危操作要确认——证据：来源清单、红队用例、审批与补偿记录（第 6 章）。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87368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42231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④ 可靠性：超时、限流、熔断、容量、故障恢复——证据：压测报告、告警配置、演练记录（第 5 章）。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09744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64607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⑤ 业务质量：输出正确、权限正确、用户可验收——证据：评测集、人工抽检、反馈闭环（Evaluation 模块）。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532120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86983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终极判断：任意一次调用都能回放「谁、经哪个版本、调了什么、为何被允许、结果如何」——Inspector 里调通只是联调，不是生产结论。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生产验收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2 章 · 协议解剖 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三个角色：Host 管权限、Client 管连接、Server 管能力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一个 Host 里可挂多个 Client，每个 Client 一对一连一个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120640" cy="30632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95728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Host（主机）= 用户面对的 AI 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24912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管权限与用户交互 · 「老板」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324612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Client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连接器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一对一维护会话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324612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Server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993C1D"/>
                </a:solidFill>
                <a:latin typeface="Calibri"/>
                <a:ea typeface="Calibri"/>
              </a:rPr>
              <a:t>filesystem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文件系统 · 提供能力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3675887"/>
            <a:ext cx="5440680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34440" y="429768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Client 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连接器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一对一维护会话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429768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Server 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993C1D"/>
                </a:solidFill>
                <a:latin typeface="Calibri"/>
                <a:ea typeface="Calibri"/>
              </a:rPr>
              <a:t>GitHub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代码仓库 · 提供能力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08960" y="4727448"/>
            <a:ext cx="5440680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06240" y="2926080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1606E"/>
                </a:solidFill>
                <a:latin typeface="Calibri"/>
                <a:ea typeface="Calibri"/>
              </a:rPr>
              <a:t>各起一个 client、专线连一个 server，互不干扰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32120"/>
            <a:ext cx="10908792" cy="777240"/>
          </a:xfrm>
          <a:prstGeom prst="roundRect">
            <a:avLst>
              <a:gd name="adj" fmla="val 4000"/>
            </a:avLst>
          </a:prstGeom>
          <a:solidFill>
            <a:srgbClr val="FEFEFE"/>
          </a:solidFill>
          <a:ln w="12700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53212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像公司里：Host 是「老板」(决定做不做、担责任)，Client 是「对接专员」(每个供应商配一个、专线沟通)，Server 是「供应商」(提供具体能力)。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MCP 讲义 · 模型上下文协议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2 章 · 协议解剖 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一次连接怎么开始：先握手、再发现、后调用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像新员工入职：先对表(你会什么、我要什么)，再领「能干哪些活」的清单，然后才派活干活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08760" y="2331720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Client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客户端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2331720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993C1D"/>
                </a:solidFill>
                <a:latin typeface="Calibri"/>
                <a:ea typeface="Calibri"/>
              </a:rPr>
              <a:t>Server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993C1D"/>
                </a:solidFill>
                <a:latin typeface="Calibri"/>
                <a:ea typeface="Calibri"/>
              </a:rPr>
              <a:t>服务端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990087"/>
            <a:ext cx="0" cy="1856233"/>
          </a:xfrm>
          <a:prstGeom prst="line">
            <a:avLst/>
          </a:prstGeom>
          <a:ln w="19050">
            <a:solidFill>
              <a:srgbClr val="D6E1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326880" y="2990087"/>
            <a:ext cx="0" cy="1856233"/>
          </a:xfrm>
          <a:prstGeom prst="line">
            <a:avLst/>
          </a:prstGeom>
          <a:ln w="19050">
            <a:solidFill>
              <a:srgbClr val="D6E1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34640" y="3291839"/>
            <a:ext cx="6400800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26080" y="2980944"/>
            <a:ext cx="6217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① initialize 握手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337559"/>
            <a:ext cx="6217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1606E"/>
                </a:solidFill>
                <a:latin typeface="Calibri"/>
                <a:ea typeface="Calibri"/>
              </a:rPr>
              <a:t>双方交换协议版本与能力清单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34640" y="4023360"/>
            <a:ext cx="6400800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26080" y="3712464"/>
            <a:ext cx="6217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② 能力发现 tools/list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069080"/>
            <a:ext cx="6217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1606E"/>
                </a:solidFill>
                <a:latin typeface="Calibri"/>
                <a:ea typeface="Calibri"/>
              </a:rPr>
              <a:t>拉取 tools / resources / prompts 清单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34640" y="4709160"/>
            <a:ext cx="6400800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6080" y="4398264"/>
            <a:ext cx="6217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③ tools/call 正常调用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754880"/>
            <a:ext cx="6217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1606E"/>
                </a:solidFill>
                <a:latin typeface="Calibri"/>
                <a:ea typeface="Calibri"/>
              </a:rPr>
              <a:t>按需调用，能力协商避免瞎调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12080"/>
            <a:ext cx="10908792" cy="105156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30952"/>
            <a:ext cx="104241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先握手对齐能力、再发现、后调用——能力协商让 client 只去拉 server 支持的那几类。</a:t>
            </a:r>
          </a:p>
          <a:p>
            <a:pPr algn="l"/>
            <a:r>
              <a:rPr sz="1050" b="0" i="1">
                <a:solidFill>
                  <a:srgbClr val="993C1D"/>
                </a:solidFill>
                <a:latin typeface="Calibri"/>
                <a:ea typeface="Calibri"/>
              </a:rPr>
              <a:t>注：2026-07-28 新版把这套握手改成「无状态」(下一张细讲)，但理解经典三步仍是基础。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MCP 讲义 · 模型上下文协议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传输与演进  STATELESS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无状态核心：2026-07-28 最大的一次改动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把协议核心改成「无状态」：删掉 initialize 握手和会话 ID，改由每个请求自带全部上下文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4937760" cy="2743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51606E"/>
                </a:solidFill>
                <a:latin typeface="Calibri"/>
                <a:ea typeface="Calibri"/>
              </a:rPr>
              <a:t>旧 · 有状态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24912"/>
            <a:ext cx="4480560" cy="2057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· initialize 握手 + 会话 ID</a:t>
            </a:r>
          </a:p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· 先拨专线、整通话认一个座席</a:t>
            </a:r>
          </a:p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· 要 sticky session / 共享会话存储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「会话归哪台机器」得一直记着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48840"/>
            <a:ext cx="4937760" cy="2743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28600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993C1D"/>
                </a:solidFill>
                <a:latin typeface="Calibri"/>
                <a:ea typeface="Calibri"/>
              </a:rPr>
              <a:t>新 · 无状态（2026-07-28）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724912"/>
            <a:ext cx="4480560" cy="2057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· 每个请求自带版本 + 客户端信息</a:t>
            </a:r>
          </a:p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· 每封信写全地址，谁收都能处理</a:t>
            </a:r>
          </a:p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· 前面挂个普通轮询负载均衡就行</a:t>
            </a:r>
          </a:p>
          <a:p>
            <a:pPr algn="l"/>
            <a:r>
              <a:rPr sz="1100" b="0" i="0">
                <a:solidFill>
                  <a:srgbClr val="993C1D"/>
                </a:solidFill>
                <a:latin typeface="Calibri"/>
                <a:ea typeface="Calibri"/>
              </a:rPr>
              <a:t>· 任意请求打任意实例，扩容大简化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06440" y="3520440"/>
            <a:ext cx="576072" cy="0"/>
          </a:xfrm>
          <a:prstGeom prst="line">
            <a:avLst/>
          </a:prstGeom>
          <a:ln w="317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5120640"/>
            <a:ext cx="10908792" cy="11430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48656"/>
            <a:ext cx="104241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给客户一句话：新版让 MCP server 像普通无状态 Web 服务一样好扩容——这是「向企业规模化倾斜」最实的一步。</a:t>
            </a:r>
          </a:p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（时效性重点：2026-07-28 生效，保鲜巡检优先复查此项。）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MCP 讲义 · 模型上下文协议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3 章 · 传输与演进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4 章 · 动手写 server 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把现有 REST API 包成 MCP：最常见的落地姿势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像给老电器配一个 USB-C 转接头：后端不用改，套一层标准口就能插进所有 MCP 客户端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50" b="1" i="0">
                <a:solidFill>
                  <a:srgbClr val="1A2733"/>
                </a:solidFill>
                <a:latin typeface="Calibri"/>
                <a:ea typeface="Calibri"/>
              </a:rPr>
              <a:t>现有 REST API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已有后端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不用改、不重写业务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697480"/>
            <a:ext cx="2834640" cy="141732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50" b="1" i="0">
                <a:solidFill>
                  <a:srgbClr val="FFFFFF"/>
                </a:solidFill>
                <a:latin typeface="Calibri"/>
                <a:ea typeface="Calibri"/>
              </a:rPr>
              <a:t>MCP 包装层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</a:rPr>
              <a:t>@mcp.tool()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EAF3F5"/>
                </a:solidFill>
                <a:latin typeface="Calibri"/>
                <a:ea typeface="Calibri"/>
              </a:rPr>
              <a:t>描述 + 转调 + 整理返回 + 鉴权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26974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50" b="1" i="0">
                <a:solidFill>
                  <a:srgbClr val="993C1D"/>
                </a:solidFill>
                <a:latin typeface="Calibri"/>
                <a:ea typeface="Calibri"/>
              </a:rPr>
              <a:t>MCP 客户端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993C1D"/>
                </a:solidFill>
                <a:latin typeface="Calibri"/>
                <a:ea typeface="Calibri"/>
              </a:rPr>
              <a:t>处处可接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Claude / IDE / 自研平台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01568" y="3401568"/>
            <a:ext cx="1243584" cy="0"/>
          </a:xfrm>
          <a:prstGeom prst="line">
            <a:avLst/>
          </a:prstGeom>
          <a:ln w="2540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516368" y="3401568"/>
            <a:ext cx="1243584" cy="0"/>
          </a:xfrm>
          <a:prstGeom prst="line">
            <a:avLst/>
          </a:prstGeom>
          <a:ln w="25400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83280" y="4160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128199"/>
                </a:solidFill>
                <a:latin typeface="Calibri"/>
                <a:ea typeface="Calibri"/>
              </a:rPr>
              <a:t>套一层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00600"/>
            <a:ext cx="10908792" cy="14630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10424160" cy="1325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案例：已有「查订单」REST 接口 → 写一个 query_order 工具，内部 requests.get 调它、把 JSON 挑关键字段返回。中等复杂度 server 通常几天上手。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给客户的工作量口径：有现成 API 时，MCP 化主要是「描述 + 转调 + 整理 + 鉴权」，不是重写业务——门槛比想象低。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MCP 讲义 · 模型上下文协议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4 章 · 动手写 server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 章 · 是什么 / 为什么  MCP = USB-C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MCP 是什么：给大模型装一个「USB-C」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一套开放标准——规定 AI 应用与外部工具「怎么发现能力、怎么调用、怎么回传结果」，用同一种语言对话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4663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USB-C 之前：每个设备一根专用线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743200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充电线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743200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51606E"/>
                </a:solidFill>
                <a:latin typeface="Calibri"/>
                <a:ea typeface="Calibri"/>
              </a:rPr>
              <a:t>各不通用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291840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数据线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291840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51606E"/>
                </a:solidFill>
                <a:latin typeface="Calibri"/>
                <a:ea typeface="Calibri"/>
              </a:rPr>
              <a:t>各不通用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840480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视频线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3840480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51606E"/>
                </a:solidFill>
                <a:latin typeface="Calibri"/>
                <a:ea typeface="Calibri"/>
              </a:rPr>
              <a:t>各不通用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62272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AI 世界的老问题：每个工具为每个应用各写一遍对接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19456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27500A"/>
                </a:solidFill>
                <a:latin typeface="Calibri"/>
                <a:ea typeface="Calibri"/>
              </a:rPr>
              <a:t>MCP：一个口全搞定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063240"/>
            <a:ext cx="2103120" cy="822960"/>
          </a:xfrm>
          <a:prstGeom prst="roundRect">
            <a:avLst>
              <a:gd name="adj" fmla="val 8000"/>
            </a:avLst>
          </a:prstGeom>
          <a:solidFill>
            <a:srgbClr val="2F855A"/>
          </a:solidFill>
          <a:ln w="1587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MCP 标准口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E6F2EA"/>
                </a:solidFill>
                <a:latin typeface="Calibri"/>
                <a:ea typeface="Calibri"/>
              </a:rPr>
              <a:t>USB-C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E6F2EA"/>
                </a:solidFill>
                <a:latin typeface="Calibri"/>
                <a:ea typeface="Calibri"/>
              </a:rPr>
              <a:t>工具做一次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74320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27500A"/>
                </a:solidFill>
                <a:latin typeface="Calibri"/>
                <a:ea typeface="Calibri"/>
              </a:rPr>
              <a:t>Claude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09560" y="2971800"/>
            <a:ext cx="301752" cy="502920"/>
          </a:xfrm>
          <a:prstGeom prst="line">
            <a:avLst/>
          </a:prstGeom>
          <a:ln w="13970">
            <a:solidFill>
              <a:srgbClr val="2750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55080" y="3310128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27500A"/>
                </a:solidFill>
                <a:latin typeface="Calibri"/>
                <a:ea typeface="Calibri"/>
              </a:rPr>
              <a:t>Cursor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909560" y="3474720"/>
            <a:ext cx="301752" cy="64008"/>
          </a:xfrm>
          <a:prstGeom prst="line">
            <a:avLst/>
          </a:prstGeom>
          <a:ln w="13970">
            <a:solidFill>
              <a:srgbClr val="2750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55080" y="3877056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27500A"/>
                </a:solidFill>
                <a:latin typeface="Calibri"/>
                <a:ea typeface="Calibri"/>
              </a:rPr>
              <a:t>各类 IDE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909560" y="3474720"/>
            <a:ext cx="301752" cy="630936"/>
          </a:xfrm>
          <a:prstGeom prst="line">
            <a:avLst/>
          </a:prstGeom>
          <a:ln w="13970">
            <a:solidFill>
              <a:srgbClr val="2750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424160" y="34290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27500A"/>
                </a:solidFill>
                <a:latin typeface="Calibri"/>
                <a:ea typeface="Calibri"/>
              </a:rPr>
              <a:t>任何支持 MCP 的应用插上就用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74920"/>
            <a:ext cx="11000232" cy="116128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84648"/>
            <a:ext cx="105156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案例：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同一个 GitHub MCP server 做好后，Claude、Cursor、各类 IDE 都能直接接入读 issue、提 PR——工具方不必为每个 AI 应用各写一遍。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一句话给客户：MCP 不是又一个大模型能力，而是一层「接线标准」——让工具和 AI 应用解耦，各做各的、随处可插。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MCP 讲义 · 模型上下文协议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1 章 · 是什么 / 为什么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2 章 · 三大原语  TOOLS · RESOURCES ·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三大原语：能做什么、能看什么、怎么用得好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三者由「谁触发」不同——这是最常被客户问混的点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11880" cy="27889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40864"/>
            <a:ext cx="3154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128199"/>
                </a:solidFill>
                <a:latin typeface="Calibri"/>
                <a:ea typeface="Calibri"/>
              </a:rPr>
              <a:t>1. Tools 工具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7" y="2971800"/>
            <a:ext cx="302666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128199"/>
                </a:solidFill>
                <a:latin typeface="Calibri"/>
                <a:ea typeface="Calibri"/>
              </a:rPr>
              <a:t>能做什么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547872"/>
            <a:ext cx="3099816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模型可调用的「动作」，会执行、可能改状态</a:t>
            </a:r>
          </a:p>
          <a:p>
            <a:pPr algn="l"/>
            <a:r>
              <a:rPr sz="1100" b="1" i="0">
                <a:solidFill>
                  <a:srgbClr val="128199"/>
                </a:solidFill>
                <a:latin typeface="Calibri"/>
                <a:ea typeface="Calibri"/>
              </a:rPr>
              <a:t>谁触发：模型自主决定调用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例：查数据库 · 发邮件 · 创建 issue</a:t>
            </a:r>
          </a:p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记：动词 · 有副作用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2194560"/>
            <a:ext cx="3611880" cy="27889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2340864"/>
            <a:ext cx="3154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F2A65A"/>
                </a:solidFill>
                <a:latin typeface="Calibri"/>
                <a:ea typeface="Calibri"/>
              </a:rPr>
              <a:t>2. Resources 资源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81144" y="2971800"/>
            <a:ext cx="302666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能看什么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547872"/>
            <a:ext cx="3099816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可读取的「数据 / 上下文」，只读、无副作用</a:t>
            </a:r>
          </a:p>
          <a:p>
            <a:pPr algn="l"/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谁触发：应用 / 用户挂载引用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例：一个文件 · 一段记录 · 一份文档</a:t>
            </a:r>
          </a:p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记：名词 · 只读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194560"/>
            <a:ext cx="3611880" cy="278892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340864"/>
            <a:ext cx="3154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3. Prompts 提示词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971800"/>
            <a:ext cx="302666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怎么用得好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3547872"/>
            <a:ext cx="3099816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预置的「对话模板」，把最佳用法固化下来</a:t>
            </a:r>
          </a:p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谁触发：用户显式选用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例：「代码审查」「总结会议纪要」模板</a:t>
            </a:r>
          </a:p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记：模板 · 固化最佳实践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38928"/>
            <a:ext cx="11000232" cy="109728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48656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一句话记法：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Tools 是「能做什么」（动词、有副作用）· Resources 是「能看什么」（名词、只读）· Prompts 是「怎么用得好」（模板）。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第1章 · 是什么/为什么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84708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aaif.io 官方博客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第2章 · 协议解剖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5915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modelcontextprotocol.io 规范页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6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第3章 · 传输与演进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71216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MCP 官方博客 RC 发布文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第4章 · 动手写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83280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modelcontextprotocol.io/docs/sdk；MCP 官方博客 SDK beta 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95344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第5章 · 生产落地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895344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registry 官方页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52544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第6章 · 安全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40740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dev.to 汇总、arXiv 2508.14925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6460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5943600"/>
            <a:ext cx="11183112" cy="43891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核实窗口 2026-07-08 至 2026-07-12　·　保鲜机制：季度巡检（每年 1/4/7/10 月）＋ 建议复查日定点复查　·　引用任何数字前先核日期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MCP 讲义 · 模型上下文协议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7 章 · 售前速查 · 数字弹药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数字弹药：报得出口的硬数字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当前稳定规范 2025-11-25；下一版 2026-07-28 发布（RC 已锁定）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引用规范先报日期——新版含无状态核心、Extensions、授权加固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93976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Tier 1 官方 SDK 四种：TypeScript / Python / C# / Go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支持等级承诺（不是安全认证）——选栈依据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06624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Python SDK v2.0.0b1 已发（FastMCP 更名 MCPServer）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新规范适配已在 beta，迁移窗口的时间证据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9272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官方 Registry 仍 preview、不支持私有 server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「企业要自建私有目录」的立项依据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2026 年 1–4 月生态披露 40+ CVE；工具投毒成功率 84.2%（MCPTox）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「必须治理」的两个硬数字——接 Security 第 5 章与网关治理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44568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授权底座 OAuth 2.1（2025-06-18 起），token 透传明令禁止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安全评审的口径基线——RFC 8707 audience 校验为 MUST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57216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治理归 AAIF（Linux Foundation 旗下，2025-12 捐赠）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中立性回应；变更走 SEP 机制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97880"/>
            <a:ext cx="11183112" cy="402336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以上数字均经联网核实并登记于本模块（或指名模块）MANIFEST——引用前先核日期，带不出日期的数字不要带出门。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MCP 讲义 · 模型上下文协议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数字弹药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74</Slides>
  <ScaleCrop>false</ScaleCrop>
  <HeadingPairs>
    <vt:vector size="2" baseType="variant">
      <vt:variant>
        <vt:lpstr>幻灯片标题</vt:lpstr>
      </vt:variant>
      <vt:variant>
        <vt:i4>74</vt:i4>
      </vt:variant>
    </vt:vector>
  </HeadingPairs>
  <TitlesOfParts>
    <vt:vector size="74" baseType="lpstr">
      <vt:lpstr>MCP · 模型上下文协议</vt:lpstr>
      <vt:lpstr>全书导览：七章一条主线</vt:lpstr>
      <vt:lpstr>MCP 是什么 / 为什么</vt:lpstr>
      <vt:lpstr>学完这一章，你能对客户讲清楚</vt:lpstr>
      <vt:lpstr>MCP 是什么：给大模型装一个「USB-C」</vt:lpstr>
      <vt:lpstr>M×N 问题：为什么非要一个标准不可</vt:lpstr>
      <vt:lpstr>MCP vs Function Calling：不是替代，是分工</vt:lpstr>
      <vt:lpstr>简史与治理：它不是某一家的私有协议</vt:lpstr>
      <vt:lpstr>重点术语中英对照（中文为主）</vt:lpstr>
      <vt:lpstr>与 Agent 模块的关系：一个接口的两个视角</vt:lpstr>
      <vt:lpstr>动手做 · HANDS-ON</vt:lpstr>
      <vt:lpstr>现场最可能被追问的问题</vt:lpstr>
      <vt:lpstr>是什么 / 为什么</vt:lpstr>
      <vt:lpstr>协议解剖：三角色、原语与报文</vt:lpstr>
      <vt:lpstr>学完这一章，你能对客户讲清楚</vt:lpstr>
      <vt:lpstr>三个角色：Host、Client、Server</vt:lpstr>
      <vt:lpstr>三个角色：Host 管权限、Client 管连接、Server 管能力</vt:lpstr>
      <vt:lpstr>说什么语言：JSON-RPC 2.0 作底座</vt:lpstr>
      <vt:lpstr>生命周期：一次连接怎么开始</vt:lpstr>
      <vt:lpstr>一次连接怎么开始：先握手、再发现、后调用</vt:lpstr>
      <vt:lpstr>三大原语：Tools、Resources、Prompts</vt:lpstr>
      <vt:lpstr>三大原语：能做什么、能看什么、怎么用得好</vt:lpstr>
      <vt:lpstr>另一把刀：按「谁控制」切分三原语</vt:lpstr>
      <vt:lpstr>客户端能力与「弃用」走向：Sampling、Elicitation、Roots</vt:lpstr>
      <vt:lpstr>真实报文：一次 tools/call 的来回</vt:lpstr>
      <vt:lpstr>动手做 · HANDS-ON</vt:lpstr>
      <vt:lpstr>现场最可能被追问的问题</vt:lpstr>
      <vt:lpstr>协议解剖：三角色、原语与报文</vt:lpstr>
      <vt:lpstr>传输与版本演进</vt:lpstr>
      <vt:lpstr>学完这一章，你能对客户讲清楚</vt:lpstr>
      <vt:lpstr>两种传输：stdio 与 Streamable HTTP</vt:lpstr>
      <vt:lpstr>同一个协议，两套信任模型</vt:lpstr>
      <vt:lpstr>版本演进主线：从能用到企业级</vt:lpstr>
      <vt:lpstr>无状态核心：2026-07-28 最大的一次改动</vt:lpstr>
      <vt:lpstr>三个扩展方向：Extensions、Tasks、MCP Apps</vt:lpstr>
      <vt:lpstr>动手做 · HANDS-ON</vt:lpstr>
      <vt:lpstr>现场最可能被追问的问题</vt:lpstr>
      <vt:lpstr>传输与版本演进</vt:lpstr>
      <vt:lpstr>动手写 server 与 client</vt:lpstr>
      <vt:lpstr>学完这一章，你能对客户讲清楚</vt:lpstr>
      <vt:lpstr>用 Python SDK 写一个最小 server</vt:lpstr>
      <vt:lpstr>再加资源与提示词，一个 server 三类能力齐活</vt:lpstr>
      <vt:lpstr>本地调试：MCP Inspector 是你的万用表</vt:lpstr>
      <vt:lpstr>接进 Claude Desktop：一段配置的事</vt:lpstr>
      <vt:lpstr>把现有 REST API 包成 MCP：最常见的落地姿势</vt:lpstr>
      <vt:lpstr>动手做 · HANDS-ON</vt:lpstr>
      <vt:lpstr>现场最可能被追问的问题</vt:lpstr>
      <vt:lpstr>动手写 server 与 client</vt:lpstr>
      <vt:lpstr>生产落地：鉴权、部署与 Registry</vt:lpstr>
      <vt:lpstr>学完这一章，你能对客户讲清楚</vt:lpstr>
      <vt:lpstr>鉴权：远程 server 为什么要 OAuth</vt:lpstr>
      <vt:lpstr>部署与管控：为什么要一个 MCP 网关</vt:lpstr>
      <vt:lpstr>去哪儿发现 server：官方 Registry vs 私有 registry</vt:lpstr>
      <vt:lpstr>上云怎么落地：MCP 各环节对应的云能力</vt:lpstr>
      <vt:lpstr>动手做 · HANDS-ON</vt:lpstr>
      <vt:lpstr>现场最可能被追问的问题</vt:lpstr>
      <vt:lpstr>生产落地：鉴权、部署与 Registry</vt:lpstr>
      <vt:lpstr>安全：威胁面与防护</vt:lpstr>
      <vt:lpstr>学完这一章，你能对客户讲清楚</vt:lpstr>
      <vt:lpstr>威胁面全景：MCP 特有的几类坑</vt:lpstr>
      <vt:lpstr>风险有多真实：2026 年的一本账</vt:lpstr>
      <vt:lpstr>官方背书：NSA / CISA 安全设计指引</vt:lpstr>
      <vt:lpstr>防护组合拳：克制比聪明更重要</vt:lpstr>
      <vt:lpstr>动手做 · HANDS-ON</vt:lpstr>
      <vt:lpstr>现场最可能被追问的问题</vt:lpstr>
      <vt:lpstr>安全：威胁面与防护</vt:lpstr>
      <vt:lpstr>高频问题速查：六章对练的电梯版</vt:lpstr>
      <vt:lpstr>数字弹药：报得出口的硬数字</vt:lpstr>
      <vt:lpstr>上手路径与排错速查</vt:lpstr>
      <vt:lpstr>版本口径与串联地图</vt:lpstr>
      <vt:lpstr>全书串联</vt:lpstr>
      <vt:lpstr>把 MCP 讲给客户，一句话记住每一章</vt:lpstr>
      <vt:lpstr>生产验收</vt:lpstr>
      <vt:lpstr>来源与核实 · SOURCES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